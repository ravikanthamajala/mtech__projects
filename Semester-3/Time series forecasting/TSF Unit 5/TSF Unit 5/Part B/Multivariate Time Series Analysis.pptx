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Corbel"/>
      <p:regular r:id="rId32"/>
      <p:bold r:id="rId33"/>
      <p:italic r:id="rId34"/>
      <p:boldItalic r:id="rId35"/>
    </p:embeddedFont>
    <p:embeddedFont>
      <p:font typeface="Candar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TY+s9maAFYIRRlRLOHH0V8+Oe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Corbel-bold.fntdata"/><Relationship Id="rId10" Type="http://schemas.openxmlformats.org/officeDocument/2006/relationships/slide" Target="slides/slide6.xml"/><Relationship Id="rId32" Type="http://schemas.openxmlformats.org/officeDocument/2006/relationships/font" Target="fonts/Corbel-regular.fntdata"/><Relationship Id="rId13" Type="http://schemas.openxmlformats.org/officeDocument/2006/relationships/slide" Target="slides/slide9.xml"/><Relationship Id="rId35" Type="http://schemas.openxmlformats.org/officeDocument/2006/relationships/font" Target="fonts/Corbel-boldItalic.fntdata"/><Relationship Id="rId12" Type="http://schemas.openxmlformats.org/officeDocument/2006/relationships/slide" Target="slides/slide8.xml"/><Relationship Id="rId34" Type="http://schemas.openxmlformats.org/officeDocument/2006/relationships/font" Target="fonts/Corbel-italic.fntdata"/><Relationship Id="rId15" Type="http://schemas.openxmlformats.org/officeDocument/2006/relationships/slide" Target="slides/slide11.xml"/><Relationship Id="rId37" Type="http://schemas.openxmlformats.org/officeDocument/2006/relationships/font" Target="fonts/Candara-bold.fntdata"/><Relationship Id="rId14" Type="http://schemas.openxmlformats.org/officeDocument/2006/relationships/slide" Target="slides/slide10.xml"/><Relationship Id="rId36" Type="http://schemas.openxmlformats.org/officeDocument/2006/relationships/font" Target="fonts/Candara-regular.fntdata"/><Relationship Id="rId17" Type="http://schemas.openxmlformats.org/officeDocument/2006/relationships/slide" Target="slides/slide13.xml"/><Relationship Id="rId39" Type="http://schemas.openxmlformats.org/officeDocument/2006/relationships/font" Target="fonts/Candara-boldItalic.fntdata"/><Relationship Id="rId16" Type="http://schemas.openxmlformats.org/officeDocument/2006/relationships/slide" Target="slides/slide12.xml"/><Relationship Id="rId38" Type="http://schemas.openxmlformats.org/officeDocument/2006/relationships/font" Target="fonts/Candara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2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9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/>
          <p:nvPr>
            <p:ph idx="1" type="body"/>
          </p:nvPr>
        </p:nvSpPr>
        <p:spPr>
          <a:xfrm>
            <a:off x="622300" y="1160003"/>
            <a:ext cx="10947400" cy="226300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cxnSp>
        <p:nvCxnSpPr>
          <p:cNvPr id="21" name="Google Shape;21;p30"/>
          <p:cNvCxnSpPr/>
          <p:nvPr/>
        </p:nvCxnSpPr>
        <p:spPr>
          <a:xfrm>
            <a:off x="622300" y="1143000"/>
            <a:ext cx="10947400" cy="0"/>
          </a:xfrm>
          <a:prstGeom prst="straightConnector1">
            <a:avLst/>
          </a:prstGeom>
          <a:noFill/>
          <a:ln cap="flat" cmpd="sng" w="28575">
            <a:solidFill>
              <a:srgbClr val="095A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0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95A8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2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2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b="0" i="0" sz="1400" u="none" cap="none" strike="noStrik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" name="Google Shape;11;p28"/>
          <p:cNvSpPr txBox="1"/>
          <p:nvPr/>
        </p:nvSpPr>
        <p:spPr>
          <a:xfrm>
            <a:off x="0" y="0"/>
            <a:ext cx="508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8"/>
          <p:cNvSpPr txBox="1"/>
          <p:nvPr/>
        </p:nvSpPr>
        <p:spPr>
          <a:xfrm>
            <a:off x="0" y="685800"/>
            <a:ext cx="508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Multivariate Time Series Analysis – Session2</a:t>
            </a:r>
            <a:endParaRPr/>
          </a:p>
        </p:txBody>
      </p:sp>
      <p:sp>
        <p:nvSpPr>
          <p:cNvPr id="44" name="Google Shape;44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IN"/>
              <a:t>Sreekanth Tadakaluru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idx="1" type="body"/>
          </p:nvPr>
        </p:nvSpPr>
        <p:spPr>
          <a:xfrm>
            <a:off x="622300" y="1160003"/>
            <a:ext cx="10947400" cy="298883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Theory &amp; VAR Fundamentals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VAR Implementation &amp; Case Study 1 (Economics)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VARMA Models &amp; Deep Learning Introduction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Advanced Case Study 2 (Energy Forecasting)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Learning Objectives</a:t>
            </a:r>
            <a:endParaRPr/>
          </a:p>
          <a:p>
            <a:pPr indent="0" lvl="1" marL="508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IN" sz="1800"/>
              <a:t>✓ Master multivariate time series concepts</a:t>
            </a:r>
            <a:br>
              <a:rPr lang="en-IN" sz="1800"/>
            </a:br>
            <a:r>
              <a:rPr lang="en-IN" sz="1800"/>
              <a:t>✓ Implement VAR/VARMA in Python</a:t>
            </a:r>
            <a:br>
              <a:rPr lang="en-IN" sz="1800"/>
            </a:br>
            <a:r>
              <a:rPr lang="en-IN" sz="1800"/>
              <a:t>✓ Apply deep learning for forecasting</a:t>
            </a:r>
            <a:br>
              <a:rPr lang="en-IN" sz="1800"/>
            </a:br>
            <a:r>
              <a:rPr lang="en-IN" sz="1800"/>
              <a:t>✓ Analyse real-world datasets</a:t>
            </a:r>
            <a:endParaRPr/>
          </a:p>
        </p:txBody>
      </p:sp>
      <p:sp>
        <p:nvSpPr>
          <p:cNvPr id="50" name="Google Shape;50;p2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Session Structure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>
            <p:ph idx="1" type="body"/>
          </p:nvPr>
        </p:nvSpPr>
        <p:spPr>
          <a:xfrm>
            <a:off x="622300" y="1160003"/>
            <a:ext cx="10947400" cy="4281497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Stationarity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Definition: Statistical properties constant over time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Check: Augmented Dickey-Fuller (ADF) test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Solution: Differencing, detrending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Granger Causality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Does X help predict Y?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Not true causality, but predictive relationship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Used for model specification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Cointegration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Long-run equilibrium relationship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Important for non-stationary series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Leads to Vector Error Correction Models (VECM)</a:t>
            </a:r>
            <a:endParaRPr/>
          </a:p>
        </p:txBody>
      </p:sp>
      <p:sp>
        <p:nvSpPr>
          <p:cNvPr id="56" name="Google Shape;56;p3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Key Concepts in Multivariate 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idx="1" type="body"/>
          </p:nvPr>
        </p:nvSpPr>
        <p:spPr>
          <a:xfrm>
            <a:off x="622300" y="1160003"/>
            <a:ext cx="10947400" cy="298883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Vector Autoregression is a multivariate generalization of univariate autoregression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Key Features:</a:t>
            </a:r>
            <a:endParaRPr/>
          </a:p>
          <a:p>
            <a:pPr indent="0" lvl="1" marL="508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IN" sz="1800"/>
              <a:t>✓ Each variable is a function of past values of itself AND other variables</a:t>
            </a:r>
            <a:br>
              <a:rPr lang="en-IN" sz="1800"/>
            </a:br>
            <a:r>
              <a:rPr lang="en-IN" sz="1800"/>
              <a:t>✓ Captures dynamic relationships</a:t>
            </a:r>
            <a:br>
              <a:rPr lang="en-IN" sz="1800"/>
            </a:br>
            <a:r>
              <a:rPr lang="en-IN" sz="1800"/>
              <a:t>✓ No need to specify "dependent" vs "independent" variables</a:t>
            </a:r>
            <a:br>
              <a:rPr lang="en-IN" sz="1800"/>
            </a:br>
            <a:r>
              <a:rPr lang="en-IN" sz="1800"/>
              <a:t>✓ All variables treated symmetrically (endogenous)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Developed by: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Christopher Sims (1980) - Nobel Prize winner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62" name="Google Shape;62;p4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What is VAR?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 Model - Mathematical Formulation</a:t>
            </a:r>
            <a:endParaRPr/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141" y="1476102"/>
            <a:ext cx="9502588" cy="3905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idx="1" type="body"/>
          </p:nvPr>
        </p:nvSpPr>
        <p:spPr>
          <a:xfrm>
            <a:off x="622300" y="1160003"/>
            <a:ext cx="10947400" cy="534332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Endogenous Variables (Y_t)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Variables to be modeled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Each depends on past values of all variables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Example: [GDP, Inflation, Interest Rate]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Lag Order (p)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Number of past periods to include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Selected using IC (AIC, BIC)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Trade-off: fit vs. Complexity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Coefficient Matrices (A₁, A₂, ..., Aₚ)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Capture relationships between variables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Estimated using OLS (each equation separately)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Error Terms (ε_t)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White noise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Can be correlated across equations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74" name="Google Shape;74;p6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 Model Components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>
            <p:ph idx="1" type="body"/>
          </p:nvPr>
        </p:nvSpPr>
        <p:spPr>
          <a:xfrm>
            <a:off x="622300" y="1160003"/>
            <a:ext cx="10947400" cy="4989383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Stationarity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All series must be stationary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Check with ADF test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Difference if necessary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No Serial Correlation in Residuals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Test with Durbin-Watson, Ljung-Box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Indicates correct lag order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Homoscedasticity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Constant variance of errors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Check with residual plots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No Multicollinearity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Variables should not be perfectly correlated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Can still have some correlation (that's the point!)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 Model Assumptions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idx="1" type="body"/>
          </p:nvPr>
        </p:nvSpPr>
        <p:spPr>
          <a:xfrm>
            <a:off x="622300" y="1160003"/>
            <a:ext cx="10947400" cy="5697269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Economic Policy Analysis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Monetary policy effects on economy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Fiscal stimulus impact assessment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Interest rate transmission mechanisms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Financial Markets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Stock-bond relationships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Commodity price dynamics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Currency co-movements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Macroeconomic Forecasting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GDP, inflation, unemployment projections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Business cycle analysis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Leading indicator systems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Other Applications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Neuroscience: Brain signal analysis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Climate: Temperature-rainfall patterns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Marketing: Sales-advertising dynamics</a:t>
            </a:r>
            <a:endParaRPr/>
          </a:p>
        </p:txBody>
      </p:sp>
      <p:sp>
        <p:nvSpPr>
          <p:cNvPr id="86" name="Google Shape;86;p8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General Applications of VAR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idx="1" type="body"/>
          </p:nvPr>
        </p:nvSpPr>
        <p:spPr>
          <a:xfrm>
            <a:off x="622300" y="1160003"/>
            <a:ext cx="10947400" cy="2511782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Model Estimation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Generate Forecasts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Compute Confidence Intervals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Based on forecast error variance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Typically 68%, 95% confidence levels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Widen as forecast horizon increases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 Forecasting Process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idx="1" type="body"/>
          </p:nvPr>
        </p:nvSpPr>
        <p:spPr>
          <a:xfrm>
            <a:off x="622300" y="1160003"/>
            <a:ext cx="10947400" cy="4989383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What is IRF?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Definition: Response of system to a shock in one variable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Key Uses: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 Understand dynamic effects of shocks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Measure how long effects persist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Quantify magnitude of impact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Example Question: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i="1" lang="en-IN" sz="1800"/>
              <a:t>"If interest rates increase by 1%, how do GDP and inflation respond over the next 8 quarters?"</a:t>
            </a:r>
            <a:endParaRPr sz="1800"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IRF Visualization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X-axis: Time periods after shock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Y-axis: Response magnitude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Multiple lines: Different variables' responses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Confidence bands show uncertainty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98" name="Google Shape;98;p10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Impulse Response Functions (IRF)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622300" y="1160003"/>
            <a:ext cx="10947400" cy="4281497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What is FEVD?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Purpose: Decompose forecast error variance into contributions from each variable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Interpretation: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"What percentage of forecast error in GDP is due to shocks in: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GDP itself? (e.g., 70%)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Inflation? (e.g., 20%)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Interest rates? (e.g., 10%)"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Applications: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Identify most influential variables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Understand system dynamics 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Guide policy interventions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Note: FEVD depends on ordering of variables (Cholesky decomposition)</a:t>
            </a:r>
            <a:endParaRPr/>
          </a:p>
        </p:txBody>
      </p:sp>
      <p:sp>
        <p:nvSpPr>
          <p:cNvPr id="104" name="Google Shape;104;p11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Forecast Error Variance Decomposition (FEVD)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idx="1" type="body"/>
          </p:nvPr>
        </p:nvSpPr>
        <p:spPr>
          <a:xfrm>
            <a:off x="622300" y="1160003"/>
            <a:ext cx="10947400" cy="534332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Residual Analysis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✓ White noise test (Ljung-Box)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✓ Normality test (Jarque-Bera)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✓ No autocorrelation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Stability Test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✓ All eigenvalues inside unit circle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✓ Ensures forecast convergence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✓ Checked with roots plot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Granger Causality Tests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Which variables help predict others?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Guides model simplification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Out-of-Sample Validation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Compare forecasts with held-out data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RMSE, MAE metrics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12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622300" y="1160003"/>
            <a:ext cx="10947400" cy="3927554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Information Criteria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Try p = 0, 1, 2, ..., max_lags</a:t>
            </a:r>
            <a:endParaRPr sz="1800"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Select p with lowest AIC/BIC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Likelihood Ratio Test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Sequential testing of nested models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Final Prediction Error (FPE)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Balances fit and complexity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Practical Considerations: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Too few lags: Omitted variable bias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Too many lags: Overfitting, loss of degrees of freedom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Rule of thumb: Start with p = 4 for quarterly data, p = 12 for monthly</a:t>
            </a:r>
            <a:endParaRPr sz="1800"/>
          </a:p>
        </p:txBody>
      </p:sp>
      <p:sp>
        <p:nvSpPr>
          <p:cNvPr id="116" name="Google Shape;116;p13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Lag Order Selection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idx="1" type="body"/>
          </p:nvPr>
        </p:nvSpPr>
        <p:spPr>
          <a:xfrm>
            <a:off x="622300" y="1160003"/>
            <a:ext cx="10947400" cy="180389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VARMA Advantage: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Can model same process with fewer parameters than VAR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VAR Advantage: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Easier to estimate and interpret, usually sufficient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14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 vs VARMA</a:t>
            </a:r>
            <a:endParaRPr/>
          </a:p>
        </p:txBody>
      </p:sp>
      <p:pic>
        <p:nvPicPr>
          <p:cNvPr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395" y="3241002"/>
            <a:ext cx="9451580" cy="252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VARMA Model - Mathematical Form</a:t>
            </a:r>
            <a:endParaRPr/>
          </a:p>
        </p:txBody>
      </p:sp>
      <p:pic>
        <p:nvPicPr>
          <p:cNvPr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472" y="1472259"/>
            <a:ext cx="7700682" cy="5023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622300" y="1160003"/>
            <a:ext cx="10947400" cy="5463872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600"/>
              <a:t>More Parsimony Needed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VAR requires too many parameters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Limited data available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600"/>
              <a:t>Complex Dependencies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Relationships not captured by VAR alone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MA component improves fit significantly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600"/>
              <a:t>Model Comparison Shows Benefit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AIC/BIC clearly favour VARMA over VAR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600"/>
              <a:t>Challenges: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Identification Issues</a:t>
            </a:r>
            <a:endParaRPr/>
          </a:p>
          <a:p>
            <a:pPr indent="-3810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1600"/>
              <a:t>Multiple parameter combinations can fit same model</a:t>
            </a:r>
            <a:endParaRPr/>
          </a:p>
          <a:p>
            <a:pPr indent="-3810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1600"/>
              <a:t>Requires constraints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Estimation Complexity</a:t>
            </a:r>
            <a:endParaRPr/>
          </a:p>
          <a:p>
            <a:pPr indent="-3810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1600"/>
              <a:t>Non-linear optimization</a:t>
            </a:r>
            <a:endParaRPr/>
          </a:p>
          <a:p>
            <a:pPr indent="-3810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1600"/>
              <a:t>Convergence problems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600"/>
              <a:t>Limited Software Support</a:t>
            </a:r>
            <a:endParaRPr/>
          </a:p>
          <a:p>
            <a:pPr indent="-3810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1600"/>
              <a:t>Fewer implementations than VAR</a:t>
            </a:r>
            <a:endParaRPr/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VARMA - When to Use?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idx="1" type="body"/>
          </p:nvPr>
        </p:nvSpPr>
        <p:spPr>
          <a:xfrm>
            <a:off x="622300" y="1160003"/>
            <a:ext cx="10947400" cy="4281497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State Space Representation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Convert VARMA to state space form for forecasting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Kalman Filter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Optimal forecasting for state space models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Recursively updates forecasts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Forecast Generation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Similar to VAR but accounts for MA component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Need to estimate future error terms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Confidence Intervals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Computed from state space covariance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Account for both AR and MA uncertainty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Practical Note: Often VAR with more lags performs similarly to VARMA with fewer parameters</a:t>
            </a:r>
            <a:endParaRPr sz="1800"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VARMA Forecasting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622300" y="1160003"/>
            <a:ext cx="10947400" cy="463544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Traditional Methods (VAR/VARMA) Excel When: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Small to medium datasets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Linear relationships dominate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Interpretability is crucial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Statistical rigor needed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Deep Learning Excels When: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Large datasets (1000s+ observations)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Non-linear complex patterns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High-dimensional data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Automatic feature extraction needed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Hybrid Approach: Best of Both Worlds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Combine statistical models with DL ensembles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Deep Learning for Time Series - Overview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622300" y="1160003"/>
            <a:ext cx="10947400" cy="3573611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Recurrent Neural Networks (RNN)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Long Short-Term Memory (LSTM)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Purpose: Learn long-term dependencies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Key Feature: Memory cells with gates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Use Case: Sequential patterns, long sequences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Gated Recurrent Unit (GRU)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Purpose: Simplified LSTM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Key Feature: Fewer parameters, faster training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Use Case: Similar to LSTM, when speed matters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Deep Learning Architectures for TSF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622300" y="1160003"/>
            <a:ext cx="10947400" cy="4989383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Convolutional Neural Networks (CNN)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For Time Series: 1D convolutions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Strength: Detecting local patterns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Use Case: Pattern recognition, feature extraction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Transformer Models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Innovation: Self-attention mechanism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Strength: Parallel processing, long-range dependencies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Examples: Temporal Fusion Transformer (TFT), Informer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Use Case: Complex multivariate forecasting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Hybrid Models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DeepAR: Probabilistic forecasting with LSTM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N-BEATS: Neural basis expansion (interpretable DL)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Prophet + NN: Statistical + Neural hybrid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More DL Architectures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622300" y="1160003"/>
            <a:ext cx="10947400" cy="5343326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Small Data (&lt;1000 obs) + Linear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VAR / VARMA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Small Data + Non-linear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ARIMA + XGBoost / LightGBM</a:t>
            </a:r>
            <a:endParaRPr sz="1800"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Large Data + Linear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VAR with regularization / VECM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Large Data + Non-linear + Complex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LSTM / Transformer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Need Interpretability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VAR + IRF / N-BEATS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Multiple Seasonalities</a:t>
            </a:r>
            <a:endParaRPr sz="1800"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Prophet / TBATS / Hybrid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Uncertainty Quantification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→ Bayesian VAR / DeepAR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When to Use Which Model?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Model Comparison - Practical View</a:t>
            </a:r>
            <a:endParaRPr/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9" y="1721944"/>
            <a:ext cx="10787288" cy="34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622300" y="1160003"/>
            <a:ext cx="10947400" cy="5004772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Data Preparation</a:t>
            </a:r>
            <a:endParaRPr/>
          </a:p>
          <a:p>
            <a:pPr indent="0" lvl="1" marL="482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IN" sz="1800"/>
              <a:t>✓ Check stationarity for all series</a:t>
            </a:r>
            <a:br>
              <a:rPr lang="en-IN" sz="1800"/>
            </a:br>
            <a:r>
              <a:rPr lang="en-IN" sz="1800"/>
              <a:t>✓ Handle missing values appropriately</a:t>
            </a:r>
            <a:br>
              <a:rPr lang="en-IN" sz="1800"/>
            </a:br>
            <a:r>
              <a:rPr lang="en-IN" sz="1800"/>
              <a:t>✓ Scale/normalize data</a:t>
            </a:r>
            <a:br>
              <a:rPr lang="en-IN" sz="1800"/>
            </a:br>
            <a:r>
              <a:rPr lang="en-IN" sz="1800"/>
              <a:t>✓ Split: Train (70%), Validation (15%), Test (15%)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Model Building</a:t>
            </a:r>
            <a:endParaRPr/>
          </a:p>
          <a:p>
            <a:pPr indent="0" lvl="1" marL="482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IN" sz="1800"/>
              <a:t>✓ Start simple (VAR) then increase complexity</a:t>
            </a:r>
            <a:br>
              <a:rPr lang="en-IN" sz="1800"/>
            </a:br>
            <a:r>
              <a:rPr lang="en-IN" sz="1800"/>
              <a:t>✓ Use cross-validation for time series</a:t>
            </a:r>
            <a:br>
              <a:rPr lang="en-IN" sz="1800"/>
            </a:br>
            <a:r>
              <a:rPr lang="en-IN" sz="1800"/>
              <a:t>✓ Always validate assumptions</a:t>
            </a:r>
            <a:br>
              <a:rPr lang="en-IN" sz="1800"/>
            </a:br>
            <a:r>
              <a:rPr lang="en-IN" sz="1800"/>
              <a:t>✓ Compare multiple models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Evaluation</a:t>
            </a:r>
            <a:endParaRPr/>
          </a:p>
          <a:p>
            <a:pPr indent="0" lvl="1" marL="482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IN" sz="1800"/>
              <a:t>✓ Use multiple metrics (RMSE, MAE, MAPE)</a:t>
            </a:r>
            <a:br>
              <a:rPr lang="en-IN" sz="1800"/>
            </a:br>
            <a:r>
              <a:rPr lang="en-IN" sz="1800"/>
              <a:t>✓ Evaluate on holdout set</a:t>
            </a:r>
            <a:br>
              <a:rPr lang="en-IN" sz="1800"/>
            </a:br>
            <a:r>
              <a:rPr lang="en-IN" sz="1800"/>
              <a:t>✓ Check residuals</a:t>
            </a:r>
            <a:br>
              <a:rPr lang="en-IN" sz="1800"/>
            </a:br>
            <a:r>
              <a:rPr lang="en-IN" sz="1800"/>
              <a:t>✓ Business validation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Best Practices for Multivariate TSF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622300" y="1160003"/>
            <a:ext cx="10947400" cy="5697269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❌ Data Leakage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Don't use future information in training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Be careful with data transformations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❌ Ignoring Stationarity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Non-stationary data leads to spurious relationships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Always test and transform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❌ Overfitting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Too many lags or parameters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Use regularization or simpler models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❌ Wrong Evaluation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Don't use simple train-test split randomly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Preserve temporal order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❌ Ignoring Domain Knowledge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Models should make business sense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Validate with experts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83" name="Google Shape;183;p24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Common Pitfalls to Avoid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622300" y="1160003"/>
            <a:ext cx="10947400" cy="4989383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Statistical Models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statsmodels      # VAR, VARMA, SARIMAX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pmdarima         # Auto-ARIMA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arch             # GARCH models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Deep Learning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tensorflow/keras # LSTM, GRU, CNN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pytorch          # Flexible DL framework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pytorch-forecasting # Time series DL toolkit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darts            # Unified forecasting library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Utilities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pandas           # Data manipulation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numpy            # Numerical computing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matplotlib/seaborn # Visualization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scikit-learn     # Preprocessing, metrics</a:t>
            </a:r>
            <a:endParaRPr/>
          </a:p>
        </p:txBody>
      </p:sp>
      <p:sp>
        <p:nvSpPr>
          <p:cNvPr id="189" name="Google Shape;189;p25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Python Libraries Ecosystem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622300" y="1160003"/>
            <a:ext cx="10947400" cy="4989383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Economic Analysis: Macroeconomic Interdependencies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Dataset: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Source: Federal Reserve Economic Data (FRED)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Variables: GDP Growth, Inflation, Unemployment, Interest Rate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Frequency: Quarterly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Period: 1960-2024 (~260 observations)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Objectives: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Model relationships between macro variables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Test Granger causality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Forecast 8 quarters ahead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Analyze impulse responses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Business Question: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i="1" lang="en-IN" sz="1800"/>
              <a:t>"How do interest rate changes affect GDP and unemployment?"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195" name="Google Shape;195;p26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Case Study 1 - Introduction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622300" y="1160003"/>
            <a:ext cx="10947400" cy="4989383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Energy Demand Forecasting: Multi-Model Comparison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Dataset: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Source: PJM Interconnection (Energy Grid)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Variables: Hourly electricity demand, temperature, humidity, day/hour features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Frequency: Hourly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Period: 6 months (~4,400 observations)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Objectives: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Compare VAR, VARMA, and LSTM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24-hour ahead forecast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Evaluate model performance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1800"/>
              <a:t>Deployment recommendations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1800"/>
              <a:t>Business Question: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i="1" lang="en-IN" sz="1800"/>
              <a:t>"Which model should we deploy for real-time energy demand forecasting?"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201" name="Google Shape;201;p27"/>
          <p:cNvSpPr txBox="1"/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Case Study 2 - Introduction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2025-10-24T17:13:28Z</dcterms:created>
  <dc:creator>Sreekanth Tadakaluru</dc:creator>
</cp:coreProperties>
</file>