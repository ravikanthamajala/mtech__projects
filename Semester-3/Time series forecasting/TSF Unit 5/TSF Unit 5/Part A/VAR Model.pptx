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A0A34D-83D8-41E8-ABD4-851A41B284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D89BCB2-ACE7-4F7E-9538-C2D9C7B7DB50}">
      <dgm:prSet/>
      <dgm:spPr/>
      <dgm:t>
        <a:bodyPr/>
        <a:lstStyle/>
        <a:p>
          <a:r>
            <a:rPr lang="en-IN" b="0" i="0"/>
            <a:t>Understand multivariate time series dynamics</a:t>
          </a:r>
          <a:endParaRPr lang="en-IN"/>
        </a:p>
      </dgm:t>
    </dgm:pt>
    <dgm:pt modelId="{4B715070-124A-4A3B-A621-D0F1133431FA}" type="parTrans" cxnId="{3C8C3371-3C1A-4158-9172-99022FA142AE}">
      <dgm:prSet/>
      <dgm:spPr/>
      <dgm:t>
        <a:bodyPr/>
        <a:lstStyle/>
        <a:p>
          <a:endParaRPr lang="en-IN"/>
        </a:p>
      </dgm:t>
    </dgm:pt>
    <dgm:pt modelId="{304CF939-5058-410E-9BA5-1FA36EF660FF}" type="sibTrans" cxnId="{3C8C3371-3C1A-4158-9172-99022FA142AE}">
      <dgm:prSet/>
      <dgm:spPr/>
      <dgm:t>
        <a:bodyPr/>
        <a:lstStyle/>
        <a:p>
          <a:endParaRPr lang="en-IN"/>
        </a:p>
      </dgm:t>
    </dgm:pt>
    <dgm:pt modelId="{FD5C44B2-9F21-48A8-BB4A-ECE07E8E44B9}">
      <dgm:prSet/>
      <dgm:spPr/>
      <dgm:t>
        <a:bodyPr/>
        <a:lstStyle/>
        <a:p>
          <a:r>
            <a:rPr lang="en-IN" b="0" i="0"/>
            <a:t>Learn statistical analysis techniques for time-dependent data</a:t>
          </a:r>
          <a:endParaRPr lang="en-IN"/>
        </a:p>
      </dgm:t>
    </dgm:pt>
    <dgm:pt modelId="{545C8B87-930E-4FC3-97D3-C9749853F21D}" type="parTrans" cxnId="{FDEC440B-3277-4819-B7D0-28505D0E42E3}">
      <dgm:prSet/>
      <dgm:spPr/>
      <dgm:t>
        <a:bodyPr/>
        <a:lstStyle/>
        <a:p>
          <a:endParaRPr lang="en-IN"/>
        </a:p>
      </dgm:t>
    </dgm:pt>
    <dgm:pt modelId="{338E7151-D960-4C28-A2CB-936D1A300B08}" type="sibTrans" cxnId="{FDEC440B-3277-4819-B7D0-28505D0E42E3}">
      <dgm:prSet/>
      <dgm:spPr/>
      <dgm:t>
        <a:bodyPr/>
        <a:lstStyle/>
        <a:p>
          <a:endParaRPr lang="en-IN"/>
        </a:p>
      </dgm:t>
    </dgm:pt>
    <dgm:pt modelId="{9E82B360-345C-4A1F-A928-42FF73B4FBBF}">
      <dgm:prSet/>
      <dgm:spPr/>
      <dgm:t>
        <a:bodyPr/>
        <a:lstStyle/>
        <a:p>
          <a:r>
            <a:rPr lang="en-IN" b="0" i="0"/>
            <a:t>Explore Vector Auto Regression (VAR) theory</a:t>
          </a:r>
          <a:endParaRPr lang="en-IN"/>
        </a:p>
      </dgm:t>
    </dgm:pt>
    <dgm:pt modelId="{88C1A304-FE09-4911-B751-B19FFB0D930F}" type="parTrans" cxnId="{00804E93-4F57-4B64-A935-FA43C85064BB}">
      <dgm:prSet/>
      <dgm:spPr/>
      <dgm:t>
        <a:bodyPr/>
        <a:lstStyle/>
        <a:p>
          <a:endParaRPr lang="en-IN"/>
        </a:p>
      </dgm:t>
    </dgm:pt>
    <dgm:pt modelId="{E952BC0F-BDCA-4611-A6B7-204DB2E422A9}" type="sibTrans" cxnId="{00804E93-4F57-4B64-A935-FA43C85064BB}">
      <dgm:prSet/>
      <dgm:spPr/>
      <dgm:t>
        <a:bodyPr/>
        <a:lstStyle/>
        <a:p>
          <a:endParaRPr lang="en-IN"/>
        </a:p>
      </dgm:t>
    </dgm:pt>
    <dgm:pt modelId="{A118ECCF-5A4D-4286-9B93-153F0ABBC15A}">
      <dgm:prSet/>
      <dgm:spPr/>
      <dgm:t>
        <a:bodyPr/>
        <a:lstStyle/>
        <a:p>
          <a:r>
            <a:rPr lang="en-IN" b="0" i="0"/>
            <a:t>Forecast multiple interdependent variables</a:t>
          </a:r>
          <a:endParaRPr lang="en-IN"/>
        </a:p>
      </dgm:t>
    </dgm:pt>
    <dgm:pt modelId="{AF57E503-B562-4127-B575-A577E5D45EFF}" type="parTrans" cxnId="{73B057D7-AB84-488F-AA35-537C516EF56D}">
      <dgm:prSet/>
      <dgm:spPr/>
      <dgm:t>
        <a:bodyPr/>
        <a:lstStyle/>
        <a:p>
          <a:endParaRPr lang="en-IN"/>
        </a:p>
      </dgm:t>
    </dgm:pt>
    <dgm:pt modelId="{38CCC2B0-2384-49F2-834C-8223202B2B50}" type="sibTrans" cxnId="{73B057D7-AB84-488F-AA35-537C516EF56D}">
      <dgm:prSet/>
      <dgm:spPr/>
      <dgm:t>
        <a:bodyPr/>
        <a:lstStyle/>
        <a:p>
          <a:endParaRPr lang="en-IN"/>
        </a:p>
      </dgm:t>
    </dgm:pt>
    <dgm:pt modelId="{6F43FC01-E2CE-4A35-B4C1-1DB23EC2A80B}">
      <dgm:prSet/>
      <dgm:spPr/>
      <dgm:t>
        <a:bodyPr/>
        <a:lstStyle/>
        <a:p>
          <a:r>
            <a:rPr lang="en-IN" b="0" i="0"/>
            <a:t>Implement VAR in Python</a:t>
          </a:r>
          <a:endParaRPr lang="en-IN"/>
        </a:p>
      </dgm:t>
    </dgm:pt>
    <dgm:pt modelId="{0462DE1B-2585-4F68-A39E-4DE05D03D0E3}" type="parTrans" cxnId="{537B9085-2B9B-413C-81E6-60CC8AF44A52}">
      <dgm:prSet/>
      <dgm:spPr/>
      <dgm:t>
        <a:bodyPr/>
        <a:lstStyle/>
        <a:p>
          <a:endParaRPr lang="en-IN"/>
        </a:p>
      </dgm:t>
    </dgm:pt>
    <dgm:pt modelId="{819406F1-C337-47AE-8D98-54913C31C059}" type="sibTrans" cxnId="{537B9085-2B9B-413C-81E6-60CC8AF44A52}">
      <dgm:prSet/>
      <dgm:spPr/>
      <dgm:t>
        <a:bodyPr/>
        <a:lstStyle/>
        <a:p>
          <a:endParaRPr lang="en-IN"/>
        </a:p>
      </dgm:t>
    </dgm:pt>
    <dgm:pt modelId="{3AB0143B-87DA-4CC2-8640-D30B57DED0CA}">
      <dgm:prSet/>
      <dgm:spPr/>
      <dgm:t>
        <a:bodyPr/>
        <a:lstStyle/>
        <a:p>
          <a:r>
            <a:rPr lang="en-IN" b="0" i="0"/>
            <a:t>Analyse a real-world case study</a:t>
          </a:r>
          <a:endParaRPr lang="en-IN"/>
        </a:p>
      </dgm:t>
    </dgm:pt>
    <dgm:pt modelId="{E5D211BA-45ED-4B91-8CD5-77F7CD865459}" type="parTrans" cxnId="{C2593B5F-E7FB-46F1-89EF-C3D363050409}">
      <dgm:prSet/>
      <dgm:spPr/>
      <dgm:t>
        <a:bodyPr/>
        <a:lstStyle/>
        <a:p>
          <a:endParaRPr lang="en-IN"/>
        </a:p>
      </dgm:t>
    </dgm:pt>
    <dgm:pt modelId="{D29BB0A0-99D7-475B-ADE3-C2126CE4D0A5}" type="sibTrans" cxnId="{C2593B5F-E7FB-46F1-89EF-C3D363050409}">
      <dgm:prSet/>
      <dgm:spPr/>
      <dgm:t>
        <a:bodyPr/>
        <a:lstStyle/>
        <a:p>
          <a:endParaRPr lang="en-IN"/>
        </a:p>
      </dgm:t>
    </dgm:pt>
    <dgm:pt modelId="{F7DD6682-87C7-4CCF-9CE4-A69A11EA2593}" type="pres">
      <dgm:prSet presAssocID="{04A0A34D-83D8-41E8-ABD4-851A41B2844C}" presName="linear" presStyleCnt="0">
        <dgm:presLayoutVars>
          <dgm:animLvl val="lvl"/>
          <dgm:resizeHandles val="exact"/>
        </dgm:presLayoutVars>
      </dgm:prSet>
      <dgm:spPr/>
    </dgm:pt>
    <dgm:pt modelId="{C3BF4BC0-DAF7-49BF-B018-ACA08F4F15BF}" type="pres">
      <dgm:prSet presAssocID="{8D89BCB2-ACE7-4F7E-9538-C2D9C7B7DB5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390B2EA-B0FD-419B-83AC-CC9EE25FD119}" type="pres">
      <dgm:prSet presAssocID="{304CF939-5058-410E-9BA5-1FA36EF660FF}" presName="spacer" presStyleCnt="0"/>
      <dgm:spPr/>
    </dgm:pt>
    <dgm:pt modelId="{A112671D-B125-40E8-9271-7602E85D7C99}" type="pres">
      <dgm:prSet presAssocID="{FD5C44B2-9F21-48A8-BB4A-ECE07E8E44B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64C5337-2B35-4805-8171-3C3FD465B4E0}" type="pres">
      <dgm:prSet presAssocID="{338E7151-D960-4C28-A2CB-936D1A300B08}" presName="spacer" presStyleCnt="0"/>
      <dgm:spPr/>
    </dgm:pt>
    <dgm:pt modelId="{0453B7E5-EB69-4037-B99C-35669B319B03}" type="pres">
      <dgm:prSet presAssocID="{9E82B360-345C-4A1F-A928-42FF73B4FBBF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3B90DCD8-610B-4DC4-B33C-A4C76A04DA39}" type="pres">
      <dgm:prSet presAssocID="{E952BC0F-BDCA-4611-A6B7-204DB2E422A9}" presName="spacer" presStyleCnt="0"/>
      <dgm:spPr/>
    </dgm:pt>
    <dgm:pt modelId="{F9150312-3ADD-4512-A427-661F651A8B5E}" type="pres">
      <dgm:prSet presAssocID="{A118ECCF-5A4D-4286-9B93-153F0ABBC15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3C7D15F-7442-4934-8030-ADE675172CC0}" type="pres">
      <dgm:prSet presAssocID="{38CCC2B0-2384-49F2-834C-8223202B2B50}" presName="spacer" presStyleCnt="0"/>
      <dgm:spPr/>
    </dgm:pt>
    <dgm:pt modelId="{8DC1EC8E-43BD-4B68-8F6D-296738EA5D49}" type="pres">
      <dgm:prSet presAssocID="{6F43FC01-E2CE-4A35-B4C1-1DB23EC2A80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6D78E6A7-C7EC-4D13-B568-90ED463DF654}" type="pres">
      <dgm:prSet presAssocID="{819406F1-C337-47AE-8D98-54913C31C059}" presName="spacer" presStyleCnt="0"/>
      <dgm:spPr/>
    </dgm:pt>
    <dgm:pt modelId="{BA477458-4A16-40A1-9F71-2FA475A3FFD0}" type="pres">
      <dgm:prSet presAssocID="{3AB0143B-87DA-4CC2-8640-D30B57DED0C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FDEC440B-3277-4819-B7D0-28505D0E42E3}" srcId="{04A0A34D-83D8-41E8-ABD4-851A41B2844C}" destId="{FD5C44B2-9F21-48A8-BB4A-ECE07E8E44B9}" srcOrd="1" destOrd="0" parTransId="{545C8B87-930E-4FC3-97D3-C9749853F21D}" sibTransId="{338E7151-D960-4C28-A2CB-936D1A300B08}"/>
    <dgm:cxn modelId="{A7402E0F-F681-4669-BA07-25724B69CF70}" type="presOf" srcId="{8D89BCB2-ACE7-4F7E-9538-C2D9C7B7DB50}" destId="{C3BF4BC0-DAF7-49BF-B018-ACA08F4F15BF}" srcOrd="0" destOrd="0" presId="urn:microsoft.com/office/officeart/2005/8/layout/vList2"/>
    <dgm:cxn modelId="{C2593B5F-E7FB-46F1-89EF-C3D363050409}" srcId="{04A0A34D-83D8-41E8-ABD4-851A41B2844C}" destId="{3AB0143B-87DA-4CC2-8640-D30B57DED0CA}" srcOrd="5" destOrd="0" parTransId="{E5D211BA-45ED-4B91-8CD5-77F7CD865459}" sibTransId="{D29BB0A0-99D7-475B-ADE3-C2126CE4D0A5}"/>
    <dgm:cxn modelId="{54371449-CE11-41EE-8058-2E491CB7C9F0}" type="presOf" srcId="{04A0A34D-83D8-41E8-ABD4-851A41B2844C}" destId="{F7DD6682-87C7-4CCF-9CE4-A69A11EA2593}" srcOrd="0" destOrd="0" presId="urn:microsoft.com/office/officeart/2005/8/layout/vList2"/>
    <dgm:cxn modelId="{3C8C3371-3C1A-4158-9172-99022FA142AE}" srcId="{04A0A34D-83D8-41E8-ABD4-851A41B2844C}" destId="{8D89BCB2-ACE7-4F7E-9538-C2D9C7B7DB50}" srcOrd="0" destOrd="0" parTransId="{4B715070-124A-4A3B-A621-D0F1133431FA}" sibTransId="{304CF939-5058-410E-9BA5-1FA36EF660FF}"/>
    <dgm:cxn modelId="{20F97C59-93BD-42E4-BE35-BA450618CE28}" type="presOf" srcId="{FD5C44B2-9F21-48A8-BB4A-ECE07E8E44B9}" destId="{A112671D-B125-40E8-9271-7602E85D7C99}" srcOrd="0" destOrd="0" presId="urn:microsoft.com/office/officeart/2005/8/layout/vList2"/>
    <dgm:cxn modelId="{537B9085-2B9B-413C-81E6-60CC8AF44A52}" srcId="{04A0A34D-83D8-41E8-ABD4-851A41B2844C}" destId="{6F43FC01-E2CE-4A35-B4C1-1DB23EC2A80B}" srcOrd="4" destOrd="0" parTransId="{0462DE1B-2585-4F68-A39E-4DE05D03D0E3}" sibTransId="{819406F1-C337-47AE-8D98-54913C31C059}"/>
    <dgm:cxn modelId="{00804E93-4F57-4B64-A935-FA43C85064BB}" srcId="{04A0A34D-83D8-41E8-ABD4-851A41B2844C}" destId="{9E82B360-345C-4A1F-A928-42FF73B4FBBF}" srcOrd="2" destOrd="0" parTransId="{88C1A304-FE09-4911-B751-B19FFB0D930F}" sibTransId="{E952BC0F-BDCA-4611-A6B7-204DB2E422A9}"/>
    <dgm:cxn modelId="{C58E48B0-B4A1-44AE-9FEC-D1D1E279A25C}" type="presOf" srcId="{3AB0143B-87DA-4CC2-8640-D30B57DED0CA}" destId="{BA477458-4A16-40A1-9F71-2FA475A3FFD0}" srcOrd="0" destOrd="0" presId="urn:microsoft.com/office/officeart/2005/8/layout/vList2"/>
    <dgm:cxn modelId="{95F088CB-E67E-4E6B-A041-0EE6D2007EFB}" type="presOf" srcId="{9E82B360-345C-4A1F-A928-42FF73B4FBBF}" destId="{0453B7E5-EB69-4037-B99C-35669B319B03}" srcOrd="0" destOrd="0" presId="urn:microsoft.com/office/officeart/2005/8/layout/vList2"/>
    <dgm:cxn modelId="{CC8071D2-9C43-44BF-8257-0AE53455E336}" type="presOf" srcId="{A118ECCF-5A4D-4286-9B93-153F0ABBC15A}" destId="{F9150312-3ADD-4512-A427-661F651A8B5E}" srcOrd="0" destOrd="0" presId="urn:microsoft.com/office/officeart/2005/8/layout/vList2"/>
    <dgm:cxn modelId="{73B057D7-AB84-488F-AA35-537C516EF56D}" srcId="{04A0A34D-83D8-41E8-ABD4-851A41B2844C}" destId="{A118ECCF-5A4D-4286-9B93-153F0ABBC15A}" srcOrd="3" destOrd="0" parTransId="{AF57E503-B562-4127-B575-A577E5D45EFF}" sibTransId="{38CCC2B0-2384-49F2-834C-8223202B2B50}"/>
    <dgm:cxn modelId="{C90B98ED-AEC2-40F8-8F0D-DBDE410E5215}" type="presOf" srcId="{6F43FC01-E2CE-4A35-B4C1-1DB23EC2A80B}" destId="{8DC1EC8E-43BD-4B68-8F6D-296738EA5D49}" srcOrd="0" destOrd="0" presId="urn:microsoft.com/office/officeart/2005/8/layout/vList2"/>
    <dgm:cxn modelId="{C0D76484-D6D1-44E7-86D7-51BF4B76CECA}" type="presParOf" srcId="{F7DD6682-87C7-4CCF-9CE4-A69A11EA2593}" destId="{C3BF4BC0-DAF7-49BF-B018-ACA08F4F15BF}" srcOrd="0" destOrd="0" presId="urn:microsoft.com/office/officeart/2005/8/layout/vList2"/>
    <dgm:cxn modelId="{FA82A78F-FBCB-4212-A294-16DBB5BEC5FC}" type="presParOf" srcId="{F7DD6682-87C7-4CCF-9CE4-A69A11EA2593}" destId="{4390B2EA-B0FD-419B-83AC-CC9EE25FD119}" srcOrd="1" destOrd="0" presId="urn:microsoft.com/office/officeart/2005/8/layout/vList2"/>
    <dgm:cxn modelId="{1D89E8A1-9194-4C99-B755-6B334BC7E1AA}" type="presParOf" srcId="{F7DD6682-87C7-4CCF-9CE4-A69A11EA2593}" destId="{A112671D-B125-40E8-9271-7602E85D7C99}" srcOrd="2" destOrd="0" presId="urn:microsoft.com/office/officeart/2005/8/layout/vList2"/>
    <dgm:cxn modelId="{AB61050E-3A1E-490B-8F50-6D61E534B139}" type="presParOf" srcId="{F7DD6682-87C7-4CCF-9CE4-A69A11EA2593}" destId="{064C5337-2B35-4805-8171-3C3FD465B4E0}" srcOrd="3" destOrd="0" presId="urn:microsoft.com/office/officeart/2005/8/layout/vList2"/>
    <dgm:cxn modelId="{3C130511-AE70-487A-BF93-AB7F33459B87}" type="presParOf" srcId="{F7DD6682-87C7-4CCF-9CE4-A69A11EA2593}" destId="{0453B7E5-EB69-4037-B99C-35669B319B03}" srcOrd="4" destOrd="0" presId="urn:microsoft.com/office/officeart/2005/8/layout/vList2"/>
    <dgm:cxn modelId="{E22159B0-C47B-466F-9D61-662C4FB7397A}" type="presParOf" srcId="{F7DD6682-87C7-4CCF-9CE4-A69A11EA2593}" destId="{3B90DCD8-610B-4DC4-B33C-A4C76A04DA39}" srcOrd="5" destOrd="0" presId="urn:microsoft.com/office/officeart/2005/8/layout/vList2"/>
    <dgm:cxn modelId="{9AB605E3-27A8-4279-8420-82928869FCEE}" type="presParOf" srcId="{F7DD6682-87C7-4CCF-9CE4-A69A11EA2593}" destId="{F9150312-3ADD-4512-A427-661F651A8B5E}" srcOrd="6" destOrd="0" presId="urn:microsoft.com/office/officeart/2005/8/layout/vList2"/>
    <dgm:cxn modelId="{0AD52FCF-8AD3-44AD-8DB9-92E68DE0C2C6}" type="presParOf" srcId="{F7DD6682-87C7-4CCF-9CE4-A69A11EA2593}" destId="{63C7D15F-7442-4934-8030-ADE675172CC0}" srcOrd="7" destOrd="0" presId="urn:microsoft.com/office/officeart/2005/8/layout/vList2"/>
    <dgm:cxn modelId="{EA0BAC37-BF44-41FA-A330-4D9814005824}" type="presParOf" srcId="{F7DD6682-87C7-4CCF-9CE4-A69A11EA2593}" destId="{8DC1EC8E-43BD-4B68-8F6D-296738EA5D49}" srcOrd="8" destOrd="0" presId="urn:microsoft.com/office/officeart/2005/8/layout/vList2"/>
    <dgm:cxn modelId="{BF1CA3D9-EEF4-4C35-A0FD-AEDE7AAF492E}" type="presParOf" srcId="{F7DD6682-87C7-4CCF-9CE4-A69A11EA2593}" destId="{6D78E6A7-C7EC-4D13-B568-90ED463DF654}" srcOrd="9" destOrd="0" presId="urn:microsoft.com/office/officeart/2005/8/layout/vList2"/>
    <dgm:cxn modelId="{8643E11B-F327-45CE-B4C2-D48851668246}" type="presParOf" srcId="{F7DD6682-87C7-4CCF-9CE4-A69A11EA2593}" destId="{BA477458-4A16-40A1-9F71-2FA475A3FFD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BF4BC0-DAF7-49BF-B018-ACA08F4F15BF}">
      <dsp:nvSpPr>
        <dsp:cNvPr id="0" name=""/>
        <dsp:cNvSpPr/>
      </dsp:nvSpPr>
      <dsp:spPr>
        <a:xfrm>
          <a:off x="0" y="1363"/>
          <a:ext cx="10947400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0" i="0" kern="1200"/>
            <a:t>Understand multivariate time series dynamics</a:t>
          </a:r>
          <a:endParaRPr lang="en-IN" sz="3100" kern="1200"/>
        </a:p>
      </dsp:txBody>
      <dsp:txXfrm>
        <a:off x="35411" y="36774"/>
        <a:ext cx="10876578" cy="654577"/>
      </dsp:txXfrm>
    </dsp:sp>
    <dsp:sp modelId="{A112671D-B125-40E8-9271-7602E85D7C99}">
      <dsp:nvSpPr>
        <dsp:cNvPr id="0" name=""/>
        <dsp:cNvSpPr/>
      </dsp:nvSpPr>
      <dsp:spPr>
        <a:xfrm>
          <a:off x="0" y="816043"/>
          <a:ext cx="10947400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0" i="0" kern="1200"/>
            <a:t>Learn statistical analysis techniques for time-dependent data</a:t>
          </a:r>
          <a:endParaRPr lang="en-IN" sz="3100" kern="1200"/>
        </a:p>
      </dsp:txBody>
      <dsp:txXfrm>
        <a:off x="35411" y="851454"/>
        <a:ext cx="10876578" cy="654577"/>
      </dsp:txXfrm>
    </dsp:sp>
    <dsp:sp modelId="{0453B7E5-EB69-4037-B99C-35669B319B03}">
      <dsp:nvSpPr>
        <dsp:cNvPr id="0" name=""/>
        <dsp:cNvSpPr/>
      </dsp:nvSpPr>
      <dsp:spPr>
        <a:xfrm>
          <a:off x="0" y="1630723"/>
          <a:ext cx="10947400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0" i="0" kern="1200"/>
            <a:t>Explore Vector Auto Regression (VAR) theory</a:t>
          </a:r>
          <a:endParaRPr lang="en-IN" sz="3100" kern="1200"/>
        </a:p>
      </dsp:txBody>
      <dsp:txXfrm>
        <a:off x="35411" y="1666134"/>
        <a:ext cx="10876578" cy="654577"/>
      </dsp:txXfrm>
    </dsp:sp>
    <dsp:sp modelId="{F9150312-3ADD-4512-A427-661F651A8B5E}">
      <dsp:nvSpPr>
        <dsp:cNvPr id="0" name=""/>
        <dsp:cNvSpPr/>
      </dsp:nvSpPr>
      <dsp:spPr>
        <a:xfrm>
          <a:off x="0" y="2445403"/>
          <a:ext cx="10947400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0" i="0" kern="1200"/>
            <a:t>Forecast multiple interdependent variables</a:t>
          </a:r>
          <a:endParaRPr lang="en-IN" sz="3100" kern="1200"/>
        </a:p>
      </dsp:txBody>
      <dsp:txXfrm>
        <a:off x="35411" y="2480814"/>
        <a:ext cx="10876578" cy="654577"/>
      </dsp:txXfrm>
    </dsp:sp>
    <dsp:sp modelId="{8DC1EC8E-43BD-4B68-8F6D-296738EA5D49}">
      <dsp:nvSpPr>
        <dsp:cNvPr id="0" name=""/>
        <dsp:cNvSpPr/>
      </dsp:nvSpPr>
      <dsp:spPr>
        <a:xfrm>
          <a:off x="0" y="3260083"/>
          <a:ext cx="10947400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0" i="0" kern="1200"/>
            <a:t>Implement VAR in Python</a:t>
          </a:r>
          <a:endParaRPr lang="en-IN" sz="3100" kern="1200"/>
        </a:p>
      </dsp:txBody>
      <dsp:txXfrm>
        <a:off x="35411" y="3295494"/>
        <a:ext cx="10876578" cy="654577"/>
      </dsp:txXfrm>
    </dsp:sp>
    <dsp:sp modelId="{BA477458-4A16-40A1-9F71-2FA475A3FFD0}">
      <dsp:nvSpPr>
        <dsp:cNvPr id="0" name=""/>
        <dsp:cNvSpPr/>
      </dsp:nvSpPr>
      <dsp:spPr>
        <a:xfrm>
          <a:off x="0" y="4074763"/>
          <a:ext cx="10947400" cy="72539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0" i="0" kern="1200"/>
            <a:t>Analyse a real-world case study</a:t>
          </a:r>
          <a:endParaRPr lang="en-IN" sz="3100" kern="1200"/>
        </a:p>
      </dsp:txBody>
      <dsp:txXfrm>
        <a:off x="35411" y="4110174"/>
        <a:ext cx="10876578" cy="654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8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28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" name="Google Shape;20;p2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CAB1BAE-DDE9-4CD9-966A-2709004145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21" name="Google Shape;21;p28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/>
          </a:p>
        </p:txBody>
      </p:sp>
      <p:sp>
        <p:nvSpPr>
          <p:cNvPr id="22" name="Google Shape;22;p2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fld id="{B90D4920-EBD2-4B78-B75E-5DBCBB901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49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6"/>
          <p:cNvSpPr txBox="1">
            <a:spLocks noGrp="1"/>
          </p:cNvSpPr>
          <p:nvPr>
            <p:ph type="body" idx="1"/>
          </p:nvPr>
        </p:nvSpPr>
        <p:spPr>
          <a:xfrm>
            <a:off x="622300" y="1160003"/>
            <a:ext cx="10947400" cy="226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sp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A5A5A5"/>
              </a:buClr>
              <a:buSzPts val="2400"/>
              <a:buChar char="•"/>
              <a:defRPr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–"/>
              <a:defRPr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A5A5A5"/>
              </a:buClr>
              <a:buSzPts val="2000"/>
              <a:buChar char="»"/>
              <a:defRPr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5" name="Google Shape;25;p46"/>
          <p:cNvCxnSpPr/>
          <p:nvPr/>
        </p:nvCxnSpPr>
        <p:spPr>
          <a:xfrm>
            <a:off x="622300" y="1143000"/>
            <a:ext cx="10947400" cy="0"/>
          </a:xfrm>
          <a:prstGeom prst="straightConnector1">
            <a:avLst/>
          </a:prstGeom>
          <a:noFill/>
          <a:ln w="28575" cap="flat" cmpd="sng">
            <a:solidFill>
              <a:srgbClr val="095A8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46"/>
          <p:cNvSpPr txBox="1">
            <a:spLocks noGrp="1"/>
          </p:cNvSpPr>
          <p:nvPr>
            <p:ph type="title"/>
          </p:nvPr>
        </p:nvSpPr>
        <p:spPr>
          <a:xfrm>
            <a:off x="622300" y="457202"/>
            <a:ext cx="10947400" cy="49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925" tIns="16925" rIns="16925" bIns="169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95A8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76918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7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37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Google Shape;30;p37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Google Shape;31;p3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CAB1BAE-DDE9-4CD9-966A-2709004145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32" name="Google Shape;32;p37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/>
          </a:p>
        </p:txBody>
      </p:sp>
      <p:sp>
        <p:nvSpPr>
          <p:cNvPr id="33" name="Google Shape;33;p3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fld id="{B90D4920-EBD2-4B78-B75E-5DBCBB901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584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38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38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Google Shape;38;p38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Google Shape;39;p38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Google Shape;40;p38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CAB1BAE-DDE9-4CD9-966A-2709004145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41" name="Google Shape;41;p38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/>
          </a:p>
        </p:txBody>
      </p:sp>
      <p:sp>
        <p:nvSpPr>
          <p:cNvPr id="42" name="Google Shape;42;p38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fld id="{B90D4920-EBD2-4B78-B75E-5DBCBB9013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45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1" name="Google Shape;11;p27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7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2CAB1BAE-DDE9-4CD9-966A-270900414574}" type="datetimeFigureOut">
              <a:rPr lang="en-IN" smtClean="0"/>
              <a:t>25-10-2025</a:t>
            </a:fld>
            <a:endParaRPr lang="en-IN"/>
          </a:p>
        </p:txBody>
      </p:sp>
      <p:sp>
        <p:nvSpPr>
          <p:cNvPr id="13" name="Google Shape;13;p27"/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IN"/>
          </a:p>
        </p:txBody>
      </p:sp>
      <p:sp>
        <p:nvSpPr>
          <p:cNvPr id="14" name="Google Shape;14;p27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400"/>
              <a:buFont typeface="Candara"/>
              <a:buNone/>
              <a:defRPr sz="1400" b="0" i="0" u="none" strike="noStrike" cap="none">
                <a:solidFill>
                  <a:srgbClr val="595959"/>
                </a:solidFill>
                <a:latin typeface="Candara"/>
                <a:ea typeface="Candara"/>
                <a:cs typeface="Candara"/>
                <a:sym typeface="Candara"/>
              </a:defRPr>
            </a:lvl9pPr>
          </a:lstStyle>
          <a:p>
            <a:fld id="{B90D4920-EBD2-4B78-B75E-5DBCBB9013F7}" type="slidenum">
              <a:rPr lang="en-IN" smtClean="0"/>
              <a:t>‹#›</a:t>
            </a:fld>
            <a:endParaRPr lang="en-IN"/>
          </a:p>
        </p:txBody>
      </p:sp>
      <p:sp>
        <p:nvSpPr>
          <p:cNvPr id="15" name="Google Shape;15;p27"/>
          <p:cNvSpPr txBox="1"/>
          <p:nvPr/>
        </p:nvSpPr>
        <p:spPr>
          <a:xfrm>
            <a:off x="0" y="0"/>
            <a:ext cx="508000" cy="685800"/>
          </a:xfrm>
          <a:prstGeom prst="rect">
            <a:avLst/>
          </a:prstGeom>
          <a:solidFill>
            <a:srgbClr val="0F75B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7"/>
          <p:cNvSpPr txBox="1"/>
          <p:nvPr/>
        </p:nvSpPr>
        <p:spPr>
          <a:xfrm>
            <a:off x="0" y="685800"/>
            <a:ext cx="508000" cy="685800"/>
          </a:xfrm>
          <a:prstGeom prst="rect">
            <a:avLst/>
          </a:prstGeom>
          <a:solidFill>
            <a:srgbClr val="25AA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5642492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4B69-275B-AC5C-DA00-62F97D0C32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Multivariate Time Series &amp; VAR Model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35DEC-0809-8F6F-33E8-0E01E2A27EC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Concepts, Forecasting,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409302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BE1CF43-3E5D-0C56-EE32-43112781C0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2078789"/>
              </p:ext>
            </p:extLst>
          </p:nvPr>
        </p:nvGraphicFramePr>
        <p:xfrm>
          <a:off x="622300" y="1160003"/>
          <a:ext cx="10947400" cy="48015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BB4602D-0DAE-68CF-B673-56D358D8B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1383572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1A7826-4732-18C9-4645-D5768D350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1449953"/>
          </a:xfrm>
        </p:spPr>
        <p:txBody>
          <a:bodyPr/>
          <a:lstStyle/>
          <a:p>
            <a:r>
              <a:rPr lang="en-IN" sz="1800" dirty="0"/>
              <a:t>Univariate: One variable over time (e.g., GDP)</a:t>
            </a:r>
          </a:p>
          <a:p>
            <a:r>
              <a:rPr lang="en-IN" sz="1800" dirty="0"/>
              <a:t>Multivariate: Multiple interdependent variables (e.g., GDP, Inflation, Interest Rate)</a:t>
            </a:r>
          </a:p>
          <a:p>
            <a:r>
              <a:rPr lang="en-IN" sz="1800" dirty="0"/>
              <a:t>Captures cross-dependencies and joint </a:t>
            </a:r>
            <a:r>
              <a:rPr lang="en-IN" sz="1800" dirty="0" err="1"/>
              <a:t>behavior</a:t>
            </a:r>
            <a:endParaRPr lang="en-IN" sz="1800" dirty="0"/>
          </a:p>
          <a:p>
            <a:r>
              <a:rPr lang="en-IN" sz="1800" dirty="0"/>
              <a:t>Enables richer forecasting and causal inference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69AB12-F23E-972F-E46F-C5DCC4F5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From Univariate to Multivariate</a:t>
            </a:r>
          </a:p>
        </p:txBody>
      </p:sp>
    </p:spTree>
    <p:extLst>
      <p:ext uri="{BB962C8B-B14F-4D97-AF65-F5344CB8AC3E}">
        <p14:creationId xmlns:p14="http://schemas.microsoft.com/office/powerpoint/2010/main" val="1680964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37CA22-B925-1D02-0F18-5EA551B26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204553"/>
          </a:xfrm>
        </p:spPr>
        <p:txBody>
          <a:bodyPr/>
          <a:lstStyle/>
          <a:p>
            <a:r>
              <a:rPr lang="en-IN" sz="1800" dirty="0"/>
              <a:t>Definition: A collection of multiple time-dependent variables observed simultaneously over time</a:t>
            </a:r>
          </a:p>
          <a:p>
            <a:r>
              <a:rPr lang="en-IN" sz="1800" dirty="0"/>
              <a:t>Mathematical Representation:</a:t>
            </a:r>
          </a:p>
          <a:p>
            <a:pPr lvl="1"/>
            <a:r>
              <a:rPr lang="en-IN" sz="1800" dirty="0"/>
              <a:t>Yₜ = (y₁ₜ, y₂ₜ, ..., yₙₜ)' is an n × 1 vector</a:t>
            </a:r>
          </a:p>
          <a:p>
            <a:pPr lvl="1"/>
            <a:r>
              <a:rPr lang="en-IN" sz="1800" dirty="0"/>
              <a:t>t = 1, 2, 3, ..., T (time periods)</a:t>
            </a:r>
          </a:p>
          <a:p>
            <a:pPr lvl="1"/>
            <a:r>
              <a:rPr lang="en-IN" sz="1800" dirty="0"/>
              <a:t>n ≥ 2 (number of variables)</a:t>
            </a:r>
          </a:p>
          <a:p>
            <a:r>
              <a:rPr lang="en-IN" sz="1800" dirty="0"/>
              <a:t>Why Multivariate Analysis?</a:t>
            </a:r>
          </a:p>
          <a:p>
            <a:pPr lvl="1"/>
            <a:r>
              <a:rPr lang="en-IN" sz="1800" dirty="0"/>
              <a:t>The Real World is Interconnected:</a:t>
            </a:r>
          </a:p>
          <a:p>
            <a:pPr lvl="1"/>
            <a:r>
              <a:rPr lang="en-IN" sz="1800" dirty="0"/>
              <a:t>Economic: GDP ↔ Inflation ↔ Unemployment ↔ Interest Rates</a:t>
            </a:r>
          </a:p>
          <a:p>
            <a:pPr lvl="1"/>
            <a:r>
              <a:rPr lang="en-IN" sz="1800" dirty="0"/>
              <a:t>Financial: Stock Prices ↔ Trading Volume ↔ Volatility</a:t>
            </a:r>
          </a:p>
          <a:p>
            <a:pPr lvl="1"/>
            <a:r>
              <a:rPr lang="en-IN" sz="1800" dirty="0"/>
              <a:t>Supply Chain: Demand ↔ Inventory ↔ Production ↔ Lead Time</a:t>
            </a:r>
          </a:p>
          <a:p>
            <a:r>
              <a:rPr lang="en-IN" sz="1800" dirty="0"/>
              <a:t>Key Insight: Analysing variables in isolation ignores valuable information about their relationships and feedback effects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476A2F-4B4D-D93A-69AB-72B6A500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Multivariate Time Series?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1306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9464EDB-8A16-7E26-AEC0-76D09C28F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927554"/>
          </a:xfrm>
        </p:spPr>
        <p:txBody>
          <a:bodyPr/>
          <a:lstStyle/>
          <a:p>
            <a:r>
              <a:rPr lang="en-US" sz="1800" dirty="0"/>
              <a:t>Four Key Characteristics:</a:t>
            </a:r>
          </a:p>
          <a:p>
            <a:pPr lvl="1"/>
            <a:r>
              <a:rPr lang="en-US" sz="1800" dirty="0"/>
              <a:t>Temporal Dependence: Each variable depends on its own past values</a:t>
            </a:r>
          </a:p>
          <a:p>
            <a:pPr lvl="1"/>
            <a:r>
              <a:rPr lang="en-US" sz="1800" dirty="0"/>
              <a:t>Cross-Sectional Dependence: Variables correlated with each other contemporaneously</a:t>
            </a:r>
          </a:p>
          <a:p>
            <a:pPr lvl="1"/>
            <a:r>
              <a:rPr lang="en-US" sz="1800" dirty="0"/>
              <a:t>Lead-Lag Relationships: One variable may lead or lag another</a:t>
            </a:r>
          </a:p>
          <a:p>
            <a:pPr lvl="1"/>
            <a:r>
              <a:rPr lang="en-US" sz="1800" dirty="0"/>
              <a:t>Common Trends: Variables may share underlying factors and move together</a:t>
            </a:r>
          </a:p>
          <a:p>
            <a:r>
              <a:rPr lang="en-US" sz="1800" dirty="0"/>
              <a:t>Advantages Over Univariate Analysis:</a:t>
            </a:r>
          </a:p>
          <a:p>
            <a:pPr lvl="1"/>
            <a:r>
              <a:rPr lang="en-US" sz="1800" dirty="0"/>
              <a:t>✓ Capture Interactions: Account for feedback effects and dynamic relationships</a:t>
            </a:r>
          </a:p>
          <a:p>
            <a:pPr lvl="1"/>
            <a:r>
              <a:rPr lang="en-US" sz="1800" dirty="0"/>
              <a:t>✓ Improved Forecasting: Use information from all variables simultaneously</a:t>
            </a:r>
          </a:p>
          <a:p>
            <a:pPr lvl="1"/>
            <a:r>
              <a:rPr lang="en-US" sz="1800" dirty="0"/>
              <a:t>✓ Richer Analysis: Test causality, analyze shock transmission, decompose variance</a:t>
            </a:r>
          </a:p>
          <a:p>
            <a:pPr lvl="1"/>
            <a:r>
              <a:rPr lang="en-US" sz="1800" dirty="0"/>
              <a:t>✓ System-Wide View: Holistic understanding for policy analysis and scenario simulation</a:t>
            </a:r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7D01BE-7635-9F73-CDCC-ECF7A3255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Characteristics &amp; Advantages</a:t>
            </a:r>
          </a:p>
        </p:txBody>
      </p:sp>
    </p:spTree>
    <p:extLst>
      <p:ext uri="{BB962C8B-B14F-4D97-AF65-F5344CB8AC3E}">
        <p14:creationId xmlns:p14="http://schemas.microsoft.com/office/powerpoint/2010/main" val="370836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A663A8-680D-B13F-7B81-D1D9B0ACE1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281497"/>
          </a:xfrm>
        </p:spPr>
        <p:txBody>
          <a:bodyPr/>
          <a:lstStyle/>
          <a:p>
            <a:r>
              <a:rPr lang="en-IN" sz="1800" dirty="0"/>
              <a:t>VAR has become the workhorse model because:</a:t>
            </a:r>
          </a:p>
          <a:p>
            <a:r>
              <a:rPr lang="en-IN" sz="1800" dirty="0"/>
              <a:t>Minimal Assumptions: No need for strong economic theory or causal direction</a:t>
            </a:r>
          </a:p>
          <a:p>
            <a:r>
              <a:rPr lang="en-IN" sz="1800" dirty="0"/>
              <a:t>Symmetric Treatment: All variables treated as endogenous (mutually dependent)</a:t>
            </a:r>
          </a:p>
          <a:p>
            <a:r>
              <a:rPr lang="en-IN" sz="1800" dirty="0"/>
              <a:t>Easy Estimation: OLS equation-by-equation - straightforward implementation</a:t>
            </a:r>
          </a:p>
          <a:p>
            <a:r>
              <a:rPr lang="en-IN" sz="1800" dirty="0"/>
              <a:t>Rich Analytical Toolkit:</a:t>
            </a:r>
          </a:p>
          <a:p>
            <a:pPr lvl="1"/>
            <a:r>
              <a:rPr lang="en-IN" sz="1800" dirty="0"/>
              <a:t>Granger Causality Tests</a:t>
            </a:r>
          </a:p>
          <a:p>
            <a:pPr lvl="1"/>
            <a:r>
              <a:rPr lang="en-IN" sz="1800" dirty="0"/>
              <a:t>Impulse Response Functions (IRF)</a:t>
            </a:r>
          </a:p>
          <a:p>
            <a:pPr lvl="1"/>
            <a:r>
              <a:rPr lang="en-IN" sz="1800" dirty="0"/>
              <a:t>Forecast Error Variance Decomposition (FEVD)</a:t>
            </a:r>
          </a:p>
          <a:p>
            <a:pPr lvl="1"/>
            <a:r>
              <a:rPr lang="en-IN" sz="1800" dirty="0"/>
              <a:t>Historical Decomposition</a:t>
            </a:r>
          </a:p>
          <a:p>
            <a:r>
              <a:rPr lang="en-IN" sz="1800" dirty="0"/>
              <a:t>Proven Performance: Good short-term forecasting, standard in central banks and research</a:t>
            </a:r>
          </a:p>
          <a:p>
            <a:r>
              <a:rPr lang="en-IN" sz="1800" dirty="0"/>
              <a:t>Core Philosophy: "Everyone influences everyone, with lags" - let the data speak!</a:t>
            </a:r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DD277F-F4D7-7507-CE86-CE697937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Vector Autoregression (VAR)?</a:t>
            </a:r>
          </a:p>
        </p:txBody>
      </p:sp>
    </p:spTree>
    <p:extLst>
      <p:ext uri="{BB962C8B-B14F-4D97-AF65-F5344CB8AC3E}">
        <p14:creationId xmlns:p14="http://schemas.microsoft.com/office/powerpoint/2010/main" val="3462801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D57EC7-9B34-5ACA-94E3-5A460A127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1373009"/>
          </a:xfrm>
        </p:spPr>
        <p:txBody>
          <a:bodyPr/>
          <a:lstStyle/>
          <a:p>
            <a:r>
              <a:rPr lang="en-US" sz="1800" dirty="0"/>
              <a:t>Core Concept: Each variable in the system is regressed on its own lagged values AND lagged values of ALL other variables</a:t>
            </a:r>
          </a:p>
          <a:p>
            <a:r>
              <a:rPr lang="en-US" sz="1800" dirty="0"/>
              <a:t>VAR(p) Model - General Form:</a:t>
            </a:r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B360F6-DDFD-8B14-B70B-DA73A47F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 Model - Basic Structure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76EB47-E2D9-BEDC-8FDE-7118D90B2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12" y="2533012"/>
            <a:ext cx="6678706" cy="403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125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A2E4FE-758B-6AD4-642B-7FF35CD8D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Bivariate VAR(1) Example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681140-C532-46B5-F627-F73D28A24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683" y="1317811"/>
            <a:ext cx="8168893" cy="5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833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9822CD-C50F-24B9-0882-30A0436CC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989383"/>
          </a:xfrm>
        </p:spPr>
        <p:txBody>
          <a:bodyPr/>
          <a:lstStyle/>
          <a:p>
            <a:r>
              <a:rPr lang="en-US" sz="1800" dirty="0"/>
              <a:t>Stationarity</a:t>
            </a:r>
          </a:p>
          <a:p>
            <a:pPr lvl="1"/>
            <a:r>
              <a:rPr lang="en-US" sz="1800" dirty="0"/>
              <a:t>All series must be stationary</a:t>
            </a:r>
          </a:p>
          <a:p>
            <a:pPr lvl="1"/>
            <a:r>
              <a:rPr lang="en-US" sz="1800" dirty="0"/>
              <a:t>Check with ADF test</a:t>
            </a:r>
          </a:p>
          <a:p>
            <a:pPr lvl="1"/>
            <a:r>
              <a:rPr lang="en-US" sz="1800" dirty="0"/>
              <a:t>Difference if necessary</a:t>
            </a:r>
          </a:p>
          <a:p>
            <a:r>
              <a:rPr lang="en-US" sz="1800" dirty="0"/>
              <a:t>No Serial Correlation in Residuals</a:t>
            </a:r>
          </a:p>
          <a:p>
            <a:pPr lvl="1"/>
            <a:r>
              <a:rPr lang="en-US" sz="1800" dirty="0"/>
              <a:t>Test with Durbin-Watson, Ljung-Box</a:t>
            </a:r>
          </a:p>
          <a:p>
            <a:pPr lvl="1"/>
            <a:r>
              <a:rPr lang="en-US" sz="1800" dirty="0"/>
              <a:t>Indicates correct lag order</a:t>
            </a:r>
          </a:p>
          <a:p>
            <a:r>
              <a:rPr lang="en-US" sz="1800" dirty="0"/>
              <a:t>Homoscedasticity</a:t>
            </a:r>
          </a:p>
          <a:p>
            <a:pPr lvl="1"/>
            <a:r>
              <a:rPr lang="en-US" sz="1800" dirty="0"/>
              <a:t>Constant variance of errors</a:t>
            </a:r>
          </a:p>
          <a:p>
            <a:pPr lvl="1"/>
            <a:r>
              <a:rPr lang="en-US" sz="1800" dirty="0"/>
              <a:t>Check with residual plots</a:t>
            </a:r>
          </a:p>
          <a:p>
            <a:r>
              <a:rPr lang="en-US" sz="1800" dirty="0"/>
              <a:t>No Multicollinearity</a:t>
            </a:r>
          </a:p>
          <a:p>
            <a:pPr lvl="1"/>
            <a:r>
              <a:rPr lang="en-US" sz="1800" dirty="0"/>
              <a:t>Variables should not be perfectly correlated</a:t>
            </a:r>
          </a:p>
          <a:p>
            <a:pPr lvl="1"/>
            <a:r>
              <a:rPr lang="en-US" sz="1800" dirty="0"/>
              <a:t>Can still have some correlation (that's the point!)</a:t>
            </a:r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B31F34-BF20-2847-AF06-7B87F15F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 Model Assumptions</a:t>
            </a:r>
          </a:p>
        </p:txBody>
      </p:sp>
    </p:spTree>
    <p:extLst>
      <p:ext uri="{BB962C8B-B14F-4D97-AF65-F5344CB8AC3E}">
        <p14:creationId xmlns:p14="http://schemas.microsoft.com/office/powerpoint/2010/main" val="14084916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E86483E-0854-ACC8-B210-3F191ACF6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5343326"/>
          </a:xfrm>
        </p:spPr>
        <p:txBody>
          <a:bodyPr/>
          <a:lstStyle/>
          <a:p>
            <a:r>
              <a:rPr lang="en-US" sz="1800" dirty="0"/>
              <a:t>Endogenous Variables (</a:t>
            </a:r>
            <a:r>
              <a:rPr lang="en-US" sz="1800" dirty="0" err="1"/>
              <a:t>Y_t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Variables to be modeled</a:t>
            </a:r>
          </a:p>
          <a:p>
            <a:pPr lvl="1"/>
            <a:r>
              <a:rPr lang="en-US" sz="1800" dirty="0"/>
              <a:t>Each depends on past values of all variables</a:t>
            </a:r>
          </a:p>
          <a:p>
            <a:pPr lvl="1"/>
            <a:r>
              <a:rPr lang="en-US" sz="1800" dirty="0"/>
              <a:t>Example: [GDP, Inflation, Interest Rate]</a:t>
            </a:r>
          </a:p>
          <a:p>
            <a:r>
              <a:rPr lang="en-US" sz="1800" dirty="0"/>
              <a:t>Lag Order (p)</a:t>
            </a:r>
          </a:p>
          <a:p>
            <a:pPr lvl="1"/>
            <a:r>
              <a:rPr lang="en-US" sz="1800" dirty="0"/>
              <a:t>Number of past periods to include</a:t>
            </a:r>
          </a:p>
          <a:p>
            <a:pPr lvl="1"/>
            <a:r>
              <a:rPr lang="en-US" sz="1800" dirty="0"/>
              <a:t>Selected using IC (AIC, BIC)</a:t>
            </a:r>
          </a:p>
          <a:p>
            <a:pPr lvl="1"/>
            <a:r>
              <a:rPr lang="en-US" sz="1800" dirty="0"/>
              <a:t>Trade-off: fit vs. Complexity</a:t>
            </a:r>
          </a:p>
          <a:p>
            <a:r>
              <a:rPr lang="en-US" sz="1800" dirty="0"/>
              <a:t>Coefficient Matrices (A₁, A₂, ..., Aₚ)</a:t>
            </a:r>
          </a:p>
          <a:p>
            <a:pPr lvl="1"/>
            <a:r>
              <a:rPr lang="en-US" sz="1800" dirty="0"/>
              <a:t>Capture relationships between variables</a:t>
            </a:r>
          </a:p>
          <a:p>
            <a:pPr lvl="1"/>
            <a:r>
              <a:rPr lang="en-US" sz="1800" dirty="0"/>
              <a:t>Estimated using OLS (each equation separately)</a:t>
            </a:r>
          </a:p>
          <a:p>
            <a:r>
              <a:rPr lang="en-US" sz="1800" dirty="0"/>
              <a:t>Error Terms (</a:t>
            </a:r>
            <a:r>
              <a:rPr lang="en-US" sz="1800" dirty="0" err="1"/>
              <a:t>ε_t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White noise</a:t>
            </a:r>
          </a:p>
          <a:p>
            <a:pPr lvl="1"/>
            <a:r>
              <a:rPr lang="en-US" sz="1800" dirty="0"/>
              <a:t>Can be correlated across equations</a:t>
            </a:r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CAB840-285F-78ED-94D1-8D290437E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 Model Components</a:t>
            </a:r>
          </a:p>
        </p:txBody>
      </p:sp>
    </p:spTree>
    <p:extLst>
      <p:ext uri="{BB962C8B-B14F-4D97-AF65-F5344CB8AC3E}">
        <p14:creationId xmlns:p14="http://schemas.microsoft.com/office/powerpoint/2010/main" val="2475016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01CE7E6-3CB9-9AA8-5A76-C12D33A5C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157839"/>
          </a:xfrm>
        </p:spPr>
        <p:txBody>
          <a:bodyPr/>
          <a:lstStyle/>
          <a:p>
            <a:r>
              <a:rPr lang="en-US" sz="1800" dirty="0"/>
              <a:t>Estimation Method: Ordinary Least Squares (OLS) - equation by equation</a:t>
            </a:r>
          </a:p>
          <a:p>
            <a:r>
              <a:rPr lang="en-US" sz="1800" dirty="0"/>
              <a:t>Why OLS Works:</a:t>
            </a:r>
          </a:p>
          <a:p>
            <a:pPr lvl="1"/>
            <a:r>
              <a:rPr lang="en-US" sz="1800" dirty="0"/>
              <a:t>Each equation has identical regressors</a:t>
            </a:r>
          </a:p>
          <a:p>
            <a:pPr lvl="1"/>
            <a:r>
              <a:rPr lang="en-US" sz="1800" dirty="0"/>
              <a:t>OLS is efficient (equivalent to GLS)</a:t>
            </a:r>
          </a:p>
          <a:p>
            <a:pPr lvl="1"/>
            <a:r>
              <a:rPr lang="en-US" sz="1800" dirty="0"/>
              <a:t>Under normality: OLS = Maximum Likelihood Estimator</a:t>
            </a:r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AF18D46-790E-222E-D703-F87FCAA1D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 Estimation &amp; Diagnostics</a:t>
            </a:r>
          </a:p>
        </p:txBody>
      </p:sp>
    </p:spTree>
    <p:extLst>
      <p:ext uri="{BB962C8B-B14F-4D97-AF65-F5344CB8AC3E}">
        <p14:creationId xmlns:p14="http://schemas.microsoft.com/office/powerpoint/2010/main" val="29064122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19822CD-C50F-24B9-0882-30A0436CC7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989383"/>
          </a:xfrm>
        </p:spPr>
        <p:txBody>
          <a:bodyPr/>
          <a:lstStyle/>
          <a:p>
            <a:r>
              <a:rPr lang="en-US" sz="1800" dirty="0"/>
              <a:t>Stationarity</a:t>
            </a:r>
          </a:p>
          <a:p>
            <a:pPr lvl="1"/>
            <a:r>
              <a:rPr lang="en-US" sz="1800" dirty="0"/>
              <a:t>All series must be stationary</a:t>
            </a:r>
          </a:p>
          <a:p>
            <a:pPr lvl="1"/>
            <a:r>
              <a:rPr lang="en-US" sz="1800" dirty="0"/>
              <a:t>Check with ADF test</a:t>
            </a:r>
          </a:p>
          <a:p>
            <a:pPr lvl="1"/>
            <a:r>
              <a:rPr lang="en-US" sz="1800" dirty="0"/>
              <a:t>Difference if necessary</a:t>
            </a:r>
          </a:p>
          <a:p>
            <a:r>
              <a:rPr lang="en-US" sz="1800" dirty="0"/>
              <a:t>No Serial Correlation in Residuals</a:t>
            </a:r>
          </a:p>
          <a:p>
            <a:pPr lvl="1"/>
            <a:r>
              <a:rPr lang="en-US" sz="1800" dirty="0"/>
              <a:t>Test with Durbin-Watson, Ljung-Box</a:t>
            </a:r>
          </a:p>
          <a:p>
            <a:pPr lvl="1"/>
            <a:r>
              <a:rPr lang="en-US" sz="1800" dirty="0"/>
              <a:t>Indicates correct lag order</a:t>
            </a:r>
          </a:p>
          <a:p>
            <a:r>
              <a:rPr lang="en-US" sz="1800" dirty="0"/>
              <a:t>Homoscedasticity</a:t>
            </a:r>
          </a:p>
          <a:p>
            <a:pPr lvl="1"/>
            <a:r>
              <a:rPr lang="en-US" sz="1800" dirty="0"/>
              <a:t>Constant variance of errors</a:t>
            </a:r>
          </a:p>
          <a:p>
            <a:pPr lvl="1"/>
            <a:r>
              <a:rPr lang="en-US" sz="1800" dirty="0"/>
              <a:t>Check with residual plots</a:t>
            </a:r>
          </a:p>
          <a:p>
            <a:r>
              <a:rPr lang="en-US" sz="1800" dirty="0"/>
              <a:t>No Multicollinearity</a:t>
            </a:r>
          </a:p>
          <a:p>
            <a:pPr lvl="1"/>
            <a:r>
              <a:rPr lang="en-US" sz="1800" dirty="0"/>
              <a:t>Variables should not be perfectly correlated</a:t>
            </a:r>
          </a:p>
          <a:p>
            <a:pPr lvl="1"/>
            <a:r>
              <a:rPr lang="en-US" sz="1800" dirty="0"/>
              <a:t>Can still have some correlation (that's the point!)</a:t>
            </a:r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B31F34-BF20-2847-AF06-7B87F15F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VAR Model Assumptions</a:t>
            </a:r>
          </a:p>
        </p:txBody>
      </p:sp>
    </p:spTree>
    <p:extLst>
      <p:ext uri="{BB962C8B-B14F-4D97-AF65-F5344CB8AC3E}">
        <p14:creationId xmlns:p14="http://schemas.microsoft.com/office/powerpoint/2010/main" val="1506101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834FCB-36E9-1A36-1D4E-2C3DFE07D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5189438"/>
          </a:xfrm>
        </p:spPr>
        <p:txBody>
          <a:bodyPr/>
          <a:lstStyle/>
          <a:p>
            <a:r>
              <a:rPr lang="en-IN" sz="1800" dirty="0"/>
              <a:t>Definition: X Granger-causes Y if past values of X contain information that helps predict Y beyond what Y's own past can provide</a:t>
            </a:r>
          </a:p>
          <a:p>
            <a:r>
              <a:rPr lang="en-IN" sz="1800" dirty="0"/>
              <a:t>Test Procedure:</a:t>
            </a:r>
          </a:p>
          <a:p>
            <a:pPr lvl="1"/>
            <a:r>
              <a:rPr lang="en-IN" sz="1800" dirty="0"/>
              <a:t>Full Model: yₜ = </a:t>
            </a:r>
            <a:r>
              <a:rPr lang="el-GR" sz="1800" dirty="0"/>
              <a:t>α + Σβ</a:t>
            </a:r>
            <a:r>
              <a:rPr lang="en-IN" sz="1800" dirty="0"/>
              <a:t>ᵢ yₜ₋ᵢ + </a:t>
            </a:r>
            <a:r>
              <a:rPr lang="el-GR" sz="1800" dirty="0"/>
              <a:t>Σγ</a:t>
            </a:r>
            <a:r>
              <a:rPr lang="en-IN" sz="1800" dirty="0"/>
              <a:t>ᵢ xₜ₋ᵢ + </a:t>
            </a:r>
            <a:r>
              <a:rPr lang="el-GR" sz="1800" dirty="0"/>
              <a:t>ε</a:t>
            </a:r>
            <a:r>
              <a:rPr lang="en-IN" sz="1800" dirty="0"/>
              <a:t>ₜ</a:t>
            </a:r>
          </a:p>
          <a:p>
            <a:pPr lvl="1"/>
            <a:r>
              <a:rPr lang="en-IN" sz="1800" dirty="0"/>
              <a:t>Restricted Model: yₜ = </a:t>
            </a:r>
            <a:r>
              <a:rPr lang="el-GR" sz="1800" dirty="0"/>
              <a:t>α + Σβ</a:t>
            </a:r>
            <a:r>
              <a:rPr lang="en-IN" sz="1800" dirty="0"/>
              <a:t>ᵢ yₜ₋ᵢ + </a:t>
            </a:r>
            <a:r>
              <a:rPr lang="el-GR" sz="1800" dirty="0"/>
              <a:t>ε</a:t>
            </a:r>
            <a:r>
              <a:rPr lang="en-IN" sz="1800" dirty="0"/>
              <a:t>ₜ</a:t>
            </a:r>
          </a:p>
          <a:p>
            <a:r>
              <a:rPr lang="en-IN" sz="1800" dirty="0"/>
              <a:t>Hypothesis:</a:t>
            </a:r>
          </a:p>
          <a:p>
            <a:pPr lvl="1"/>
            <a:r>
              <a:rPr lang="en-IN" sz="1800" dirty="0"/>
              <a:t>H₀: </a:t>
            </a:r>
            <a:r>
              <a:rPr lang="el-GR" sz="1800" dirty="0"/>
              <a:t>γ₁ = γ₂ = ... = γ</a:t>
            </a:r>
            <a:r>
              <a:rPr lang="en-IN" sz="1800" dirty="0"/>
              <a:t>ₚ = 0 (X does not Granger-cause Y)</a:t>
            </a:r>
          </a:p>
          <a:p>
            <a:pPr lvl="1"/>
            <a:r>
              <a:rPr lang="en-IN" sz="1800" dirty="0"/>
              <a:t>Test: F-test or Likelihood Ratio test</a:t>
            </a:r>
          </a:p>
          <a:p>
            <a:r>
              <a:rPr lang="en-IN" sz="1800" dirty="0"/>
              <a:t>Important Notes:</a:t>
            </a:r>
          </a:p>
          <a:p>
            <a:pPr lvl="1"/>
            <a:r>
              <a:rPr lang="en-IN" sz="1800" dirty="0"/>
              <a:t>Not true causality - it's predictive causality</a:t>
            </a:r>
          </a:p>
          <a:p>
            <a:pPr lvl="1"/>
            <a:r>
              <a:rPr lang="en-IN" sz="1800" dirty="0"/>
              <a:t>Bidirectional possible: X ⇒ Y and Y ⇒ X simultaneously</a:t>
            </a:r>
          </a:p>
          <a:p>
            <a:pPr lvl="1"/>
            <a:r>
              <a:rPr lang="en-IN" sz="1800" dirty="0"/>
              <a:t>Sensitive to: lag length, omitted variables, sample period</a:t>
            </a:r>
          </a:p>
          <a:p>
            <a:r>
              <a:rPr lang="en-IN" sz="1800" dirty="0"/>
              <a:t>Example: Does money supply Granger-cause inflation? If yes → past money growth helps forecast future inflation</a:t>
            </a:r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175D110-06F4-1492-D074-DFDD63C14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1 - Granger Causality Testing</a:t>
            </a:r>
          </a:p>
        </p:txBody>
      </p:sp>
    </p:spTree>
    <p:extLst>
      <p:ext uri="{BB962C8B-B14F-4D97-AF65-F5344CB8AC3E}">
        <p14:creationId xmlns:p14="http://schemas.microsoft.com/office/powerpoint/2010/main" val="2394040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9F3F0C-ECEF-B8BF-9D90-3626FD7ED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989383"/>
          </a:xfrm>
        </p:spPr>
        <p:txBody>
          <a:bodyPr/>
          <a:lstStyle/>
          <a:p>
            <a:r>
              <a:rPr lang="en-US" sz="1800" dirty="0"/>
              <a:t>Question: Relationships between Money Supply (M), Inflation (INF), and GDP?</a:t>
            </a:r>
          </a:p>
          <a:p>
            <a:r>
              <a:rPr lang="en-US" sz="1800" dirty="0"/>
              <a:t>Test Results: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Findings:</a:t>
            </a:r>
          </a:p>
          <a:p>
            <a:pPr lvl="1"/>
            <a:r>
              <a:rPr lang="en-US" sz="1800" dirty="0"/>
              <a:t>Unidirectional: Money supply Granger-causes both inflation and GDP</a:t>
            </a:r>
          </a:p>
          <a:p>
            <a:pPr lvl="1"/>
            <a:r>
              <a:rPr lang="en-US" sz="1800" dirty="0"/>
              <a:t>Unidirectional: GDP Granger-causes inflation</a:t>
            </a:r>
          </a:p>
          <a:p>
            <a:pPr lvl="1"/>
            <a:r>
              <a:rPr lang="en-US" sz="1800" dirty="0"/>
              <a:t>No feedback: Inflation doesn't Granger-cause money supply</a:t>
            </a:r>
          </a:p>
          <a:p>
            <a:pPr lvl="1"/>
            <a:r>
              <a:rPr lang="en-US" sz="1800" dirty="0"/>
              <a:t>Policy Implication: Money supply is a leading indicator for inflation and economic activity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0A8E6C-C288-553D-0F11-AD9602FE4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Granger Causality - Example 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FE4AF2-5B38-38A8-BE3E-ECA10B4A3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783" y="1960635"/>
            <a:ext cx="8221382" cy="201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42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94C4C9-EC5E-731B-CB00-8A277EFDE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850610"/>
          </a:xfrm>
        </p:spPr>
        <p:txBody>
          <a:bodyPr/>
          <a:lstStyle/>
          <a:p>
            <a:r>
              <a:rPr lang="en-US" sz="1800" dirty="0"/>
              <a:t>Purpose: Trace the effect of a one-time shock to one variable on current and future values of all variables in the system</a:t>
            </a:r>
          </a:p>
          <a:p>
            <a:r>
              <a:rPr lang="en-US" sz="1800" dirty="0"/>
              <a:t>Mathematical Definition: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h = forecast horizon (how many periods ahead)</a:t>
            </a:r>
          </a:p>
          <a:p>
            <a:r>
              <a:rPr lang="en-US" sz="1800" dirty="0"/>
              <a:t>Key Features:</a:t>
            </a:r>
          </a:p>
          <a:p>
            <a:pPr lvl="1"/>
            <a:r>
              <a:rPr lang="en-US" sz="1800" dirty="0"/>
              <a:t>Shows dynamic adjustment path over time</a:t>
            </a:r>
          </a:p>
          <a:p>
            <a:pPr lvl="1"/>
            <a:r>
              <a:rPr lang="en-US" sz="1800" dirty="0"/>
              <a:t>Reveals persistence and propagation of shocks</a:t>
            </a:r>
          </a:p>
          <a:p>
            <a:pPr lvl="1"/>
            <a:r>
              <a:rPr lang="en-US" sz="1800" dirty="0"/>
              <a:t>Visualizes system interconnections</a:t>
            </a:r>
          </a:p>
          <a:p>
            <a:pPr lvl="1"/>
            <a:r>
              <a:rPr lang="en-US" sz="1800" dirty="0"/>
              <a:t>Standard tool for policy analysis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26C3E9D-410A-358F-6E77-3A4004266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/>
              <a:t>Application 2 - Impulse </a:t>
            </a:r>
            <a:r>
              <a:rPr lang="fr-FR" sz="3600" dirty="0" err="1"/>
              <a:t>Response</a:t>
            </a:r>
            <a:r>
              <a:rPr lang="fr-FR" sz="3600" dirty="0"/>
              <a:t> </a:t>
            </a:r>
            <a:r>
              <a:rPr lang="fr-FR" sz="3600" dirty="0" err="1"/>
              <a:t>Functions</a:t>
            </a:r>
            <a:r>
              <a:rPr lang="fr-FR" sz="3600" dirty="0"/>
              <a:t> (IRF)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85267D-82DA-AC56-952D-241F4B1EF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609" y="2190164"/>
            <a:ext cx="2019582" cy="3620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707DC6-C7D8-59D0-8738-7F162D961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4390" y="4439054"/>
            <a:ext cx="6630325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331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53210A7-189A-58AE-1BA5-F54C09710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4835495"/>
          </a:xfrm>
        </p:spPr>
        <p:txBody>
          <a:bodyPr/>
          <a:lstStyle/>
          <a:p>
            <a:r>
              <a:rPr lang="en-US" sz="1800" dirty="0"/>
              <a:t>Purpose: Decompose forecast error variance of each variable into proportions attributable to shocks from each variable in the system</a:t>
            </a:r>
          </a:p>
          <a:p>
            <a:r>
              <a:rPr lang="en-US" sz="1800" dirty="0"/>
              <a:t>Key Question: "What percentage of the h-step ahead forecast error variance in variable Y is due to innovations in variable X?"</a:t>
            </a:r>
          </a:p>
          <a:p>
            <a:r>
              <a:rPr lang="en-US" sz="1800" dirty="0"/>
              <a:t>Properties:</a:t>
            </a:r>
          </a:p>
          <a:p>
            <a:pPr lvl="1"/>
            <a:r>
              <a:rPr lang="en-US" sz="1800" dirty="0"/>
              <a:t>Percentages sum to 100% for each variable</a:t>
            </a:r>
          </a:p>
          <a:p>
            <a:pPr lvl="1"/>
            <a:r>
              <a:rPr lang="en-US" sz="1800" dirty="0"/>
              <a:t>Changes over forecast horizon</a:t>
            </a:r>
          </a:p>
          <a:p>
            <a:pPr lvl="1"/>
            <a:r>
              <a:rPr lang="en-US" sz="1800" dirty="0"/>
              <a:t>Own shocks typically dominate at short horizons</a:t>
            </a:r>
          </a:p>
          <a:p>
            <a:pPr lvl="1"/>
            <a:r>
              <a:rPr lang="en-US" sz="1800" dirty="0"/>
              <a:t>Complements IRF analysis</a:t>
            </a:r>
          </a:p>
          <a:p>
            <a:r>
              <a:rPr lang="en-US" sz="1800" dirty="0"/>
              <a:t>Interpretation:</a:t>
            </a:r>
          </a:p>
          <a:p>
            <a:pPr lvl="1"/>
            <a:r>
              <a:rPr lang="en-US" sz="1800" dirty="0"/>
              <a:t>Short-run: GDP fluctuations mainly self-driven (92%)</a:t>
            </a:r>
          </a:p>
          <a:p>
            <a:pPr lvl="1"/>
            <a:r>
              <a:rPr lang="en-US" sz="1800" dirty="0"/>
              <a:t>Long-run: Other variables explain 45% of GDP variance</a:t>
            </a:r>
          </a:p>
          <a:p>
            <a:pPr lvl="1"/>
            <a:r>
              <a:rPr lang="en-US" sz="1800" dirty="0"/>
              <a:t>Inflation increasingly important over time</a:t>
            </a:r>
          </a:p>
          <a:p>
            <a:pPr lvl="1"/>
            <a:r>
              <a:rPr lang="en-US" sz="1800" dirty="0"/>
              <a:t>Interest rate has modest but persistent impact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140164C-FFCE-FF14-0842-F0CE33EDF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000" dirty="0"/>
              <a:t>Application 3 - Forecast Error Variance Decomposition (FEVD)</a:t>
            </a:r>
            <a:endParaRPr lang="en-IN" sz="3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158C8B-61EF-24C0-6124-106A8327F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8728" y="2485893"/>
            <a:ext cx="5604241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771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FEAA10-4776-1D3A-A9ED-6266EB4704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927554"/>
          </a:xfrm>
        </p:spPr>
        <p:txBody>
          <a:bodyPr/>
          <a:lstStyle/>
          <a:p>
            <a:r>
              <a:rPr lang="en-IN" sz="1800" dirty="0"/>
              <a:t>Why Use VAR for Forecasting?</a:t>
            </a:r>
          </a:p>
          <a:p>
            <a:r>
              <a:rPr lang="en-IN" sz="1800" dirty="0"/>
              <a:t>Advantages: </a:t>
            </a:r>
          </a:p>
          <a:p>
            <a:pPr lvl="1"/>
            <a:r>
              <a:rPr lang="en-IN" sz="1800" dirty="0"/>
              <a:t>✓ Incorporates interdependencies between variables </a:t>
            </a:r>
          </a:p>
          <a:p>
            <a:pPr lvl="1"/>
            <a:r>
              <a:rPr lang="en-IN" sz="1800" dirty="0"/>
              <a:t>✓ Often outperforms univariate models (15-25% improvement for short-term) </a:t>
            </a:r>
          </a:p>
          <a:p>
            <a:pPr lvl="1"/>
            <a:r>
              <a:rPr lang="en-IN" sz="1800" dirty="0"/>
              <a:t>✓ Provides system-wide consistent forecasts </a:t>
            </a:r>
          </a:p>
          <a:p>
            <a:pPr lvl="1"/>
            <a:r>
              <a:rPr lang="en-IN" sz="1800" dirty="0"/>
              <a:t>✓ Captures feedback effects</a:t>
            </a:r>
          </a:p>
          <a:p>
            <a:r>
              <a:rPr lang="en-IN" sz="1800" dirty="0"/>
              <a:t>Disadvantages: </a:t>
            </a:r>
          </a:p>
          <a:p>
            <a:pPr lvl="1"/>
            <a:r>
              <a:rPr lang="en-IN" sz="1800" dirty="0"/>
              <a:t>✗ Many parameters → overfitting risk with small samples </a:t>
            </a:r>
          </a:p>
          <a:p>
            <a:pPr lvl="1"/>
            <a:r>
              <a:rPr lang="en-IN" sz="1800" dirty="0"/>
              <a:t>✗ Performance deteriorates at long horizons </a:t>
            </a:r>
          </a:p>
          <a:p>
            <a:pPr lvl="1"/>
            <a:r>
              <a:rPr lang="en-IN" sz="1800" dirty="0"/>
              <a:t>✗ Requires forecasting all variables together</a:t>
            </a:r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54B0D9-D38D-D650-1C33-27ADB0E3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4 - Forecasting with VAR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6893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8065331-A5D6-ECA3-F2BA-15D36BF81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2157839"/>
          </a:xfrm>
        </p:spPr>
        <p:txBody>
          <a:bodyPr/>
          <a:lstStyle/>
          <a:p>
            <a:r>
              <a:rPr lang="en-US" sz="1800" dirty="0"/>
              <a:t>Point Forecasts + Uncertainty Intervals</a:t>
            </a:r>
          </a:p>
          <a:p>
            <a:r>
              <a:rPr lang="en-US" sz="1800" dirty="0"/>
              <a:t>Standard Errors:</a:t>
            </a:r>
          </a:p>
          <a:p>
            <a:pPr lvl="1"/>
            <a:r>
              <a:rPr lang="en-US" sz="1800" dirty="0"/>
              <a:t>Increase with forecast horizon</a:t>
            </a:r>
          </a:p>
          <a:p>
            <a:pPr lvl="1"/>
            <a:r>
              <a:rPr lang="en-US" sz="1800" dirty="0"/>
              <a:t>Account for parameter uncertainty and shock uncertainty</a:t>
            </a:r>
          </a:p>
          <a:p>
            <a:pPr lvl="1"/>
            <a:r>
              <a:rPr lang="en-US" sz="1800" dirty="0"/>
              <a:t>Use bootstrap methods for robust intervals</a:t>
            </a:r>
          </a:p>
          <a:p>
            <a:endParaRPr lang="en-IN" sz="1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F0EF79-57A4-E507-8F4C-FE1287CBD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Forecast Evaluation &amp; Uncertainty</a:t>
            </a:r>
          </a:p>
        </p:txBody>
      </p:sp>
    </p:spTree>
    <p:extLst>
      <p:ext uri="{BB962C8B-B14F-4D97-AF65-F5344CB8AC3E}">
        <p14:creationId xmlns:p14="http://schemas.microsoft.com/office/powerpoint/2010/main" val="367719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DEDD65-1470-4C9E-23A4-177D54EDF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5343326"/>
          </a:xfrm>
        </p:spPr>
        <p:txBody>
          <a:bodyPr/>
          <a:lstStyle/>
          <a:p>
            <a:r>
              <a:rPr lang="en-IN" sz="1800" dirty="0"/>
              <a:t>Finance &amp; Banking:</a:t>
            </a:r>
          </a:p>
          <a:p>
            <a:pPr lvl="1"/>
            <a:r>
              <a:rPr lang="en-IN" sz="1800" dirty="0"/>
              <a:t>Portfolio risk management and asset allocation</a:t>
            </a:r>
          </a:p>
          <a:p>
            <a:pPr lvl="1"/>
            <a:r>
              <a:rPr lang="en-IN" sz="1800" dirty="0"/>
              <a:t>Volatility spillovers between markets</a:t>
            </a:r>
          </a:p>
          <a:p>
            <a:pPr lvl="1"/>
            <a:r>
              <a:rPr lang="en-IN" sz="1800" dirty="0"/>
              <a:t>Credit risk and systemic risk analysis</a:t>
            </a:r>
          </a:p>
          <a:p>
            <a:pPr lvl="1"/>
            <a:r>
              <a:rPr lang="en-IN" sz="1800" dirty="0"/>
              <a:t>High-frequency trading strategies</a:t>
            </a:r>
          </a:p>
          <a:p>
            <a:r>
              <a:rPr lang="en-IN" sz="1800" dirty="0"/>
              <a:t>Macroeconomics &amp; Central Banking:</a:t>
            </a:r>
          </a:p>
          <a:p>
            <a:pPr lvl="1"/>
            <a:r>
              <a:rPr lang="en-IN" sz="1800" dirty="0"/>
              <a:t>Monetary policy transmission analysis</a:t>
            </a:r>
          </a:p>
          <a:p>
            <a:pPr lvl="1"/>
            <a:r>
              <a:rPr lang="en-IN" sz="1800" dirty="0"/>
              <a:t>Business cycle forecasting</a:t>
            </a:r>
          </a:p>
          <a:p>
            <a:pPr lvl="1"/>
            <a:r>
              <a:rPr lang="en-IN" sz="1800" dirty="0"/>
              <a:t>Inflation targeting and policy rules</a:t>
            </a:r>
          </a:p>
          <a:p>
            <a:pPr lvl="1"/>
            <a:r>
              <a:rPr lang="en-IN" sz="1800" dirty="0"/>
              <a:t>International shock transmission</a:t>
            </a:r>
          </a:p>
          <a:p>
            <a:r>
              <a:rPr lang="en-US" sz="1800" dirty="0"/>
              <a:t>Marketing &amp; Business:</a:t>
            </a:r>
          </a:p>
          <a:p>
            <a:pPr lvl="1"/>
            <a:r>
              <a:rPr lang="en-US" sz="1800" dirty="0"/>
              <a:t>Advertising effectiveness across channels</a:t>
            </a:r>
          </a:p>
          <a:p>
            <a:pPr lvl="1"/>
            <a:r>
              <a:rPr lang="en-US" sz="1800" dirty="0"/>
              <a:t>Price-sales dynamics and promotions</a:t>
            </a:r>
          </a:p>
          <a:p>
            <a:pPr lvl="1"/>
            <a:r>
              <a:rPr lang="en-US" sz="1800" dirty="0"/>
              <a:t>Competitive response analysis</a:t>
            </a:r>
          </a:p>
          <a:p>
            <a:pPr lvl="1"/>
            <a:r>
              <a:rPr lang="en-US" sz="1800" dirty="0"/>
              <a:t>Multi-channel customer behavior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952A32-60C6-8E0C-DAFF-C60424011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Industry Applications of VAR</a:t>
            </a:r>
          </a:p>
        </p:txBody>
      </p:sp>
    </p:spTree>
    <p:extLst>
      <p:ext uri="{BB962C8B-B14F-4D97-AF65-F5344CB8AC3E}">
        <p14:creationId xmlns:p14="http://schemas.microsoft.com/office/powerpoint/2010/main" val="62156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C684B1-FE4F-4FF7-432E-E4D299D7E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2300" y="1160003"/>
            <a:ext cx="10947400" cy="3573611"/>
          </a:xfrm>
        </p:spPr>
        <p:txBody>
          <a:bodyPr/>
          <a:lstStyle/>
          <a:p>
            <a:r>
              <a:rPr lang="en-US" sz="1800" dirty="0"/>
              <a:t>Supply Chain &amp; Operations:</a:t>
            </a:r>
          </a:p>
          <a:p>
            <a:pPr lvl="1"/>
            <a:r>
              <a:rPr lang="en-US" sz="1800" dirty="0"/>
              <a:t>Demand-inventory-production relationships</a:t>
            </a:r>
          </a:p>
          <a:p>
            <a:pPr lvl="1"/>
            <a:r>
              <a:rPr lang="en-US" sz="1800" dirty="0"/>
              <a:t>Bullwhip effect quantification</a:t>
            </a:r>
          </a:p>
          <a:p>
            <a:pPr lvl="1"/>
            <a:r>
              <a:rPr lang="en-US" sz="1800" dirty="0"/>
              <a:t>Supplier network risk analysis</a:t>
            </a:r>
          </a:p>
          <a:p>
            <a:pPr lvl="1"/>
            <a:r>
              <a:rPr lang="en-US" sz="1800" dirty="0"/>
              <a:t>Capacity planning with demand uncertainty</a:t>
            </a:r>
          </a:p>
          <a:p>
            <a:r>
              <a:rPr lang="en-US" sz="1800" dirty="0"/>
              <a:t>Energy &amp; Commodities:</a:t>
            </a:r>
          </a:p>
          <a:p>
            <a:pPr lvl="1"/>
            <a:r>
              <a:rPr lang="en-US" sz="1800" dirty="0"/>
              <a:t>Electricity price forecasting</a:t>
            </a:r>
          </a:p>
          <a:p>
            <a:pPr lvl="1"/>
            <a:r>
              <a:rPr lang="en-US" sz="1800" dirty="0"/>
              <a:t>Oil-gas-coal price relationships</a:t>
            </a:r>
          </a:p>
          <a:p>
            <a:pPr lvl="1"/>
            <a:r>
              <a:rPr lang="en-US" sz="1800" dirty="0"/>
              <a:t>Renewable energy integration</a:t>
            </a:r>
          </a:p>
          <a:p>
            <a:pPr lvl="1"/>
            <a:r>
              <a:rPr lang="en-US" sz="1800" dirty="0"/>
              <a:t>Storage valuation and hedging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206BBF-BB58-19A1-7419-F2BAD314C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Industry Applications of VAR</a:t>
            </a:r>
          </a:p>
        </p:txBody>
      </p:sp>
    </p:spTree>
    <p:extLst>
      <p:ext uri="{BB962C8B-B14F-4D97-AF65-F5344CB8AC3E}">
        <p14:creationId xmlns:p14="http://schemas.microsoft.com/office/powerpoint/2010/main" val="27329771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0B1500F0-7090-49E9-BFBB-C9EB2E557458}" vid="{C49DAEFB-9210-4963-BCE7-7FBA5A58BC2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61</TotalTime>
  <Words>1293</Words>
  <Application>Microsoft Office PowerPoint</Application>
  <PresentationFormat>Widescreen</PresentationFormat>
  <Paragraphs>198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Candara</vt:lpstr>
      <vt:lpstr>Corbel</vt:lpstr>
      <vt:lpstr>Theme1</vt:lpstr>
      <vt:lpstr>Multivariate Time Series &amp; VAR Model</vt:lpstr>
      <vt:lpstr>Learning Objectives</vt:lpstr>
      <vt:lpstr>From Univariate to Multivariate</vt:lpstr>
      <vt:lpstr>What is a Multivariate Time Series?</vt:lpstr>
      <vt:lpstr>Key Characteristics &amp; Advantages</vt:lpstr>
      <vt:lpstr>Why Vector Autoregression (VAR)?</vt:lpstr>
      <vt:lpstr>VAR Model - Basic Structure</vt:lpstr>
      <vt:lpstr>Bivariate VAR(1) Example</vt:lpstr>
      <vt:lpstr>VAR Model Assumptions</vt:lpstr>
      <vt:lpstr>VAR Model Components</vt:lpstr>
      <vt:lpstr>VAR Estimation &amp; Diagnostics</vt:lpstr>
      <vt:lpstr>VAR Model Assumptions</vt:lpstr>
      <vt:lpstr>Application 1 - Granger Causality Testing</vt:lpstr>
      <vt:lpstr>Granger Causality - Example Results</vt:lpstr>
      <vt:lpstr>Application 2 - Impulse Response Functions (IRF)</vt:lpstr>
      <vt:lpstr>Application 3 - Forecast Error Variance Decomposition (FEVD)</vt:lpstr>
      <vt:lpstr>Application 4 - Forecasting with VAR</vt:lpstr>
      <vt:lpstr>Forecast Evaluation &amp; Uncertainty</vt:lpstr>
      <vt:lpstr>Industry Applications of VAR</vt:lpstr>
      <vt:lpstr>Industry Applications of VAR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Sreekanth Tadakaluru</dc:creator>
  <cp:lastModifiedBy>Sreekanth Tadakaluru</cp:lastModifiedBy>
  <cp:revision>56</cp:revision>
  <dcterms:created xsi:type="dcterms:W3CDTF">2025-10-25T17:51:33Z</dcterms:created>
  <dcterms:modified xsi:type="dcterms:W3CDTF">2025-10-25T18:52:35Z</dcterms:modified>
</cp:coreProperties>
</file>