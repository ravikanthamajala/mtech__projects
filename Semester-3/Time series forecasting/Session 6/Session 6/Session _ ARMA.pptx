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6" r:id="rId4"/>
    <p:sldId id="259" r:id="rId5"/>
    <p:sldId id="257" r:id="rId6"/>
    <p:sldId id="267" r:id="rId7"/>
    <p:sldId id="273" r:id="rId8"/>
    <p:sldId id="274" r:id="rId9"/>
    <p:sldId id="268" r:id="rId10"/>
    <p:sldId id="275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0081F-170E-4B5D-ADC2-A8EFC55732B4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8625E-F71A-4335-A46F-75890E8FE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1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https://fred.stlouisfed.org/series/PCECTPI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8625E-F71A-4335-A46F-75890E8FE27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78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5FD8A97-12E8-4538-80A9-0AB766388F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21" name="Google Shape;21;p2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22" name="Google Shape;22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A3F81A5E-452A-49E4-941B-13D75E353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80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226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Google Shape;25;p46"/>
          <p:cNvCxnSpPr/>
          <p:nvPr/>
        </p:nvCxnSpPr>
        <p:spPr>
          <a:xfrm>
            <a:off x="622300" y="1143000"/>
            <a:ext cx="10947400" cy="0"/>
          </a:xfrm>
          <a:prstGeom prst="straightConnector1">
            <a:avLst/>
          </a:prstGeom>
          <a:noFill/>
          <a:ln w="28575" cap="flat" cmpd="sng">
            <a:solidFill>
              <a:srgbClr val="095A8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95A8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858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30;p37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5FD8A97-12E8-4538-80A9-0AB766388F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2" name="Google Shape;32;p3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33" name="Google Shape;33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A3F81A5E-452A-49E4-941B-13D75E353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3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3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3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3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5FD8A97-12E8-4538-80A9-0AB766388F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1" name="Google Shape;41;p3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42" name="Google Shape;42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A3F81A5E-452A-49E4-941B-13D75E353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3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B5FD8A97-12E8-4538-80A9-0AB766388F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A3F81A5E-452A-49E4-941B-13D75E353E83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Google Shape;15;p27"/>
          <p:cNvSpPr txBox="1"/>
          <p:nvPr/>
        </p:nvSpPr>
        <p:spPr>
          <a:xfrm>
            <a:off x="0" y="0"/>
            <a:ext cx="508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7"/>
          <p:cNvSpPr txBox="1"/>
          <p:nvPr/>
        </p:nvSpPr>
        <p:spPr>
          <a:xfrm>
            <a:off x="0" y="685800"/>
            <a:ext cx="508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53044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835A-6C5E-112A-7D4E-570F08A5A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Stationary Processes &amp; ARMA Modelling</a:t>
            </a:r>
          </a:p>
        </p:txBody>
      </p:sp>
    </p:spTree>
    <p:extLst>
      <p:ext uri="{BB962C8B-B14F-4D97-AF65-F5344CB8AC3E}">
        <p14:creationId xmlns:p14="http://schemas.microsoft.com/office/powerpoint/2010/main" val="29380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0D9096-679A-0A16-D6B9-8421F4B3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711837"/>
          </a:xfrm>
        </p:spPr>
        <p:txBody>
          <a:bodyPr/>
          <a:lstStyle/>
          <a:p>
            <a:r>
              <a:rPr lang="en-US" sz="1800" dirty="0"/>
              <a:t>When differencing is combined with autoregression and a moving average model, a non-seasonal ARIMA model is obtained.</a:t>
            </a:r>
          </a:p>
          <a:p>
            <a:r>
              <a:rPr lang="en-US" sz="1800" dirty="0"/>
              <a:t>ARIMA, short for </a:t>
            </a:r>
            <a:r>
              <a:rPr lang="en-US" sz="1800" dirty="0" err="1"/>
              <a:t>AutoRegressive</a:t>
            </a:r>
            <a:r>
              <a:rPr lang="en-US" sz="1800" dirty="0"/>
              <a:t> Integrated Moving Average, uses 'integration' to denote the reverse of differencing.“</a:t>
            </a:r>
          </a:p>
          <a:p>
            <a:r>
              <a:rPr lang="en-US" sz="1800" dirty="0"/>
              <a:t>ARIMA (</a:t>
            </a:r>
            <a:r>
              <a:rPr lang="en-US" sz="1800" dirty="0" err="1"/>
              <a:t>p,d,q</a:t>
            </a:r>
            <a:r>
              <a:rPr lang="en-US" sz="1800" dirty="0"/>
              <a:t>) model</a:t>
            </a:r>
          </a:p>
          <a:p>
            <a:r>
              <a:rPr lang="en-US" sz="1800" dirty="0"/>
              <a:t>p - order of the autoregressive part;</a:t>
            </a:r>
          </a:p>
          <a:p>
            <a:r>
              <a:rPr lang="en-US" sz="1800" dirty="0"/>
              <a:t>d - degree of first differencing involved;</a:t>
            </a:r>
          </a:p>
          <a:p>
            <a:r>
              <a:rPr lang="en-US" sz="1800" dirty="0"/>
              <a:t>q - order of the moving average part.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F860B4-DDFB-D5C9-0C4E-17C52AC9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Non-seasonal ARIMA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F309E-3503-0564-0C12-C48F00D5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734" y="4154859"/>
            <a:ext cx="8481708" cy="82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1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9B1FAF-07B4-F4AE-BD1D-BE6542759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88890"/>
          </a:xfrm>
        </p:spPr>
        <p:txBody>
          <a:bodyPr/>
          <a:lstStyle/>
          <a:p>
            <a:r>
              <a:rPr lang="en-US" sz="1800" dirty="0"/>
              <a:t>The ACF (Autocorrelation Function)</a:t>
            </a:r>
          </a:p>
          <a:p>
            <a:pPr lvl="1"/>
            <a:r>
              <a:rPr lang="en-US" sz="1400" dirty="0"/>
              <a:t>Shows the correlation between a series and its lagged versions. It tells us the total amount of autocorrelation at each lag.</a:t>
            </a:r>
          </a:p>
          <a:p>
            <a:pPr lvl="1"/>
            <a:r>
              <a:rPr lang="en-US" sz="1400" dirty="0"/>
              <a:t>Shows the total correlation between a time series and its lagged versions. It's like asking, "How much does today's value depend on the value from 1 day ago, 2 days ago, 3 days ago, and so on?" This correlation is both direct and indirect</a:t>
            </a:r>
          </a:p>
          <a:p>
            <a:r>
              <a:rPr lang="en-US" sz="1800" dirty="0"/>
              <a:t>The PACF (Partial Autocorrelation Function)</a:t>
            </a:r>
          </a:p>
          <a:p>
            <a:pPr lvl="1"/>
            <a:r>
              <a:rPr lang="en-US" sz="1400" dirty="0"/>
              <a:t>Shows the correlation between a series and its lagged versions, after removing the effects of all the intermediate lags. It tells us the direct correlation between an observation and its past values.</a:t>
            </a:r>
          </a:p>
          <a:p>
            <a:pPr lvl="1"/>
            <a:r>
              <a:rPr lang="en-US" sz="1400" dirty="0"/>
              <a:t>Shows the direct correlation between a time series and its lagged versions. It answers the question, "How much does today's value depend directly on the value from 3 days ago, after accounting for the influence of the values from 1 and 2 days ago?"</a:t>
            </a:r>
          </a:p>
          <a:p>
            <a:r>
              <a:rPr lang="en-US" sz="1800" dirty="0"/>
              <a:t>The Key: The patterns in these plots for a stationary series are like a fingerprint for the underlying AR and MA components.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9D86EA-8D8B-C680-CDA8-FDB0A898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ACF and PACF</a:t>
            </a:r>
          </a:p>
        </p:txBody>
      </p:sp>
    </p:spTree>
    <p:extLst>
      <p:ext uri="{BB962C8B-B14F-4D97-AF65-F5344CB8AC3E}">
        <p14:creationId xmlns:p14="http://schemas.microsoft.com/office/powerpoint/2010/main" val="427786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F38520-5B25-F4A7-A534-4D89F96D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Order Selection (ACF and PACF plots)</a:t>
            </a:r>
          </a:p>
        </p:txBody>
      </p:sp>
      <p:pic>
        <p:nvPicPr>
          <p:cNvPr id="3074" name="Picture 2" descr="ACF of quarterly percentage change in US consumption.">
            <a:extLst>
              <a:ext uri="{FF2B5EF4-FFF2-40B4-BE49-F238E27FC236}">
                <a16:creationId xmlns:a16="http://schemas.microsoft.com/office/drawing/2014/main" id="{AF6FDCA2-DC5C-B5A8-2BAB-B20E98603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83" y="1521107"/>
            <a:ext cx="9744635" cy="251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CF of quarterly percentage change in US consumption.">
            <a:extLst>
              <a:ext uri="{FF2B5EF4-FFF2-40B4-BE49-F238E27FC236}">
                <a16:creationId xmlns:a16="http://schemas.microsoft.com/office/drawing/2014/main" id="{FD5205FD-29A9-0A4D-A796-98A4FDBF4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83" y="3862415"/>
            <a:ext cx="9744635" cy="235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88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9E42B-332C-CC73-B882-D5421BB67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865725"/>
          </a:xfrm>
        </p:spPr>
        <p:txBody>
          <a:bodyPr/>
          <a:lstStyle/>
          <a:p>
            <a:r>
              <a:rPr lang="en-US" sz="1800" dirty="0"/>
              <a:t>Objective</a:t>
            </a:r>
          </a:p>
          <a:p>
            <a:pPr lvl="1"/>
            <a:r>
              <a:rPr lang="en-US" sz="1800" dirty="0"/>
              <a:t>To learn how to estimate the coefficients of an ARMA(</a:t>
            </a:r>
            <a:r>
              <a:rPr lang="en-US" sz="1800" dirty="0" err="1"/>
              <a:t>p,q</a:t>
            </a:r>
            <a:r>
              <a:rPr lang="en-US" sz="1800" dirty="0"/>
              <a:t>) model from observed time series data.</a:t>
            </a:r>
          </a:p>
          <a:p>
            <a:r>
              <a:rPr lang="en-US" sz="1800" dirty="0"/>
              <a:t>Why is this important</a:t>
            </a:r>
          </a:p>
          <a:p>
            <a:pPr lvl="1"/>
            <a:r>
              <a:rPr lang="en-US" sz="1800" dirty="0"/>
              <a:t>Estimating these parameters is crucial for building a predictive model.</a:t>
            </a:r>
          </a:p>
          <a:p>
            <a:pPr lvl="1"/>
            <a:r>
              <a:rPr lang="en-US" sz="1800" dirty="0"/>
              <a:t>The values of these parameters provide insights into the underlying dynamics of the time series.</a:t>
            </a:r>
          </a:p>
          <a:p>
            <a:r>
              <a:rPr lang="en-US" sz="1800" dirty="0"/>
              <a:t>Key question</a:t>
            </a:r>
          </a:p>
          <a:p>
            <a:pPr lvl="1"/>
            <a:r>
              <a:rPr lang="en-US" sz="1800" dirty="0"/>
              <a:t>How do we find the "best" set of parameters that explain the data?</a:t>
            </a:r>
          </a:p>
          <a:p>
            <a:pPr lvl="1"/>
            <a:r>
              <a:rPr lang="en-US" sz="1800" dirty="0"/>
              <a:t>We can't get them perfectly, so we use statistical methods to find the most probable values.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26DF4E-59D3-95F2-12CE-BD091B7F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Parameter Estimation</a:t>
            </a:r>
          </a:p>
        </p:txBody>
      </p:sp>
    </p:spTree>
    <p:extLst>
      <p:ext uri="{BB962C8B-B14F-4D97-AF65-F5344CB8AC3E}">
        <p14:creationId xmlns:p14="http://schemas.microsoft.com/office/powerpoint/2010/main" val="3453670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B7C373-7163-5658-66B2-CFED367D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711837"/>
          </a:xfrm>
        </p:spPr>
        <p:txBody>
          <a:bodyPr/>
          <a:lstStyle/>
          <a:p>
            <a:r>
              <a:rPr lang="en-US" sz="1800" dirty="0"/>
              <a:t>Background</a:t>
            </a:r>
          </a:p>
          <a:p>
            <a:pPr lvl="1"/>
            <a:r>
              <a:rPr lang="en-US" sz="1800" dirty="0"/>
              <a:t>The Yule-Walker equations are a set of linear equations that relate the theoretical autocorrelations of a stationary AR(p) process to its coefficients.</a:t>
            </a:r>
          </a:p>
          <a:p>
            <a:r>
              <a:rPr lang="en-US" sz="1800" dirty="0"/>
              <a:t>The Idea</a:t>
            </a:r>
          </a:p>
          <a:p>
            <a:pPr lvl="1"/>
            <a:r>
              <a:rPr lang="en-US" sz="1800" dirty="0"/>
              <a:t>We can estimate the sample autocorrelations (</a:t>
            </a:r>
            <a:r>
              <a:rPr lang="en-US" sz="1800" dirty="0" err="1"/>
              <a:t>ρk</a:t>
            </a:r>
            <a:r>
              <a:rPr lang="en-US" sz="1800" dirty="0"/>
              <a:t>) from the observed data.</a:t>
            </a:r>
          </a:p>
          <a:p>
            <a:pPr lvl="1"/>
            <a:r>
              <a:rPr lang="en-US" sz="1800" dirty="0"/>
              <a:t>We then substitute these sample autocorrelations into the theoretical Yule-Walker equations.</a:t>
            </a:r>
          </a:p>
          <a:p>
            <a:pPr lvl="1"/>
            <a:r>
              <a:rPr lang="en-US" sz="1800" dirty="0"/>
              <a:t>This gives us a system of linear equations that can be solved to find the estimated AR coefficients( ϕ1,...,</a:t>
            </a:r>
            <a:r>
              <a:rPr lang="en-US" sz="1800" dirty="0" err="1"/>
              <a:t>ϕp</a:t>
            </a:r>
            <a:r>
              <a:rPr lang="en-US" sz="1800" dirty="0"/>
              <a:t>).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4BAB80-2ED9-42B3-CEF1-CA7FB0E5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Yule-Walker Estimation: For AR Models</a:t>
            </a:r>
          </a:p>
        </p:txBody>
      </p:sp>
    </p:spTree>
    <p:extLst>
      <p:ext uri="{BB962C8B-B14F-4D97-AF65-F5344CB8AC3E}">
        <p14:creationId xmlns:p14="http://schemas.microsoft.com/office/powerpoint/2010/main" val="283048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284100-DD1D-3E62-31C8-F88F5D24D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42724"/>
          </a:xfrm>
        </p:spPr>
        <p:txBody>
          <a:bodyPr/>
          <a:lstStyle/>
          <a:p>
            <a:r>
              <a:rPr lang="en-US" sz="1800" dirty="0"/>
              <a:t>The core idea is to replace the theoretical autocorrelations in the Yule-Walker equations with their sample estimates from the data. For a stationary AR(p) process, the equations are: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4844EA-C98A-CC4A-D96B-4829DEDF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How It works?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5236C-8694-684A-590C-3C341F56C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516" y="1923840"/>
            <a:ext cx="4210638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4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2AC4D0-9861-53CD-E754-8D8C5BFC2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081716"/>
          </a:xfrm>
        </p:spPr>
        <p:txBody>
          <a:bodyPr/>
          <a:lstStyle/>
          <a:p>
            <a:r>
              <a:rPr lang="en-US" sz="1800" dirty="0"/>
              <a:t>Advantages</a:t>
            </a:r>
          </a:p>
          <a:p>
            <a:pPr lvl="1"/>
            <a:r>
              <a:rPr lang="en-US" sz="1800" dirty="0"/>
              <a:t>Computational Efficiency: Yule-Walker estimation is computationally fast because it involves solving a linear system of equations, unlike other methods that require iterative optimization.</a:t>
            </a:r>
          </a:p>
          <a:p>
            <a:pPr lvl="1"/>
            <a:r>
              <a:rPr lang="en-US" sz="1800" dirty="0"/>
              <a:t>Simplicity: The method provides a direct and simple way to obtain parameter estimates, making it easy to implement.</a:t>
            </a:r>
          </a:p>
          <a:p>
            <a:pPr lvl="1"/>
            <a:r>
              <a:rPr lang="en-US" sz="1800" dirty="0"/>
              <a:t>Guaranteed Stationarity: The parameter estimates obtained using this method are guaranteed to result in a stationary AR model, which is a desirable property for forecasting.</a:t>
            </a:r>
          </a:p>
          <a:p>
            <a:r>
              <a:rPr lang="en-US" sz="1800" dirty="0"/>
              <a:t>Disadvantages</a:t>
            </a:r>
          </a:p>
          <a:p>
            <a:pPr lvl="1"/>
            <a:r>
              <a:rPr lang="en-US" sz="1800" dirty="0"/>
              <a:t>Assumes Stationarity: The method strictly assumes that the time series is stationary. If the data has a trend or seasonality, it must be differenced first.</a:t>
            </a:r>
          </a:p>
          <a:p>
            <a:pPr lvl="1"/>
            <a:r>
              <a:rPr lang="en-US" sz="1800" dirty="0"/>
              <a:t>Sensitivity to Short Samples: Estimates from Yule-Walker can be biased in small samples and may perform poorly if the model's poles are close to the unit circle, which can lead to ill-conditioned autocovariance matrices.</a:t>
            </a:r>
          </a:p>
          <a:p>
            <a:pPr lvl="1"/>
            <a:r>
              <a:rPr lang="en-US" sz="1800" dirty="0"/>
              <a:t>Less Efficient than MLE: While computationally faster, the estimates from Yule-Walker estimation are not as asymptotically efficient as those from Maximum Likelihood Estimation (MLE), especially for small sample sizes.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D8E410-2539-1C93-7F67-F606B39C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Advantages and Disadvantages</a:t>
            </a:r>
          </a:p>
        </p:txBody>
      </p:sp>
    </p:spTree>
    <p:extLst>
      <p:ext uri="{BB962C8B-B14F-4D97-AF65-F5344CB8AC3E}">
        <p14:creationId xmlns:p14="http://schemas.microsoft.com/office/powerpoint/2010/main" val="276111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FDCDAF-C9AF-C490-B849-CFDE42D85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312549"/>
          </a:xfrm>
        </p:spPr>
        <p:txBody>
          <a:bodyPr/>
          <a:lstStyle/>
          <a:p>
            <a:r>
              <a:rPr lang="en-US" sz="1800" dirty="0"/>
              <a:t>Concept</a:t>
            </a:r>
          </a:p>
          <a:p>
            <a:pPr lvl="1"/>
            <a:r>
              <a:rPr lang="en-US" sz="1800" dirty="0"/>
              <a:t>MLE is a general statistical method for estimating the parameters of a model. The goal is to find the parameter values that make the observed data "most probable."</a:t>
            </a:r>
          </a:p>
          <a:p>
            <a:r>
              <a:rPr lang="en-US" sz="1800" dirty="0"/>
              <a:t>How it works for ARMA</a:t>
            </a:r>
          </a:p>
          <a:p>
            <a:pPr lvl="1"/>
            <a:r>
              <a:rPr lang="en-US" sz="1800" dirty="0"/>
              <a:t>Assume the errors (residuals) are normally distributed (a common assumption).</a:t>
            </a:r>
          </a:p>
          <a:p>
            <a:pPr lvl="1"/>
            <a:r>
              <a:rPr lang="en-US" sz="1800" dirty="0"/>
              <a:t>Write down the likelihood function, which expresses the probability of the data as a function of the unknown parameters (ϕ,θ,σ2).</a:t>
            </a:r>
          </a:p>
          <a:p>
            <a:pPr lvl="1"/>
            <a:r>
              <a:rPr lang="en-US" sz="1800" dirty="0"/>
              <a:t>Find the parameter values that maximize this likelihood function. This is typically done using numerical optimization algorithms.</a:t>
            </a:r>
          </a:p>
          <a:p>
            <a:r>
              <a:rPr lang="en-US" sz="1800" dirty="0"/>
              <a:t>Advantages:</a:t>
            </a:r>
          </a:p>
          <a:p>
            <a:pPr lvl="1"/>
            <a:r>
              <a:rPr lang="en-US" sz="1800" dirty="0"/>
              <a:t>Provides more efficient and statistically robust parameter estimates than the Yule-Walker method.</a:t>
            </a:r>
          </a:p>
          <a:p>
            <a:pPr lvl="1"/>
            <a:r>
              <a:rPr lang="en-US" sz="1800" dirty="0"/>
              <a:t>Works for all AR, MA, and ARMA models.</a:t>
            </a:r>
          </a:p>
          <a:p>
            <a:pPr lvl="1"/>
            <a:r>
              <a:rPr lang="en-US" sz="1800" dirty="0"/>
              <a:t>Allows for the calculation of standard errors for the parameter estimates, which helps in hypothesis testing (e.g., checking if a coefficient is significantly different from zero).</a:t>
            </a:r>
          </a:p>
          <a:p>
            <a:r>
              <a:rPr lang="en-US" sz="1800" dirty="0"/>
              <a:t>Note: We will not derive the likelihood function in this session, as it's complex. The focus is on the conceptual understanding and application in Python.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B8637A-9AD4-6394-915D-E697C35B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Maximum Likelihood Estimation (MLE)</a:t>
            </a:r>
          </a:p>
        </p:txBody>
      </p:sp>
    </p:spTree>
    <p:extLst>
      <p:ext uri="{BB962C8B-B14F-4D97-AF65-F5344CB8AC3E}">
        <p14:creationId xmlns:p14="http://schemas.microsoft.com/office/powerpoint/2010/main" val="3738447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CCEE88-5957-3182-8F90-3E68C3C49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204005"/>
          </a:xfrm>
        </p:spPr>
        <p:txBody>
          <a:bodyPr/>
          <a:lstStyle/>
          <a:p>
            <a:r>
              <a:rPr lang="en-US" sz="1800" dirty="0"/>
              <a:t>Asymptotic Efficiency: MLE estimates are asymptotically efficient, meaning they have the lowest possible variance among all consistent estimators as the sample size grows. This results in more precise parameter estimates.</a:t>
            </a:r>
          </a:p>
          <a:p>
            <a:r>
              <a:rPr lang="en-US" sz="1800" dirty="0"/>
              <a:t>Reduced Bias: MLE generally produces less biased estimates, especially in smaller sample sizes, compared to alternative methods like Yule-Walker.</a:t>
            </a:r>
          </a:p>
          <a:p>
            <a:r>
              <a:rPr lang="en-US" sz="1800" dirty="0"/>
              <a:t>Unified Framework: MLE provides a single, coherent framework for estimating parameters for the full ARIMA family, including AR, MA, and ARMA models.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FBC41E-948C-CE78-F686-25FE3C67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Use MLE for ARIMA?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98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64FC20-B7F4-BA2A-9B3F-F154BA731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711837"/>
          </a:xfrm>
        </p:spPr>
        <p:txBody>
          <a:bodyPr/>
          <a:lstStyle/>
          <a:p>
            <a:r>
              <a:rPr lang="en-US" sz="1800" dirty="0"/>
              <a:t>The Problem</a:t>
            </a:r>
          </a:p>
          <a:p>
            <a:pPr lvl="1"/>
            <a:r>
              <a:rPr lang="en-US" sz="1800" dirty="0"/>
              <a:t>Gaps (</a:t>
            </a:r>
            <a:r>
              <a:rPr lang="en-US" sz="1800" dirty="0" err="1"/>
              <a:t>NaNs</a:t>
            </a:r>
            <a:r>
              <a:rPr lang="en-US" sz="1800" dirty="0"/>
              <a:t>) in time series data disrupt continuous models. These can be caused by sensor failures, data entry errors, or outages.</a:t>
            </a:r>
          </a:p>
          <a:p>
            <a:r>
              <a:rPr lang="en-US" sz="1800" dirty="0"/>
              <a:t>Why not simple methods?</a:t>
            </a:r>
          </a:p>
          <a:p>
            <a:pPr lvl="1"/>
            <a:r>
              <a:rPr lang="en-US" sz="1800" dirty="0"/>
              <a:t>Replacing </a:t>
            </a:r>
            <a:r>
              <a:rPr lang="en-US" sz="1800" dirty="0" err="1"/>
              <a:t>NaNs</a:t>
            </a:r>
            <a:r>
              <a:rPr lang="en-US" sz="1800" dirty="0"/>
              <a:t> with a simple mean or zero can severely distort the data's underlying trend, seasonality, and autocorrelation.</a:t>
            </a:r>
          </a:p>
          <a:p>
            <a:r>
              <a:rPr lang="en-US" sz="1800" dirty="0"/>
              <a:t>The Goal</a:t>
            </a:r>
          </a:p>
          <a:p>
            <a:pPr lvl="1"/>
            <a:r>
              <a:rPr lang="en-US" sz="1800" dirty="0"/>
              <a:t>Impute values while preserving the original data's temporal structure.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D5F0A5-B4FA-7BE8-76E9-F28A8DD6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Imputing Missing Values in Time Series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55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E8D51B-2EE9-2917-2FBD-24DFA7115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711837"/>
          </a:xfrm>
        </p:spPr>
        <p:txBody>
          <a:bodyPr/>
          <a:lstStyle/>
          <a:p>
            <a:r>
              <a:rPr lang="en-US" sz="1800" dirty="0"/>
              <a:t>Forward-Fill (.</a:t>
            </a:r>
            <a:r>
              <a:rPr lang="en-US" sz="1800" dirty="0" err="1"/>
              <a:t>ffill</a:t>
            </a:r>
            <a:r>
              <a:rPr lang="en-US" sz="1800" dirty="0"/>
              <a:t>())</a:t>
            </a:r>
          </a:p>
          <a:p>
            <a:pPr lvl="1"/>
            <a:r>
              <a:rPr lang="en-US" sz="1800" dirty="0"/>
              <a:t>Carries the last observed value forward. Best for sensor data where a value remains constant until a new one is recorded.</a:t>
            </a:r>
          </a:p>
          <a:p>
            <a:r>
              <a:rPr lang="en-US" sz="1800" dirty="0"/>
              <a:t>Backward-Fill (.</a:t>
            </a:r>
            <a:r>
              <a:rPr lang="en-US" sz="1800" dirty="0" err="1"/>
              <a:t>bfill</a:t>
            </a:r>
            <a:r>
              <a:rPr lang="en-US" sz="1800" dirty="0"/>
              <a:t>())</a:t>
            </a:r>
          </a:p>
          <a:p>
            <a:pPr lvl="1"/>
            <a:r>
              <a:rPr lang="en-US" sz="1800" dirty="0"/>
              <a:t>Fills from the next available value. Useful for data that can be back-filled from a known future point.</a:t>
            </a:r>
          </a:p>
          <a:p>
            <a:r>
              <a:rPr lang="en-US" sz="1800" dirty="0"/>
              <a:t>Linear Interpolation (.interpolate(method='linear’))</a:t>
            </a:r>
          </a:p>
          <a:p>
            <a:pPr lvl="1"/>
            <a:r>
              <a:rPr lang="en-US" sz="1800" dirty="0"/>
              <a:t>Fills the gap by drawing a straight line between two known points. Effective for series with a clear, linear trend.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5AF026-4FAF-8BA9-A9AC-444653DE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Common Imputation Methods</a:t>
            </a:r>
          </a:p>
        </p:txBody>
      </p:sp>
    </p:spTree>
    <p:extLst>
      <p:ext uri="{BB962C8B-B14F-4D97-AF65-F5344CB8AC3E}">
        <p14:creationId xmlns:p14="http://schemas.microsoft.com/office/powerpoint/2010/main" val="1373458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CAA163-3172-E7AF-7C94-F9EE327ED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142724"/>
          </a:xfrm>
        </p:spPr>
        <p:txBody>
          <a:bodyPr/>
          <a:lstStyle/>
          <a:p>
            <a:r>
              <a:rPr lang="en-US" sz="1800" dirty="0"/>
              <a:t>Spline/Polynomial Interpolation</a:t>
            </a:r>
          </a:p>
          <a:p>
            <a:pPr lvl="1"/>
            <a:r>
              <a:rPr lang="en-US" sz="1800" dirty="0"/>
              <a:t>Uses a polynomial function to create a smoother, more realistic curve. Good for capturing non-linear patterns.</a:t>
            </a:r>
          </a:p>
          <a:p>
            <a:pPr lvl="1"/>
            <a:r>
              <a:rPr lang="en-US" sz="1800" dirty="0"/>
              <a:t>Example: </a:t>
            </a:r>
            <a:r>
              <a:rPr lang="en-US" sz="1800" dirty="0" err="1"/>
              <a:t>s.interpolate</a:t>
            </a:r>
            <a:r>
              <a:rPr lang="en-US" sz="1800" dirty="0"/>
              <a:t>(method='spline', order=2)</a:t>
            </a:r>
          </a:p>
          <a:p>
            <a:r>
              <a:rPr lang="en-US" sz="1800" dirty="0"/>
              <a:t>Seasonal Interpolation</a:t>
            </a:r>
          </a:p>
          <a:p>
            <a:pPr lvl="1"/>
            <a:r>
              <a:rPr lang="en-US" sz="1800" dirty="0"/>
              <a:t>Fills gaps based on the value from the same period in previous seasons.</a:t>
            </a:r>
          </a:p>
          <a:p>
            <a:r>
              <a:rPr lang="en-US" sz="1800" dirty="0"/>
              <a:t>Model-Based Imputation</a:t>
            </a:r>
          </a:p>
          <a:p>
            <a:pPr lvl="1"/>
            <a:r>
              <a:rPr lang="en-US" sz="1800" dirty="0"/>
              <a:t>Uses an ARIMA or other time series model to predict the missing values.</a:t>
            </a:r>
          </a:p>
          <a:p>
            <a:pPr lvl="1"/>
            <a:r>
              <a:rPr lang="en-US" sz="1800" dirty="0"/>
              <a:t> This is the most accurate method as it uses the data's own dynamics for imputation.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F0B406-B6D6-4510-6E60-53CA6993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Advanced Methods (For Complex 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856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A4583-28CA-870C-07D1-AEFF9BB9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865725"/>
          </a:xfrm>
        </p:spPr>
        <p:txBody>
          <a:bodyPr/>
          <a:lstStyle/>
          <a:p>
            <a:r>
              <a:rPr lang="en-US" sz="1800" dirty="0"/>
              <a:t>Visualize First</a:t>
            </a:r>
          </a:p>
          <a:p>
            <a:pPr lvl="1"/>
            <a:r>
              <a:rPr lang="en-US" sz="1800" dirty="0"/>
              <a:t>Always plot the data to understand the nature and extent of the missing values.</a:t>
            </a:r>
          </a:p>
          <a:p>
            <a:r>
              <a:rPr lang="en-US" sz="1800" dirty="0"/>
              <a:t>Choose Wisely</a:t>
            </a:r>
          </a:p>
          <a:p>
            <a:pPr lvl="1"/>
            <a:r>
              <a:rPr lang="en-US" sz="1800" dirty="0"/>
              <a:t>Select an imputation method that matches the data's characteristics.</a:t>
            </a:r>
          </a:p>
          <a:p>
            <a:r>
              <a:rPr lang="en-US" sz="1800" dirty="0"/>
              <a:t>Document</a:t>
            </a:r>
          </a:p>
          <a:p>
            <a:pPr lvl="1"/>
            <a:r>
              <a:rPr lang="en-US" sz="1800" dirty="0"/>
              <a:t>Note which method you used, as it's a critical step in your data preprocessing.</a:t>
            </a:r>
          </a:p>
          <a:p>
            <a:r>
              <a:rPr lang="en-US" sz="1800" dirty="0"/>
              <a:t>Avoid Extrapolation</a:t>
            </a:r>
          </a:p>
          <a:p>
            <a:pPr lvl="1"/>
            <a:r>
              <a:rPr lang="en-US" sz="1800" dirty="0"/>
              <a:t>Do not try to fill </a:t>
            </a:r>
            <a:r>
              <a:rPr lang="en-US" sz="1800" dirty="0" err="1"/>
              <a:t>NaNs</a:t>
            </a:r>
            <a:r>
              <a:rPr lang="en-US" sz="1800" dirty="0"/>
              <a:t> at the very beginning or end of your series using interpolation methods.</a:t>
            </a:r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EDF90D-54A0-D5AB-8452-48B74745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7020940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B1500F0-7090-49E9-BFBB-C9EB2E557458}" vid="{C49DAEFB-9210-4963-BCE7-7FBA5A58BC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481</TotalTime>
  <Words>1294</Words>
  <Application>Microsoft Office PowerPoint</Application>
  <PresentationFormat>Widescreen</PresentationFormat>
  <Paragraphs>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Candara</vt:lpstr>
      <vt:lpstr>Corbel</vt:lpstr>
      <vt:lpstr>Theme1</vt:lpstr>
      <vt:lpstr>Stationary Processes &amp; ARMA Modelling</vt:lpstr>
      <vt:lpstr>Non-seasonal ARIMA models</vt:lpstr>
      <vt:lpstr>ACF and PACF</vt:lpstr>
      <vt:lpstr>Order Selection (ACF and PACF plots)</vt:lpstr>
      <vt:lpstr>Parameter Estimation</vt:lpstr>
      <vt:lpstr>Yule-Walker Estimation: For AR Models</vt:lpstr>
      <vt:lpstr>How It works?</vt:lpstr>
      <vt:lpstr>Advantages and Disadvantages</vt:lpstr>
      <vt:lpstr>Maximum Likelihood Estimation (MLE)</vt:lpstr>
      <vt:lpstr>Why Use MLE for ARIMA?</vt:lpstr>
      <vt:lpstr>Imputing Missing Values in Time Series</vt:lpstr>
      <vt:lpstr>Common Imputation Methods</vt:lpstr>
      <vt:lpstr>Advanced Methods (For Complex Data)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Sreekanth Tadakaluru</dc:creator>
  <cp:lastModifiedBy>Sreekanth Tadakaluru</cp:lastModifiedBy>
  <cp:revision>36</cp:revision>
  <dcterms:created xsi:type="dcterms:W3CDTF">2025-08-22T17:07:34Z</dcterms:created>
  <dcterms:modified xsi:type="dcterms:W3CDTF">2025-08-23T08:08:11Z</dcterms:modified>
</cp:coreProperties>
</file>