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</p:sldIdLst>
  <p:sldSz cy="6858000" cx="9144000"/>
  <p:notesSz cx="6858000" cy="9144000"/>
  <p:embeddedFontLst>
    <p:embeddedFont>
      <p:font typeface="Helvetica Neue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6" roundtripDataSignature="AMtx7mgPqIW208LDMkjkrpjIB5o0OHqPL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font" Target="fonts/HelveticaNeue-bold.fntdata"/><Relationship Id="rId10" Type="http://schemas.openxmlformats.org/officeDocument/2006/relationships/slide" Target="slides/slide6.xml"/><Relationship Id="rId32" Type="http://schemas.openxmlformats.org/officeDocument/2006/relationships/font" Target="fonts/HelveticaNeue-regular.fntdata"/><Relationship Id="rId13" Type="http://schemas.openxmlformats.org/officeDocument/2006/relationships/slide" Target="slides/slide9.xml"/><Relationship Id="rId35" Type="http://schemas.openxmlformats.org/officeDocument/2006/relationships/font" Target="fonts/HelveticaNeue-boldItalic.fntdata"/><Relationship Id="rId12" Type="http://schemas.openxmlformats.org/officeDocument/2006/relationships/slide" Target="slides/slide8.xml"/><Relationship Id="rId34" Type="http://schemas.openxmlformats.org/officeDocument/2006/relationships/font" Target="fonts/HelveticaNeue-italic.fntdata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36" Type="http://customschemas.google.com/relationships/presentationmetadata" Target="meta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2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2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0"/>
          <p:cNvSpPr txBox="1"/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solidFill>
            <a:srgbClr val="4E8AE2"/>
          </a:solidFill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0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3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1"/>
          <p:cNvSpPr txBox="1"/>
          <p:nvPr>
            <p:ph type="title"/>
          </p:nvPr>
        </p:nvSpPr>
        <p:spPr>
          <a:xfrm>
            <a:off x="0" y="-43543"/>
            <a:ext cx="9144000" cy="8098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1"/>
          <p:cNvSpPr txBox="1"/>
          <p:nvPr>
            <p:ph idx="1" type="body"/>
          </p:nvPr>
        </p:nvSpPr>
        <p:spPr>
          <a:xfrm>
            <a:off x="393519" y="1224733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Title Only">
  <p:cSld name="12_Title 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>
    <p:wipe dir="d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3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3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3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4"/>
          <p:cNvSpPr txBox="1"/>
          <p:nvPr>
            <p:ph type="title"/>
          </p:nvPr>
        </p:nvSpPr>
        <p:spPr>
          <a:xfrm>
            <a:off x="0" y="1"/>
            <a:ext cx="9144000" cy="6705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4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34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3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3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5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5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35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35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35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3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6"/>
          <p:cNvSpPr txBox="1"/>
          <p:nvPr>
            <p:ph type="title"/>
          </p:nvPr>
        </p:nvSpPr>
        <p:spPr>
          <a:xfrm>
            <a:off x="0" y="0"/>
            <a:ext cx="9144000" cy="8453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3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3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8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38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38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3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8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3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9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39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39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3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0"/>
          <p:cNvSpPr txBox="1"/>
          <p:nvPr>
            <p:ph type="title"/>
          </p:nvPr>
        </p:nvSpPr>
        <p:spPr>
          <a:xfrm>
            <a:off x="0" y="1"/>
            <a:ext cx="9144000" cy="6705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40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4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4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1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41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4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4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4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Title Only">
  <p:cSld name="14_Title Onl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2"/>
          <p:cNvSpPr txBox="1"/>
          <p:nvPr/>
        </p:nvSpPr>
        <p:spPr>
          <a:xfrm>
            <a:off x="0" y="0"/>
            <a:ext cx="9144000" cy="369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 spd="med">
    <p:wipe dir="d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_Title Only">
  <p:cSld name="16_Title Only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3"/>
          <p:cNvSpPr txBox="1"/>
          <p:nvPr/>
        </p:nvSpPr>
        <p:spPr>
          <a:xfrm>
            <a:off x="0" y="0"/>
            <a:ext cx="9144000" cy="369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 spd="med">
    <p:wipe dir="d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Title Only">
  <p:cSld name="17_Title Only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4"/>
          <p:cNvSpPr txBox="1"/>
          <p:nvPr/>
        </p:nvSpPr>
        <p:spPr>
          <a:xfrm>
            <a:off x="0" y="0"/>
            <a:ext cx="9144000" cy="369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 spd="med">
    <p:wipe dir="d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_Title Only">
  <p:cSld name="15_Title Only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5"/>
          <p:cNvSpPr txBox="1"/>
          <p:nvPr/>
        </p:nvSpPr>
        <p:spPr>
          <a:xfrm>
            <a:off x="0" y="0"/>
            <a:ext cx="9144000" cy="369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 spd="med">
    <p:wipe dir="d"/>
  </p:transition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9"/>
          <p:cNvSpPr txBox="1"/>
          <p:nvPr>
            <p:ph type="title"/>
          </p:nvPr>
        </p:nvSpPr>
        <p:spPr>
          <a:xfrm>
            <a:off x="0" y="1"/>
            <a:ext cx="9144000" cy="6705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9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png"/><Relationship Id="rId4" Type="http://schemas.openxmlformats.org/officeDocument/2006/relationships/image" Target="../media/image1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Relationship Id="rId4" Type="http://schemas.openxmlformats.org/officeDocument/2006/relationships/image" Target="../media/image1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4.png"/><Relationship Id="rId4" Type="http://schemas.openxmlformats.org/officeDocument/2006/relationships/image" Target="../media/image1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"/>
          <p:cNvSpPr txBox="1"/>
          <p:nvPr>
            <p:ph type="ctrTitle"/>
          </p:nvPr>
        </p:nvSpPr>
        <p:spPr>
          <a:xfrm>
            <a:off x="318407" y="1122363"/>
            <a:ext cx="8278586" cy="2387600"/>
          </a:xfrm>
          <a:prstGeom prst="rect">
            <a:avLst/>
          </a:prstGeom>
          <a:solidFill>
            <a:srgbClr val="4E8AE2"/>
          </a:solidFill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Time Series Forecasting</a:t>
            </a:r>
            <a:endParaRPr/>
          </a:p>
        </p:txBody>
      </p:sp>
      <p:sp>
        <p:nvSpPr>
          <p:cNvPr id="98" name="Google Shape;98;p1"/>
          <p:cNvSpPr txBox="1"/>
          <p:nvPr>
            <p:ph idx="1" type="subTitle"/>
          </p:nvPr>
        </p:nvSpPr>
        <p:spPr>
          <a:xfrm>
            <a:off x="146957" y="4344987"/>
            <a:ext cx="8907236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“</a:t>
            </a:r>
            <a:r>
              <a:rPr i="1" lang="en-US"/>
              <a:t>Forecasting is not about predicting the future, it’s about reducing uncertainty</a:t>
            </a:r>
            <a:r>
              <a:rPr lang="en-US"/>
              <a:t>.” 											-- Paul Saffo</a:t>
            </a:r>
            <a:endParaRPr i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"/>
          <p:cNvSpPr txBox="1"/>
          <p:nvPr>
            <p:ph type="title"/>
          </p:nvPr>
        </p:nvSpPr>
        <p:spPr>
          <a:xfrm>
            <a:off x="609600" y="2884714"/>
            <a:ext cx="7924800" cy="8098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Introduction to Forecasting Methods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"/>
          <p:cNvSpPr txBox="1"/>
          <p:nvPr>
            <p:ph type="title"/>
          </p:nvPr>
        </p:nvSpPr>
        <p:spPr>
          <a:xfrm>
            <a:off x="0" y="-43543"/>
            <a:ext cx="9144000" cy="8098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/>
              <a:t>What is Stationarity?</a:t>
            </a:r>
            <a:endParaRPr/>
          </a:p>
        </p:txBody>
      </p:sp>
      <p:sp>
        <p:nvSpPr>
          <p:cNvPr id="109" name="Google Shape;109;p4"/>
          <p:cNvSpPr txBox="1"/>
          <p:nvPr>
            <p:ph idx="1" type="body"/>
          </p:nvPr>
        </p:nvSpPr>
        <p:spPr>
          <a:xfrm>
            <a:off x="333646" y="1034232"/>
            <a:ext cx="8587197" cy="51216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1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/>
              <a:t>A stationary process has statistical properties that do not change over time</a:t>
            </a:r>
            <a:endParaRPr/>
          </a:p>
          <a:p>
            <a:pPr indent="-101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Key characteristics remain constant: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Mean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Variance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No trend or Seasonality</a:t>
            </a:r>
            <a:endParaRPr/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/>
              <a:t>Get the plots of some stationary and Non stationary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/>
              <a:t>Jupyter notebook with sattionarity</a:t>
            </a:r>
            <a:endParaRPr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"/>
          <p:cNvSpPr txBox="1"/>
          <p:nvPr>
            <p:ph type="title"/>
          </p:nvPr>
        </p:nvSpPr>
        <p:spPr>
          <a:xfrm>
            <a:off x="0" y="-43543"/>
            <a:ext cx="9144000" cy="8098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115" name="Google Shape;11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8328" y="1137556"/>
            <a:ext cx="6841672" cy="3394704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5"/>
          <p:cNvSpPr txBox="1"/>
          <p:nvPr/>
        </p:nvSpPr>
        <p:spPr>
          <a:xfrm>
            <a:off x="208869" y="4644324"/>
            <a:ext cx="8595632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1F1F1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This series is stationary because its statistical properties (mean, variance, and autocorrelation) remain constant over time. 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1F1F1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1F1F1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It fluctuates randomly around a constant mean (zero in this case) with a consistent spread (variance).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"/>
          <p:cNvSpPr txBox="1"/>
          <p:nvPr>
            <p:ph type="title"/>
          </p:nvPr>
        </p:nvSpPr>
        <p:spPr>
          <a:xfrm>
            <a:off x="0" y="-43543"/>
            <a:ext cx="9144000" cy="8098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122" name="Google Shape;12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7317" y="834081"/>
            <a:ext cx="7291374" cy="361783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6"/>
          <p:cNvSpPr txBox="1"/>
          <p:nvPr/>
        </p:nvSpPr>
        <p:spPr>
          <a:xfrm>
            <a:off x="542925" y="4841439"/>
            <a:ext cx="8377918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F1F1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Explanation: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Arial"/>
              <a:buChar char="•"/>
            </a:pPr>
            <a:r>
              <a:rPr b="0" i="0" lang="en-US" sz="1800">
                <a:solidFill>
                  <a:srgbClr val="1F1F1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This series is non-stationary because it exhibits a clear upward trend. 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rgbClr val="1F1F1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Arial"/>
              <a:buChar char="•"/>
            </a:pPr>
            <a:r>
              <a:rPr b="0" i="0" lang="en-US" sz="1800">
                <a:solidFill>
                  <a:srgbClr val="1F1F1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its mean is not constant over time; it systematically increases, violating the constant mean assumption of stationarity. </a:t>
            </a:r>
            <a:b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"/>
          <p:cNvSpPr txBox="1"/>
          <p:nvPr>
            <p:ph type="title"/>
          </p:nvPr>
        </p:nvSpPr>
        <p:spPr>
          <a:xfrm>
            <a:off x="0" y="-43543"/>
            <a:ext cx="9144000" cy="8098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29" name="Google Shape;129;p7"/>
          <p:cNvSpPr txBox="1"/>
          <p:nvPr>
            <p:ph idx="1" type="body"/>
          </p:nvPr>
        </p:nvSpPr>
        <p:spPr>
          <a:xfrm>
            <a:off x="311875" y="5181599"/>
            <a:ext cx="8750482" cy="1431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Explanation: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This series is non-stationary due to its pronounced seasonality. The mean of the series varies cyclically over time, following a predictable pattern. </a:t>
            </a:r>
            <a:endParaRPr/>
          </a:p>
          <a:p>
            <a:pPr indent="-121919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This violates the constant mean assumption. </a:t>
            </a:r>
            <a:br>
              <a:rPr lang="en-US"/>
            </a:br>
            <a:endParaRPr/>
          </a:p>
        </p:txBody>
      </p:sp>
      <p:pic>
        <p:nvPicPr>
          <p:cNvPr id="130" name="Google Shape;13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1743" y="1197519"/>
            <a:ext cx="7500257" cy="37214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8"/>
          <p:cNvSpPr txBox="1"/>
          <p:nvPr>
            <p:ph type="title"/>
          </p:nvPr>
        </p:nvSpPr>
        <p:spPr>
          <a:xfrm>
            <a:off x="0" y="-43543"/>
            <a:ext cx="9144000" cy="8098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36" name="Google Shape;136;p8"/>
          <p:cNvSpPr txBox="1"/>
          <p:nvPr>
            <p:ph idx="1" type="body"/>
          </p:nvPr>
        </p:nvSpPr>
        <p:spPr>
          <a:xfrm>
            <a:off x="483177" y="5070588"/>
            <a:ext cx="8286750" cy="14738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Explanation: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000"/>
              <a:t>This series is non-stationary because its variance is not constant over time (a condition known as </a:t>
            </a:r>
            <a:r>
              <a:rPr lang="en-US" sz="1800"/>
              <a:t>heteroscedasticity</a:t>
            </a:r>
            <a:r>
              <a:rPr lang="en-US" sz="2000"/>
              <a:t>). </a:t>
            </a:r>
            <a:endParaRPr/>
          </a:p>
          <a:p>
            <a:pPr indent="-1397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000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000"/>
              <a:t>The fluctuations become larger towards the end, meaning the spread of the data is changing. </a:t>
            </a:r>
            <a:br>
              <a:rPr lang="en-US"/>
            </a:br>
            <a:endParaRPr/>
          </a:p>
        </p:txBody>
      </p:sp>
      <p:pic>
        <p:nvPicPr>
          <p:cNvPr id="137" name="Google Shape;13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2173" y="1050471"/>
            <a:ext cx="7829946" cy="38850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9"/>
          <p:cNvSpPr txBox="1"/>
          <p:nvPr>
            <p:ph type="title"/>
          </p:nvPr>
        </p:nvSpPr>
        <p:spPr>
          <a:xfrm>
            <a:off x="0" y="-43543"/>
            <a:ext cx="9144000" cy="8098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143" name="Google Shape;14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386" y="1312409"/>
            <a:ext cx="8039100" cy="374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0"/>
          <p:cNvSpPr txBox="1"/>
          <p:nvPr>
            <p:ph type="title"/>
          </p:nvPr>
        </p:nvSpPr>
        <p:spPr>
          <a:xfrm>
            <a:off x="0" y="-43543"/>
            <a:ext cx="9144000" cy="8098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49" name="Google Shape;149;p10"/>
          <p:cNvSpPr txBox="1"/>
          <p:nvPr>
            <p:ph idx="1" type="body"/>
          </p:nvPr>
        </p:nvSpPr>
        <p:spPr>
          <a:xfrm>
            <a:off x="3207476" y="3156902"/>
            <a:ext cx="1974124" cy="5441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ARMA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1"/>
          <p:cNvSpPr txBox="1"/>
          <p:nvPr>
            <p:ph type="title"/>
          </p:nvPr>
        </p:nvSpPr>
        <p:spPr>
          <a:xfrm>
            <a:off x="0" y="-43543"/>
            <a:ext cx="9144000" cy="8098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ARMA Process</a:t>
            </a:r>
            <a:endParaRPr/>
          </a:p>
        </p:txBody>
      </p:sp>
      <p:sp>
        <p:nvSpPr>
          <p:cNvPr id="155" name="Google Shape;155;p11"/>
          <p:cNvSpPr txBox="1"/>
          <p:nvPr>
            <p:ph idx="1" type="body"/>
          </p:nvPr>
        </p:nvSpPr>
        <p:spPr>
          <a:xfrm>
            <a:off x="393519" y="1224733"/>
            <a:ext cx="8423910" cy="54971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An ARMA(p, q) (Autoregressive Moving Average) model is a fundamental tool in time series analysis.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It is a combination of its past values (autoregressive part) and past forecast errors (moving average part). 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'p' and 'q' in the notation denote the orders of the AR and MA parts, respectively.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2"/>
          <p:cNvSpPr txBox="1"/>
          <p:nvPr>
            <p:ph type="title"/>
          </p:nvPr>
        </p:nvSpPr>
        <p:spPr>
          <a:xfrm>
            <a:off x="0" y="-43543"/>
            <a:ext cx="9144000" cy="8098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AR(p) Process: Autoregressive</a:t>
            </a:r>
            <a:endParaRPr/>
          </a:p>
        </p:txBody>
      </p:sp>
      <p:sp>
        <p:nvSpPr>
          <p:cNvPr id="161" name="Google Shape;161;p12"/>
          <p:cNvSpPr txBox="1"/>
          <p:nvPr>
            <p:ph idx="1" type="body"/>
          </p:nvPr>
        </p:nvSpPr>
        <p:spPr>
          <a:xfrm>
            <a:off x="393518" y="1224733"/>
            <a:ext cx="8494667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An </a:t>
            </a:r>
            <a:r>
              <a:rPr b="1" lang="en-US" sz="2400"/>
              <a:t>AR(p)</a:t>
            </a:r>
            <a:r>
              <a:rPr lang="en-US" sz="2400"/>
              <a:t> process models the current value of a time series, Y</a:t>
            </a:r>
            <a:r>
              <a:rPr baseline="-25000" lang="en-US" sz="2400"/>
              <a:t>t</a:t>
            </a:r>
            <a:r>
              <a:rPr lang="en-US" sz="2400"/>
              <a:t>​, as a linear combination of its p previous values plus a random disturbance term, ϵ</a:t>
            </a:r>
            <a:r>
              <a:rPr baseline="-25000" lang="en-US" sz="2400"/>
              <a:t>t</a:t>
            </a:r>
            <a:r>
              <a:rPr lang="en-US" sz="2400"/>
              <a:t>​.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This process assumes that the past has a direct influence on the present.</a:t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Formula</a:t>
            </a:r>
            <a:endParaRPr sz="2400"/>
          </a:p>
        </p:txBody>
      </p:sp>
      <p:pic>
        <p:nvPicPr>
          <p:cNvPr id="162" name="Google Shape;16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1845" y="3937906"/>
            <a:ext cx="7591343" cy="557894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2"/>
          <p:cNvSpPr txBox="1"/>
          <p:nvPr/>
        </p:nvSpPr>
        <p:spPr>
          <a:xfrm>
            <a:off x="623886" y="4851308"/>
            <a:ext cx="8454799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Where: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​ is the value of the time series at time t.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 is a constant term.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ϕ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​,...,ϕ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​ are the model parameters.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ϵ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t​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a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white noise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term, representing an unpredictable shock or innovation at time t.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3"/>
          <p:cNvSpPr txBox="1"/>
          <p:nvPr>
            <p:ph type="title"/>
          </p:nvPr>
        </p:nvSpPr>
        <p:spPr>
          <a:xfrm>
            <a:off x="0" y="-43543"/>
            <a:ext cx="9144000" cy="8098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AR Example</a:t>
            </a:r>
            <a:endParaRPr/>
          </a:p>
        </p:txBody>
      </p:sp>
      <p:sp>
        <p:nvSpPr>
          <p:cNvPr id="169" name="Google Shape;169;p13"/>
          <p:cNvSpPr txBox="1"/>
          <p:nvPr>
            <p:ph idx="1" type="body"/>
          </p:nvPr>
        </p:nvSpPr>
        <p:spPr>
          <a:xfrm>
            <a:off x="393519" y="1224733"/>
            <a:ext cx="7886700" cy="3300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AR(1) example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An AR(1) process is one of the simplest and most common. Its current value depends only on the immediate past value</a:t>
            </a:r>
            <a:endParaRPr/>
          </a:p>
          <a:p>
            <a:pPr indent="-8763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Y</a:t>
            </a:r>
            <a:r>
              <a:rPr baseline="-25000" lang="en-US">
                <a:latin typeface="Helvetica Neue"/>
                <a:ea typeface="Helvetica Neue"/>
                <a:cs typeface="Helvetica Neue"/>
                <a:sym typeface="Helvetica Neue"/>
              </a:rPr>
              <a:t>t​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=c+ϕ</a:t>
            </a:r>
            <a:r>
              <a:rPr baseline="-25000" lang="en-US"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​Y</a:t>
            </a:r>
            <a:r>
              <a:rPr baseline="-25000" lang="en-US">
                <a:latin typeface="Helvetica Neue"/>
                <a:ea typeface="Helvetica Neue"/>
                <a:cs typeface="Helvetica Neue"/>
                <a:sym typeface="Helvetica Neue"/>
              </a:rPr>
              <a:t>t−1</a:t>
            </a: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​​+ϵ</a:t>
            </a:r>
            <a:r>
              <a:rPr baseline="-25000" lang="en-US">
                <a:latin typeface="Helvetica Neue"/>
                <a:ea typeface="Helvetica Neue"/>
                <a:cs typeface="Helvetica Neue"/>
                <a:sym typeface="Helvetica Neue"/>
              </a:rPr>
              <a:t>t​</a:t>
            </a:r>
            <a:endParaRPr/>
          </a:p>
          <a:p>
            <a:pPr indent="-8763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200">
                <a:latin typeface="Helvetica Neue"/>
                <a:ea typeface="Helvetica Neue"/>
                <a:cs typeface="Helvetica Neue"/>
                <a:sym typeface="Helvetica Neue"/>
              </a:rPr>
              <a:t>For stationarity, the absolute value of the parameter ϕ1​ must be less than 1 (∣ϕ</a:t>
            </a:r>
            <a:r>
              <a:rPr baseline="-25000" lang="en-US" sz="2200"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lang="en-US" sz="2200">
                <a:latin typeface="Helvetica Neue"/>
                <a:ea typeface="Helvetica Neue"/>
                <a:cs typeface="Helvetica Neue"/>
                <a:sym typeface="Helvetica Neue"/>
              </a:rPr>
              <a:t>​∣&lt;1).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200">
                <a:latin typeface="Helvetica Neue"/>
                <a:ea typeface="Helvetica Neue"/>
                <a:cs typeface="Helvetica Neue"/>
                <a:sym typeface="Helvetica Neue"/>
              </a:rPr>
              <a:t> If ∣ϕ</a:t>
            </a:r>
            <a:r>
              <a:rPr baseline="-25000" lang="en-US" sz="2200"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lang="en-US" sz="2200">
                <a:latin typeface="Helvetica Neue"/>
                <a:ea typeface="Helvetica Neue"/>
                <a:cs typeface="Helvetica Neue"/>
                <a:sym typeface="Helvetica Neue"/>
              </a:rPr>
              <a:t>​∣≥1, the series will exhibit an explosive trend.</a:t>
            </a:r>
            <a:endParaRPr sz="2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8763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170" name="Google Shape;170;p13"/>
          <p:cNvSpPr txBox="1"/>
          <p:nvPr/>
        </p:nvSpPr>
        <p:spPr>
          <a:xfrm>
            <a:off x="251730" y="4983472"/>
            <a:ext cx="8380641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AR(2) Example</a:t>
            </a:r>
            <a:endParaRPr/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 AR(2) process depends on the two previous values.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r>
              <a:rPr lang="en-US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Y</a:t>
            </a:r>
            <a:r>
              <a:rPr baseline="-25000" lang="en-US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t​</a:t>
            </a:r>
            <a:r>
              <a:rPr lang="en-US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=c+ϕ</a:t>
            </a:r>
            <a:r>
              <a:rPr baseline="-25000" lang="en-US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lang="en-US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​Y</a:t>
            </a:r>
            <a:r>
              <a:rPr baseline="-25000" lang="en-US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t−1</a:t>
            </a:r>
            <a:r>
              <a:rPr lang="en-US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​+ϕ</a:t>
            </a:r>
            <a:r>
              <a:rPr baseline="-25000" lang="en-US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lang="en-US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​Y</a:t>
            </a:r>
            <a:r>
              <a:rPr baseline="-25000" lang="en-US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t−2</a:t>
            </a:r>
            <a:r>
              <a:rPr lang="en-US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​+ϵ</a:t>
            </a:r>
            <a:r>
              <a:rPr baseline="-25000" lang="en-US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t​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4"/>
          <p:cNvSpPr txBox="1"/>
          <p:nvPr>
            <p:ph type="title"/>
          </p:nvPr>
        </p:nvSpPr>
        <p:spPr>
          <a:xfrm>
            <a:off x="0" y="-43543"/>
            <a:ext cx="9144000" cy="8098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MA(q) Process: Moving Average</a:t>
            </a:r>
            <a:endParaRPr/>
          </a:p>
        </p:txBody>
      </p:sp>
      <p:sp>
        <p:nvSpPr>
          <p:cNvPr id="176" name="Google Shape;176;p14"/>
          <p:cNvSpPr txBox="1"/>
          <p:nvPr>
            <p:ph idx="1" type="body"/>
          </p:nvPr>
        </p:nvSpPr>
        <p:spPr>
          <a:xfrm>
            <a:off x="393518" y="1224733"/>
            <a:ext cx="8712381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400"/>
              <a:t>An </a:t>
            </a:r>
            <a:r>
              <a:rPr b="1" lang="en-US" sz="2400"/>
              <a:t>MA(q)</a:t>
            </a:r>
            <a:r>
              <a:rPr lang="en-US" sz="2400"/>
              <a:t> process models the current value of a time series as a linear combination of past </a:t>
            </a:r>
            <a:r>
              <a:rPr b="1" lang="en-US" sz="2400"/>
              <a:t>white noise</a:t>
            </a:r>
            <a:r>
              <a:rPr lang="en-US" sz="2400"/>
              <a:t> or innovation terms.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400"/>
              <a:t>This process suggests that past shocks or random errors persist and influence the present value.</a:t>
            </a:r>
            <a:endParaRPr/>
          </a:p>
          <a:p>
            <a:pPr indent="-87629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400"/>
              <a:t>The general form is: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400"/>
              <a:t>		Y</a:t>
            </a:r>
            <a:r>
              <a:rPr baseline="-25000" lang="en-US" sz="2400"/>
              <a:t>t​</a:t>
            </a:r>
            <a:r>
              <a:rPr lang="en-US" sz="2400"/>
              <a:t>=μ+θ</a:t>
            </a:r>
            <a:r>
              <a:rPr baseline="-25000" lang="en-US" sz="2400"/>
              <a:t>1</a:t>
            </a:r>
            <a:r>
              <a:rPr lang="en-US" sz="2400"/>
              <a:t>​ϵ</a:t>
            </a:r>
            <a:r>
              <a:rPr baseline="-25000" lang="en-US" sz="2400"/>
              <a:t>t−1​</a:t>
            </a:r>
            <a:r>
              <a:rPr lang="en-US" sz="2400"/>
              <a:t>+θ</a:t>
            </a:r>
            <a:r>
              <a:rPr baseline="-25000" lang="en-US" sz="2400"/>
              <a:t>2</a:t>
            </a:r>
            <a:r>
              <a:rPr lang="en-US" sz="2400"/>
              <a:t>​ϵ</a:t>
            </a:r>
            <a:r>
              <a:rPr baseline="-25000" lang="en-US" sz="2400"/>
              <a:t>t−2</a:t>
            </a:r>
            <a:r>
              <a:rPr lang="en-US" sz="2400"/>
              <a:t>​+...+θ</a:t>
            </a:r>
            <a:r>
              <a:rPr baseline="-25000" lang="en-US" sz="2400"/>
              <a:t>q​</a:t>
            </a:r>
            <a:r>
              <a:rPr lang="en-US" sz="2400"/>
              <a:t>ϵ</a:t>
            </a:r>
            <a:r>
              <a:rPr baseline="-25000" lang="en-US" sz="2400"/>
              <a:t>t−q​</a:t>
            </a:r>
            <a:r>
              <a:rPr lang="en-US" sz="2400"/>
              <a:t>+ϵ</a:t>
            </a:r>
            <a:r>
              <a:rPr baseline="-25000" lang="en-US" sz="2400"/>
              <a:t>t​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aseline="-25000" sz="24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400"/>
              <a:t>Where: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000"/>
              <a:t>μ is the mean of the series.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000"/>
              <a:t>θ</a:t>
            </a:r>
            <a:r>
              <a:rPr baseline="-25000" lang="en-US" sz="2000"/>
              <a:t>1</a:t>
            </a:r>
            <a:r>
              <a:rPr lang="en-US" sz="2000"/>
              <a:t>​,...,θ</a:t>
            </a:r>
            <a:r>
              <a:rPr baseline="-25000" lang="en-US" sz="2000"/>
              <a:t>q</a:t>
            </a:r>
            <a:r>
              <a:rPr lang="en-US" sz="2000"/>
              <a:t>​ are the model parameters.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000"/>
              <a:t>ϵ</a:t>
            </a:r>
            <a:r>
              <a:rPr baseline="-25000" lang="en-US" sz="2000"/>
              <a:t>t</a:t>
            </a:r>
            <a:r>
              <a:rPr lang="en-US" sz="2000"/>
              <a:t>​,ϵ</a:t>
            </a:r>
            <a:r>
              <a:rPr baseline="-25000" lang="en-US" sz="2000"/>
              <a:t>t−1</a:t>
            </a:r>
            <a:r>
              <a:rPr lang="en-US" sz="2000"/>
              <a:t>​,... are the white noise terms.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aseline="-25000" sz="24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5"/>
          <p:cNvSpPr txBox="1"/>
          <p:nvPr>
            <p:ph type="title"/>
          </p:nvPr>
        </p:nvSpPr>
        <p:spPr>
          <a:xfrm>
            <a:off x="0" y="-43543"/>
            <a:ext cx="9144000" cy="8098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MA Example</a:t>
            </a:r>
            <a:endParaRPr/>
          </a:p>
        </p:txBody>
      </p:sp>
      <p:sp>
        <p:nvSpPr>
          <p:cNvPr id="182" name="Google Shape;182;p15"/>
          <p:cNvSpPr txBox="1"/>
          <p:nvPr>
            <p:ph idx="1" type="body"/>
          </p:nvPr>
        </p:nvSpPr>
        <p:spPr>
          <a:xfrm>
            <a:off x="393518" y="1224733"/>
            <a:ext cx="8603525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sz="2400"/>
              <a:t>MA(1) Example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An MA(1) process is the simplest MA model. The current value depends on the previous innovation term.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	Y</a:t>
            </a:r>
            <a:r>
              <a:rPr baseline="-25000" lang="en-US"/>
              <a:t>t</a:t>
            </a:r>
            <a:r>
              <a:rPr lang="en-US"/>
              <a:t>​=μ+θ</a:t>
            </a:r>
            <a:r>
              <a:rPr baseline="-25000" lang="en-US"/>
              <a:t>1</a:t>
            </a:r>
            <a:r>
              <a:rPr lang="en-US"/>
              <a:t>​ϵ</a:t>
            </a:r>
            <a:r>
              <a:rPr baseline="-25000" lang="en-US"/>
              <a:t>t−1</a:t>
            </a:r>
            <a:r>
              <a:rPr lang="en-US"/>
              <a:t>​+ϵ</a:t>
            </a:r>
            <a:r>
              <a:rPr baseline="-25000" lang="en-US"/>
              <a:t>t​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aseline="-25000"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aseline="-250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sz="2400"/>
              <a:t>MA(2) Example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An MA(2) process depends on the two previous innovation terms. </a:t>
            </a:r>
            <a:endParaRPr/>
          </a:p>
          <a:p>
            <a:pPr indent="0" lvl="2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  <a:p>
            <a:pPr indent="0" lvl="2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/>
              <a:t>Y</a:t>
            </a:r>
            <a:r>
              <a:rPr baseline="-25000" lang="en-US"/>
              <a:t>t​</a:t>
            </a:r>
            <a:r>
              <a:rPr lang="en-US"/>
              <a:t>=μ+θ</a:t>
            </a:r>
            <a:r>
              <a:rPr baseline="-25000" lang="en-US"/>
              <a:t>1</a:t>
            </a:r>
            <a:r>
              <a:rPr lang="en-US"/>
              <a:t>​ϵ</a:t>
            </a:r>
            <a:r>
              <a:rPr baseline="-25000" lang="en-US"/>
              <a:t>t−1</a:t>
            </a:r>
            <a:r>
              <a:rPr lang="en-US"/>
              <a:t>​+θ</a:t>
            </a:r>
            <a:r>
              <a:rPr baseline="-25000" lang="en-US"/>
              <a:t>2</a:t>
            </a:r>
            <a:r>
              <a:rPr lang="en-US"/>
              <a:t>​ϵ</a:t>
            </a:r>
            <a:r>
              <a:rPr baseline="-25000" lang="en-US"/>
              <a:t>t−2</a:t>
            </a:r>
            <a:r>
              <a:rPr lang="en-US"/>
              <a:t>​+ϵ</a:t>
            </a:r>
            <a:r>
              <a:rPr baseline="-25000" lang="en-US"/>
              <a:t>t​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6"/>
          <p:cNvSpPr txBox="1"/>
          <p:nvPr>
            <p:ph type="title"/>
          </p:nvPr>
        </p:nvSpPr>
        <p:spPr>
          <a:xfrm>
            <a:off x="0" y="-43543"/>
            <a:ext cx="9144000" cy="8098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ARMA(p, q) as a Combination</a:t>
            </a:r>
            <a:endParaRPr/>
          </a:p>
        </p:txBody>
      </p:sp>
      <p:sp>
        <p:nvSpPr>
          <p:cNvPr id="188" name="Google Shape;188;p16"/>
          <p:cNvSpPr txBox="1"/>
          <p:nvPr>
            <p:ph idx="1" type="body"/>
          </p:nvPr>
        </p:nvSpPr>
        <p:spPr>
          <a:xfrm>
            <a:off x="393519" y="1224733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The </a:t>
            </a:r>
            <a:r>
              <a:rPr b="1" lang="en-US" sz="2000"/>
              <a:t>ARMA(p, q)</a:t>
            </a:r>
            <a:r>
              <a:rPr lang="en-US" sz="2000"/>
              <a:t> model combines the autoregressive and moving average parts.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 It is used when a time series cannot be adequately described by a pure AR or pure MA model.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The general form is: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	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b="1" lang="en-US" sz="2000"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b="1" baseline="-25000" lang="en-US" sz="2000"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1" lang="en-US" sz="2000">
                <a:latin typeface="Calibri"/>
                <a:ea typeface="Calibri"/>
                <a:cs typeface="Calibri"/>
                <a:sym typeface="Calibri"/>
              </a:rPr>
              <a:t>​=c+ϕ</a:t>
            </a:r>
            <a:r>
              <a:rPr b="1" baseline="-25000" lang="en-US" sz="2000"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lang="en-US" sz="2000">
                <a:latin typeface="Calibri"/>
                <a:ea typeface="Calibri"/>
                <a:cs typeface="Calibri"/>
                <a:sym typeface="Calibri"/>
              </a:rPr>
              <a:t>​Y</a:t>
            </a:r>
            <a:r>
              <a:rPr b="1" baseline="-25000" lang="en-US" sz="2000">
                <a:latin typeface="Calibri"/>
                <a:ea typeface="Calibri"/>
                <a:cs typeface="Calibri"/>
                <a:sym typeface="Calibri"/>
              </a:rPr>
              <a:t>t−1</a:t>
            </a:r>
            <a:r>
              <a:rPr b="1" lang="en-US" sz="2000">
                <a:latin typeface="Calibri"/>
                <a:ea typeface="Calibri"/>
                <a:cs typeface="Calibri"/>
                <a:sym typeface="Calibri"/>
              </a:rPr>
              <a:t>​+...+ϕ</a:t>
            </a:r>
            <a:r>
              <a:rPr b="1" baseline="-25000" lang="en-US" sz="2000">
                <a:latin typeface="Calibri"/>
                <a:ea typeface="Calibri"/>
                <a:cs typeface="Calibri"/>
                <a:sym typeface="Calibri"/>
              </a:rPr>
              <a:t>p​</a:t>
            </a:r>
            <a:r>
              <a:rPr b="1" lang="en-US" sz="2000"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b="1" baseline="-25000" lang="en-US" sz="2000">
                <a:latin typeface="Calibri"/>
                <a:ea typeface="Calibri"/>
                <a:cs typeface="Calibri"/>
                <a:sym typeface="Calibri"/>
              </a:rPr>
              <a:t>t−p​</a:t>
            </a:r>
            <a:r>
              <a:rPr b="1" lang="en-US" sz="2000">
                <a:latin typeface="Calibri"/>
                <a:ea typeface="Calibri"/>
                <a:cs typeface="Calibri"/>
                <a:sym typeface="Calibri"/>
              </a:rPr>
              <a:t>+θ</a:t>
            </a:r>
            <a:r>
              <a:rPr b="1" baseline="-25000" lang="en-US" sz="2000">
                <a:latin typeface="Calibri"/>
                <a:ea typeface="Calibri"/>
                <a:cs typeface="Calibri"/>
                <a:sym typeface="Calibri"/>
              </a:rPr>
              <a:t>1​</a:t>
            </a:r>
            <a:r>
              <a:rPr b="1" lang="en-US" sz="2000">
                <a:latin typeface="Calibri"/>
                <a:ea typeface="Calibri"/>
                <a:cs typeface="Calibri"/>
                <a:sym typeface="Calibri"/>
              </a:rPr>
              <a:t>ϵ</a:t>
            </a:r>
            <a:r>
              <a:rPr b="1" baseline="-25000" lang="en-US" sz="2000">
                <a:latin typeface="Calibri"/>
                <a:ea typeface="Calibri"/>
                <a:cs typeface="Calibri"/>
                <a:sym typeface="Calibri"/>
              </a:rPr>
              <a:t>t−1</a:t>
            </a:r>
            <a:r>
              <a:rPr b="1" lang="en-US" sz="2000">
                <a:latin typeface="Calibri"/>
                <a:ea typeface="Calibri"/>
                <a:cs typeface="Calibri"/>
                <a:sym typeface="Calibri"/>
              </a:rPr>
              <a:t>​+...+θ</a:t>
            </a:r>
            <a:r>
              <a:rPr b="1" baseline="-25000" lang="en-US" sz="2000">
                <a:latin typeface="Calibri"/>
                <a:ea typeface="Calibri"/>
                <a:cs typeface="Calibri"/>
                <a:sym typeface="Calibri"/>
              </a:rPr>
              <a:t>q</a:t>
            </a:r>
            <a:r>
              <a:rPr b="1" lang="en-US" sz="2000">
                <a:latin typeface="Calibri"/>
                <a:ea typeface="Calibri"/>
                <a:cs typeface="Calibri"/>
                <a:sym typeface="Calibri"/>
              </a:rPr>
              <a:t>​ϵ</a:t>
            </a:r>
            <a:r>
              <a:rPr b="1" baseline="-25000" lang="en-US" sz="2000">
                <a:latin typeface="Calibri"/>
                <a:ea typeface="Calibri"/>
                <a:cs typeface="Calibri"/>
                <a:sym typeface="Calibri"/>
              </a:rPr>
              <a:t>t−q</a:t>
            </a:r>
            <a:r>
              <a:rPr b="1" lang="en-US" sz="2000">
                <a:latin typeface="Calibri"/>
                <a:ea typeface="Calibri"/>
                <a:cs typeface="Calibri"/>
                <a:sym typeface="Calibri"/>
              </a:rPr>
              <a:t>​+ϵ</a:t>
            </a:r>
            <a:r>
              <a:rPr b="1" baseline="-25000" lang="en-US" sz="2000">
                <a:latin typeface="Calibri"/>
                <a:ea typeface="Calibri"/>
                <a:cs typeface="Calibri"/>
                <a:sym typeface="Calibri"/>
              </a:rPr>
              <a:t>t​ </a:t>
            </a:r>
            <a:endParaRPr/>
          </a:p>
          <a:p>
            <a:pPr indent="-101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</p:txBody>
      </p:sp>
      <p:pic>
        <p:nvPicPr>
          <p:cNvPr id="189" name="Google Shape;18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65442" y="4592408"/>
            <a:ext cx="5172849" cy="1128036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6"/>
          <p:cNvSpPr txBox="1"/>
          <p:nvPr/>
        </p:nvSpPr>
        <p:spPr>
          <a:xfrm>
            <a:off x="534761" y="5801995"/>
            <a:ext cx="795065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 ARMA model is a simpler representation of a time series than a high-order AR or MA model alone.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7"/>
          <p:cNvSpPr txBox="1"/>
          <p:nvPr>
            <p:ph type="title"/>
          </p:nvPr>
        </p:nvSpPr>
        <p:spPr>
          <a:xfrm>
            <a:off x="1072243" y="2422072"/>
            <a:ext cx="6324601" cy="8098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ACF and PACF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8"/>
          <p:cNvSpPr txBox="1"/>
          <p:nvPr>
            <p:ph type="title"/>
          </p:nvPr>
        </p:nvSpPr>
        <p:spPr>
          <a:xfrm>
            <a:off x="0" y="-43543"/>
            <a:ext cx="9144000" cy="8098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Auto Correlation Function(ACF)</a:t>
            </a:r>
            <a:endParaRPr/>
          </a:p>
        </p:txBody>
      </p:sp>
      <p:sp>
        <p:nvSpPr>
          <p:cNvPr id="201" name="Google Shape;201;p18"/>
          <p:cNvSpPr txBox="1"/>
          <p:nvPr>
            <p:ph idx="1" type="body"/>
          </p:nvPr>
        </p:nvSpPr>
        <p:spPr>
          <a:xfrm>
            <a:off x="393519" y="1224733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The Autocorrelation Function (ACF) measures the correlation between a time series and its lagged values</a:t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9"/>
          <p:cNvSpPr txBox="1"/>
          <p:nvPr>
            <p:ph type="title"/>
          </p:nvPr>
        </p:nvSpPr>
        <p:spPr>
          <a:xfrm>
            <a:off x="0" y="-43543"/>
            <a:ext cx="9144000" cy="8098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The Partial Autocorrelation Function (PACF) </a:t>
            </a:r>
            <a:endParaRPr/>
          </a:p>
        </p:txBody>
      </p:sp>
      <p:sp>
        <p:nvSpPr>
          <p:cNvPr id="207" name="Google Shape;207;p19"/>
          <p:cNvSpPr txBox="1"/>
          <p:nvPr>
            <p:ph idx="1" type="body"/>
          </p:nvPr>
        </p:nvSpPr>
        <p:spPr>
          <a:xfrm>
            <a:off x="393518" y="1224733"/>
            <a:ext cx="8712381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The Partial Autocorrelation Function (PACF) measures the correlation between a time series and its lagged values, but it removes the influence of all the intermediate lags</a:t>
            </a:r>
            <a:endParaRPr/>
          </a:p>
          <a:p>
            <a:pPr indent="-101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For example, the PACF at lag 3 measures the correlation between Y</a:t>
            </a:r>
            <a:r>
              <a:rPr baseline="-25000" lang="en-US" sz="2000"/>
              <a:t>t</a:t>
            </a:r>
            <a:r>
              <a:rPr lang="en-US" sz="2000"/>
              <a:t>​ and Y</a:t>
            </a:r>
            <a:r>
              <a:rPr baseline="-25000" lang="en-US" sz="2000"/>
              <a:t>t−3​ </a:t>
            </a:r>
            <a:r>
              <a:rPr lang="en-US" sz="2000"/>
              <a:t>after accounting for the effects of Y</a:t>
            </a:r>
            <a:r>
              <a:rPr baseline="-25000" lang="en-US" sz="2000"/>
              <a:t>t−1</a:t>
            </a:r>
            <a:r>
              <a:rPr lang="en-US" sz="2000"/>
              <a:t>​ and Y</a:t>
            </a:r>
            <a:r>
              <a:rPr baseline="-25000" lang="en-US" sz="2000"/>
              <a:t>t−2</a:t>
            </a:r>
            <a:r>
              <a:rPr lang="en-US" sz="2000"/>
              <a:t>​.</a:t>
            </a:r>
            <a:endParaRPr/>
          </a:p>
          <a:p>
            <a:pPr indent="-101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The PACF plot helps identify the direct relationship between a point and its past values.</a:t>
            </a:r>
            <a:endParaRPr sz="20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0"/>
          <p:cNvSpPr txBox="1"/>
          <p:nvPr>
            <p:ph type="title"/>
          </p:nvPr>
        </p:nvSpPr>
        <p:spPr>
          <a:xfrm>
            <a:off x="0" y="-43543"/>
            <a:ext cx="9144000" cy="8098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Random walk ACF and PACF</a:t>
            </a:r>
            <a:endParaRPr/>
          </a:p>
        </p:txBody>
      </p:sp>
      <p:pic>
        <p:nvPicPr>
          <p:cNvPr id="213" name="Google Shape;21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3781" y="998901"/>
            <a:ext cx="5695497" cy="25846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2144" y="3866606"/>
            <a:ext cx="6955971" cy="27111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1"/>
          <p:cNvSpPr txBox="1"/>
          <p:nvPr>
            <p:ph type="title"/>
          </p:nvPr>
        </p:nvSpPr>
        <p:spPr>
          <a:xfrm>
            <a:off x="0" y="-43543"/>
            <a:ext cx="9144000" cy="8098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White Noise</a:t>
            </a:r>
            <a:endParaRPr/>
          </a:p>
        </p:txBody>
      </p:sp>
      <p:pic>
        <p:nvPicPr>
          <p:cNvPr id="220" name="Google Shape;22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8344" y="1164772"/>
            <a:ext cx="8190726" cy="259941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637" y="3968253"/>
            <a:ext cx="8190726" cy="26477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2"/>
          <p:cNvSpPr txBox="1"/>
          <p:nvPr>
            <p:ph type="title"/>
          </p:nvPr>
        </p:nvSpPr>
        <p:spPr>
          <a:xfrm>
            <a:off x="0" y="-43543"/>
            <a:ext cx="9144000" cy="8098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ACF and PACF with Seasonal data</a:t>
            </a:r>
            <a:endParaRPr/>
          </a:p>
        </p:txBody>
      </p:sp>
      <p:pic>
        <p:nvPicPr>
          <p:cNvPr id="227" name="Google Shape;22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0344" y="871680"/>
            <a:ext cx="5497284" cy="2138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0344" y="3072251"/>
            <a:ext cx="5840184" cy="2276252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2"/>
          <p:cNvSpPr/>
          <p:nvPr/>
        </p:nvSpPr>
        <p:spPr>
          <a:xfrm>
            <a:off x="446314" y="5657671"/>
            <a:ext cx="8697686" cy="12003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ACF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shows </a:t>
            </a:r>
            <a:r>
              <a:rPr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strong spikes at seasonal lags (12, 24, 36, …).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PACF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also shows spikes at seasonal lags, but often decays faster.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Seasonal ARIMA (SARIMA)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models are needed when such spikes are seen.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3"/>
          <p:cNvSpPr txBox="1"/>
          <p:nvPr>
            <p:ph type="title"/>
          </p:nvPr>
        </p:nvSpPr>
        <p:spPr>
          <a:xfrm>
            <a:off x="0" y="-43543"/>
            <a:ext cx="9144000" cy="8098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US"/>
              <a:t>Theoretical ACF/PACF for ARMA Processes</a:t>
            </a:r>
            <a:endParaRPr/>
          </a:p>
        </p:txBody>
      </p:sp>
      <p:sp>
        <p:nvSpPr>
          <p:cNvPr id="235" name="Google Shape;235;p23"/>
          <p:cNvSpPr txBox="1"/>
          <p:nvPr>
            <p:ph idx="1" type="body"/>
          </p:nvPr>
        </p:nvSpPr>
        <p:spPr>
          <a:xfrm>
            <a:off x="393518" y="1224733"/>
            <a:ext cx="8750481" cy="23566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The behavior of the ACF and PACF plots is crucial for identifying the appropriate orders (p and q) for an ARMA model.</a:t>
            </a:r>
            <a:endParaRPr/>
          </a:p>
          <a:p>
            <a:pPr indent="-1143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n-US" sz="1800"/>
              <a:t>AR(1) Process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 sz="1400"/>
              <a:t>ACF: Decays exponentially towards zero. The decay can be positive or negative, depending on the sign of the AR parameter (ϕ</a:t>
            </a:r>
            <a:r>
              <a:rPr baseline="-25000" lang="en-US" sz="1400"/>
              <a:t>1</a:t>
            </a:r>
            <a:r>
              <a:rPr lang="en-US" sz="1400"/>
              <a:t>​).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 sz="1400"/>
              <a:t>PACF: Has a single significant spike at lag 1 and then drops to zero for all subsequent lags.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</p:txBody>
      </p:sp>
      <p:pic>
        <p:nvPicPr>
          <p:cNvPr id="236" name="Google Shape;23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5161" y="3761014"/>
            <a:ext cx="8366759" cy="274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4"/>
          <p:cNvSpPr txBox="1"/>
          <p:nvPr>
            <p:ph type="title"/>
          </p:nvPr>
        </p:nvSpPr>
        <p:spPr>
          <a:xfrm>
            <a:off x="0" y="-43543"/>
            <a:ext cx="9144000" cy="8098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US"/>
              <a:t>Theoretical ACF/PACF for ARMA Processes</a:t>
            </a:r>
            <a:endParaRPr/>
          </a:p>
        </p:txBody>
      </p:sp>
      <p:sp>
        <p:nvSpPr>
          <p:cNvPr id="242" name="Google Shape;242;p24"/>
          <p:cNvSpPr txBox="1"/>
          <p:nvPr>
            <p:ph idx="1" type="body"/>
          </p:nvPr>
        </p:nvSpPr>
        <p:spPr>
          <a:xfrm>
            <a:off x="393519" y="1224733"/>
            <a:ext cx="7886700" cy="23294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The behavior of the ACF and PACF plots is crucial for identifying the appropriate orders (p and q) for an ARMA model.</a:t>
            </a:r>
            <a:endParaRPr/>
          </a:p>
          <a:p>
            <a:pPr indent="-1143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n-US" sz="1800"/>
              <a:t>MA(1) Process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b="1" lang="en-US" sz="1400"/>
              <a:t>ACF:</a:t>
            </a:r>
            <a:r>
              <a:rPr lang="en-US" sz="1400"/>
              <a:t> Has a single significant spike at lag 1 and then drops to zero for all subsequent lags.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b="1" lang="en-US" sz="1400"/>
              <a:t>PACF</a:t>
            </a:r>
            <a:r>
              <a:rPr lang="en-US" sz="1400"/>
              <a:t>: Decays exponentially towards zero. The decay can be positive or negative, depending on the sign of the MA parameter (θ1​).</a:t>
            </a:r>
            <a:endParaRPr/>
          </a:p>
          <a:p>
            <a:pPr indent="-1143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</p:txBody>
      </p:sp>
      <p:pic>
        <p:nvPicPr>
          <p:cNvPr id="243" name="Google Shape;24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101" y="3717472"/>
            <a:ext cx="7838323" cy="29257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5"/>
          <p:cNvSpPr txBox="1"/>
          <p:nvPr>
            <p:ph type="title"/>
          </p:nvPr>
        </p:nvSpPr>
        <p:spPr>
          <a:xfrm>
            <a:off x="0" y="-43543"/>
            <a:ext cx="9144000" cy="8098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ARMA(1,1) Process</a:t>
            </a:r>
            <a:endParaRPr/>
          </a:p>
        </p:txBody>
      </p:sp>
      <p:sp>
        <p:nvSpPr>
          <p:cNvPr id="249" name="Google Shape;249;p25"/>
          <p:cNvSpPr txBox="1"/>
          <p:nvPr>
            <p:ph idx="1" type="body"/>
          </p:nvPr>
        </p:nvSpPr>
        <p:spPr>
          <a:xfrm>
            <a:off x="393519" y="1224733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 lang="en-US" sz="2000"/>
              <a:t>ARMA(1,1) Process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n-US" sz="1800"/>
              <a:t>ACF:</a:t>
            </a:r>
            <a:r>
              <a:rPr lang="en-US" sz="1800"/>
              <a:t> Decays exponentially towards zero after lag 1. The decay pattern is influenced by both the AR and MA parameters.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n-US" sz="1800"/>
              <a:t>PACF:</a:t>
            </a:r>
            <a:r>
              <a:rPr lang="en-US" sz="1800"/>
              <a:t> Decays exponentially towards zero after lag 1. The decay pattern is also influenced by both parameters.</a:t>
            </a:r>
            <a:endParaRPr/>
          </a:p>
          <a:p>
            <a:pPr indent="-101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</p:txBody>
      </p:sp>
      <p:pic>
        <p:nvPicPr>
          <p:cNvPr id="250" name="Google Shape;25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6844" y="3429000"/>
            <a:ext cx="8039456" cy="30008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6"/>
          <p:cNvSpPr txBox="1"/>
          <p:nvPr>
            <p:ph type="title"/>
          </p:nvPr>
        </p:nvSpPr>
        <p:spPr>
          <a:xfrm>
            <a:off x="0" y="-43543"/>
            <a:ext cx="9144000" cy="8098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US"/>
              <a:t>Properties of Sample Mean and Correlation</a:t>
            </a:r>
            <a:endParaRPr/>
          </a:p>
        </p:txBody>
      </p:sp>
      <p:sp>
        <p:nvSpPr>
          <p:cNvPr id="256" name="Google Shape;256;p26"/>
          <p:cNvSpPr txBox="1"/>
          <p:nvPr>
            <p:ph idx="1" type="body"/>
          </p:nvPr>
        </p:nvSpPr>
        <p:spPr>
          <a:xfrm>
            <a:off x="393519" y="1224733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For a stationary ARMA process, the sample mean will converge to the true mean of the process.</a:t>
            </a:r>
            <a:endParaRPr sz="20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7"/>
          <p:cNvSpPr txBox="1"/>
          <p:nvPr>
            <p:ph type="title"/>
          </p:nvPr>
        </p:nvSpPr>
        <p:spPr>
          <a:xfrm>
            <a:off x="0" y="-43543"/>
            <a:ext cx="9144000" cy="8098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Reference links</a:t>
            </a:r>
            <a:endParaRPr/>
          </a:p>
        </p:txBody>
      </p:sp>
      <p:sp>
        <p:nvSpPr>
          <p:cNvPr id="262" name="Google Shape;262;p27"/>
          <p:cNvSpPr txBox="1"/>
          <p:nvPr>
            <p:ph idx="1" type="body"/>
          </p:nvPr>
        </p:nvSpPr>
        <p:spPr>
          <a:xfrm>
            <a:off x="393519" y="1224733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https://github.com/egorhowell/Youtube/tree/main/Time-Series-Crash-Course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 result for Q &amp; A. Size: 281 x 104. Source: atlantahyperbariccenter.com" id="267" name="Google Shape;267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96647" y="2818947"/>
            <a:ext cx="3343275" cy="123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wipe dir="d"/>
  </p:transition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2021-12-13T07:18:12Z</dcterms:created>
  <dc:creator>Microsoft account</dc:creator>
</cp:coreProperties>
</file>