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Tahoma"/>
      <p:regular r:id="rId13"/>
      <p:bold r:id="rId14"/>
    </p:embeddedFon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ukkLWCbieeVkM0Yw8YS0pioX7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22" Type="http://schemas.openxmlformats.org/officeDocument/2006/relationships/font" Target="fonts/HelveticaNeueLight-boldItalic.fntdata"/><Relationship Id="rId21" Type="http://schemas.openxmlformats.org/officeDocument/2006/relationships/font" Target="fonts/HelveticaNeueLight-italic.fntdata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Tahoma-regular.fntdata"/><Relationship Id="rId12" Type="http://schemas.openxmlformats.org/officeDocument/2006/relationships/slide" Target="slides/slide8.xml"/><Relationship Id="rId15" Type="http://schemas.openxmlformats.org/officeDocument/2006/relationships/font" Target="fonts/HelveticaNeue-regular.fntdata"/><Relationship Id="rId14" Type="http://schemas.openxmlformats.org/officeDocument/2006/relationships/font" Target="fonts/Tahoma-bold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19" Type="http://schemas.openxmlformats.org/officeDocument/2006/relationships/font" Target="fonts/HelveticaNeueLight-regular.fntdata"/><Relationship Id="rId18" Type="http://schemas.openxmlformats.org/officeDocument/2006/relationships/font" Target="fonts/HelveticaNeu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088a9ec8c0_0_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2" name="Google Shape;12;g3088a9ec8c0_0_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3" name="Google Shape;13;g3088a9ec8c0_0_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088a9ec8c0_0_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g3088a9ec8c0_0_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">
  <p:cSld name="TITLE_AND_BODY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88a9ec8c0_0_12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g3088a9ec8c0_0_1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088a9ec8c0_0_12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1" name="Google Shape;21;g3088a9ec8c0_0_1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088a9ec8c0_0_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g3088a9ec8c0_0_17"/>
          <p:cNvPicPr preferRelativeResize="0"/>
          <p:nvPr/>
        </p:nvPicPr>
        <p:blipFill rotWithShape="1">
          <a:blip r:embed="rId2">
            <a:alphaModFix/>
          </a:blip>
          <a:srcRect b="4686" l="11594" r="10689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088a9ec8c0_0_17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6" name="Google Shape;26;g3088a9ec8c0_0_17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2_Design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88a9ec8c0_0_22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29" name="Google Shape;29;g3088a9ec8c0_0_22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g3088a9ec8c0_0_22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Google Shape;31;g3088a9ec8c0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088a9ec8c0_0_22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g3088a9ec8c0_0_2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  <p:pic>
        <p:nvPicPr>
          <p:cNvPr id="34" name="Google Shape;34;g3088a9ec8c0_0_22"/>
          <p:cNvPicPr preferRelativeResize="0"/>
          <p:nvPr/>
        </p:nvPicPr>
        <p:blipFill rotWithShape="1">
          <a:blip r:embed="rId3">
            <a:alphaModFix/>
          </a:blip>
          <a:srcRect b="22683" l="0" r="0" t="17385"/>
          <a:stretch/>
        </p:blipFill>
        <p:spPr>
          <a:xfrm>
            <a:off x="747233" y="392667"/>
            <a:ext cx="1741234" cy="104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088a9ec8c0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7633" y="-7700"/>
            <a:ext cx="3048000" cy="13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1">
  <p:cSld name="TITLE_AND_TWO_COLUMNS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88a9ec8c0_0_31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8" name="Google Shape;38;g3088a9ec8c0_0_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g3088a9ec8c0_0_3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088a9ec8c0_0_31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41" name="Google Shape;41;g3088a9ec8c0_0_31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88a9ec8c0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g3088a9ec8c0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g3088a9ec8c0_0_3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3">
  <p:cSld name="TITLE_AND_BODY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88a9ec8c0_0_4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" name="Google Shape;48;g3088a9ec8c0_0_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g3088a9ec8c0_0_41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0" name="Google Shape;50;g3088a9ec8c0_0_4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2">
  <p:cSld name="TITLE_ONLY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88a9ec8c0_0_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g3088a9ec8c0_0_46"/>
          <p:cNvPicPr preferRelativeResize="0"/>
          <p:nvPr/>
        </p:nvPicPr>
        <p:blipFill rotWithShape="1">
          <a:blip r:embed="rId2">
            <a:alphaModFix/>
          </a:blip>
          <a:srcRect b="23340" l="18269" r="27373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088a9ec8c0_0_46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5" name="Google Shape;55;g3088a9ec8c0_0_46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088a9ec8c0_0_51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58" name="Google Shape;58;g3088a9ec8c0_0_51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g3088a9ec8c0_0_51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g3088a9ec8c0_0_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088a9ec8c0_0_51"/>
          <p:cNvPicPr preferRelativeResize="0"/>
          <p:nvPr/>
        </p:nvPicPr>
        <p:blipFill rotWithShape="1">
          <a:blip r:embed="rId3">
            <a:alphaModFix/>
          </a:blip>
          <a:srcRect b="8175" l="0" r="12633" t="14764"/>
          <a:stretch/>
        </p:blipFill>
        <p:spPr>
          <a:xfrm>
            <a:off x="562700" y="425333"/>
            <a:ext cx="1839710" cy="97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088a9ec8c0_0_51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3" name="Google Shape;63;g3088a9ec8c0_0_5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2">
  <p:cSld name="TITLE_AND_TWO_COLUMNS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8a9ec8c0_0_59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g3088a9ec8c0_0_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088a9ec8c0_0_59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" name="Google Shape;68;g3088a9ec8c0_0_59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9" name="Google Shape;69;g3088a9ec8c0_0_59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88a9ec8c0_0_65"/>
          <p:cNvSpPr txBox="1"/>
          <p:nvPr/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b="0" i="0" lang="en-US" sz="6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6900" u="none" cap="none" strike="noStrike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b="0" i="0" sz="6900" u="none" cap="none" strike="noStrike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" name="Google Shape;72;g3088a9ec8c0_0_65"/>
          <p:cNvSpPr txBox="1"/>
          <p:nvPr/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b="0" i="0" sz="37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1">
  <p:cSld name="Slide - Content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88a9ec8c0_0_6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g3088a9ec8c0_0_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g3088a9ec8c0_0_6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g3088a9ec8c0_0_6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88a9ec8c0_0_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g3088a9ec8c0_0_7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88a9ec8c0_0_76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83" name="Google Shape;83;g3088a9ec8c0_0_76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3088a9ec8c0_0_7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088a9ec8c0_0_7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088a9ec8c0_0_76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 1">
  <p:cSld name="Please Note Slide 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88a9ec8c0_0_8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g3088a9ec8c0_0_82"/>
          <p:cNvPicPr preferRelativeResize="0"/>
          <p:nvPr/>
        </p:nvPicPr>
        <p:blipFill rotWithShape="1">
          <a:blip r:embed="rId2">
            <a:alphaModFix/>
          </a:blip>
          <a:srcRect b="4687" l="11594" r="10690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088a9ec8c0_0_82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91" name="Google Shape;91;g3088a9ec8c0_0_8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88a9ec8c0_0_87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94" name="Google Shape;94;g3088a9ec8c0_0_87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5" name="Google Shape;95;g3088a9ec8c0_0_8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g3088a9ec8c0_0_8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088a9ec8c0_0_87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8a9ec8c0_0_93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088a9ec8c0_0_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g3088a9ec8c0_0_9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" name="Google Shape;102;g3088a9ec8c0_0_9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1">
  <p:cSld name="DIY Slide 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88a9ec8c0_0_9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088a9ec8c0_0_98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088a9ec8c0_0_9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g3088a9ec8c0_0_9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8a9ec8c0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g3088a9ec8c0_0_103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088a9ec8c0_0_10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2" name="Google Shape;112;g3088a9ec8c0_0_10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88a9ec8c0_0_108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g3088a9ec8c0_0_10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g3088a9ec8c0_0_10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088a9ec8c0_0_108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8" name="Google Shape;118;g3088a9ec8c0_0_108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88a9ec8c0_0_11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88a9ec8c0_0_1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3" name="Google Shape;123;g3088a9ec8c0_0_1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24" name="Google Shape;124;g3088a9ec8c0_0_1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88a9ec8c0_0_1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7" name="Google Shape;127;g3088a9ec8c0_0_1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8" name="Google Shape;128;g3088a9ec8c0_0_1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9" name="Google Shape;129;g3088a9ec8c0_0_1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88a9ec8c0_0_1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2" name="Google Shape;132;g3088a9ec8c0_0_1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88a9ec8c0_0_12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35" name="Google Shape;135;g3088a9ec8c0_0_12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36" name="Google Shape;136;g3088a9ec8c0_0_1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8a9ec8c0_0_132"/>
          <p:cNvSpPr txBox="1"/>
          <p:nvPr>
            <p:ph type="title"/>
          </p:nvPr>
        </p:nvSpPr>
        <p:spPr>
          <a:xfrm>
            <a:off x="653667" y="600200"/>
            <a:ext cx="84903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39" name="Google Shape;139;g3088a9ec8c0_0_13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88a9ec8c0_0_1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475" lIns="162475" spcFirstLastPara="1" rIns="162475" wrap="square" tIns="162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088a9ec8c0_0_13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43" name="Google Shape;143;g3088a9ec8c0_0_13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4" name="Google Shape;144;g3088a9ec8c0_0_13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45" name="Google Shape;145;g3088a9ec8c0_0_1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88a9ec8c0_0_1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148" name="Google Shape;148;g3088a9ec8c0_0_1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8a9ec8c0_0_14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151" name="Google Shape;151;g3088a9ec8c0_0_14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52" name="Google Shape;152;g3088a9ec8c0_0_1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88a9ec8c0_0_148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55" name="Google Shape;155;g3088a9ec8c0_0_148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088a9ec8c0_0_14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088a9ec8c0_0_148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88a9ec8c0_0_153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60" name="Google Shape;160;g3088a9ec8c0_0_153"/>
          <p:cNvSpPr txBox="1"/>
          <p:nvPr>
            <p:ph idx="1" type="body"/>
          </p:nvPr>
        </p:nvSpPr>
        <p:spPr>
          <a:xfrm>
            <a:off x="5758687" y="2569339"/>
            <a:ext cx="6175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61" name="Google Shape;161;g3088a9ec8c0_0_15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088a9ec8c0_0_15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088a9ec8c0_0_15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88a9ec8c0_0_159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088a9ec8c0_0_159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088a9ec8c0_0_159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8a9ec8c0_0_163"/>
          <p:cNvSpPr txBox="1"/>
          <p:nvPr>
            <p:ph type="ctrTitle"/>
          </p:nvPr>
        </p:nvSpPr>
        <p:spPr>
          <a:xfrm>
            <a:off x="771483" y="280172"/>
            <a:ext cx="10649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70" name="Google Shape;170;g3088a9ec8c0_0_163"/>
          <p:cNvSpPr txBox="1"/>
          <p:nvPr>
            <p:ph idx="1" type="subTitle"/>
          </p:nvPr>
        </p:nvSpPr>
        <p:spPr>
          <a:xfrm>
            <a:off x="1828800" y="3840480"/>
            <a:ext cx="8534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71" name="Google Shape;171;g3088a9ec8c0_0_16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g3088a9ec8c0_0_16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g3088a9ec8c0_0_16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88a9ec8c0_0_170"/>
          <p:cNvSpPr txBox="1"/>
          <p:nvPr>
            <p:ph type="ctrTitle"/>
          </p:nvPr>
        </p:nvSpPr>
        <p:spPr>
          <a:xfrm>
            <a:off x="1436989" y="213247"/>
            <a:ext cx="9318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7" name="Google Shape;177;g3088a9ec8c0_0_170"/>
          <p:cNvSpPr txBox="1"/>
          <p:nvPr>
            <p:ph idx="1" type="subTitle"/>
          </p:nvPr>
        </p:nvSpPr>
        <p:spPr>
          <a:xfrm>
            <a:off x="1828800" y="3840480"/>
            <a:ext cx="8534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8" name="Google Shape;178;g3088a9ec8c0_0_17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g3088a9ec8c0_0_17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g3088a9ec8c0_0_17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88a9ec8c0_0_1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3" name="Google Shape;183;g3088a9ec8c0_0_176"/>
          <p:cNvSpPr txBox="1"/>
          <p:nvPr>
            <p:ph idx="1" type="body"/>
          </p:nvPr>
        </p:nvSpPr>
        <p:spPr>
          <a:xfrm>
            <a:off x="60960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4" name="Google Shape;184;g3088a9ec8c0_0_176"/>
          <p:cNvSpPr txBox="1"/>
          <p:nvPr>
            <p:ph idx="2" type="body"/>
          </p:nvPr>
        </p:nvSpPr>
        <p:spPr>
          <a:xfrm>
            <a:off x="627888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5" name="Google Shape;185;g3088a9ec8c0_0_17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g3088a9ec8c0_0_17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g3088a9ec8c0_0_17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88a9ec8c0_0_18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3088a9ec8c0_0_18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g3088a9ec8c0_0_18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88a9ec8c0_0_187"/>
          <p:cNvSpPr txBox="1"/>
          <p:nvPr>
            <p:ph type="ctrTitle"/>
          </p:nvPr>
        </p:nvSpPr>
        <p:spPr>
          <a:xfrm>
            <a:off x="914400" y="685800"/>
            <a:ext cx="103632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8a9ec8c0_0_189"/>
          <p:cNvSpPr txBox="1"/>
          <p:nvPr>
            <p:ph type="title"/>
          </p:nvPr>
        </p:nvSpPr>
        <p:spPr>
          <a:xfrm>
            <a:off x="609600" y="277812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6" name="Google Shape;196;g3088a9ec8c0_0_189"/>
          <p:cNvSpPr txBox="1"/>
          <p:nvPr>
            <p:ph idx="1" type="body"/>
          </p:nvPr>
        </p:nvSpPr>
        <p:spPr>
          <a:xfrm>
            <a:off x="1075267" y="1233487"/>
            <a:ext cx="109728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88a9ec8c0_0_192"/>
          <p:cNvSpPr txBox="1"/>
          <p:nvPr>
            <p:ph type="title"/>
          </p:nvPr>
        </p:nvSpPr>
        <p:spPr>
          <a:xfrm>
            <a:off x="609600" y="277815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g3088a9ec8c0_0_192"/>
          <p:cNvSpPr txBox="1"/>
          <p:nvPr>
            <p:ph idx="1" type="body"/>
          </p:nvPr>
        </p:nvSpPr>
        <p:spPr>
          <a:xfrm>
            <a:off x="1075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00" name="Google Shape;200;g3088a9ec8c0_0_192"/>
          <p:cNvSpPr txBox="1"/>
          <p:nvPr>
            <p:ph idx="2" type="body"/>
          </p:nvPr>
        </p:nvSpPr>
        <p:spPr>
          <a:xfrm>
            <a:off x="6663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088a9ec8c0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088a9ec8c0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088a9ec8c0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088a9ec8c0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867500" y="5949"/>
            <a:ext cx="1701282" cy="6592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525" y="686850"/>
            <a:ext cx="11513576" cy="611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" y="277501"/>
            <a:ext cx="8487849" cy="62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2073" y="3119394"/>
            <a:ext cx="8087854" cy="619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50" y="228349"/>
            <a:ext cx="7567627" cy="644775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"/>
          <p:cNvSpPr txBox="1"/>
          <p:nvPr/>
        </p:nvSpPr>
        <p:spPr>
          <a:xfrm>
            <a:off x="8052620" y="3873910"/>
            <a:ext cx="34019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probability of both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and Negative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 and 1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3"/>
          <p:cNvCxnSpPr/>
          <p:nvPr/>
        </p:nvCxnSpPr>
        <p:spPr>
          <a:xfrm rot="10800000">
            <a:off x="4601497" y="3873910"/>
            <a:ext cx="4572000" cy="46166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19" name="Google Shape;2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8535" y="5278398"/>
            <a:ext cx="6066046" cy="1158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50" y="704175"/>
            <a:ext cx="7625825" cy="60999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 txBox="1"/>
          <p:nvPr/>
        </p:nvSpPr>
        <p:spPr>
          <a:xfrm>
            <a:off x="7718323" y="2998839"/>
            <a:ext cx="27628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only positive values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4"/>
          <p:cNvCxnSpPr/>
          <p:nvPr/>
        </p:nvCxnSpPr>
        <p:spPr>
          <a:xfrm rot="10800000">
            <a:off x="7187381" y="3106994"/>
            <a:ext cx="1307690" cy="32200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27" name="Google Shape;2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2816" y="82296"/>
            <a:ext cx="7381868" cy="621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8863" y="562757"/>
            <a:ext cx="7271224" cy="646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977"/>
            <a:ext cx="9221487" cy="195289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 txBox="1"/>
          <p:nvPr/>
        </p:nvSpPr>
        <p:spPr>
          <a:xfrm>
            <a:off x="4483509" y="1436247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dummy_model_auc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Since this model is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learning any patterns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AUC score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typically be around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4070554" y="2391386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model_auc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:If this model is performing well, the AUC score should be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than 0.5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ideally close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36" name="Google Shape;2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7592" y="3577665"/>
            <a:ext cx="8173591" cy="68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391" y="1976235"/>
            <a:ext cx="8173591" cy="2905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709" y="507724"/>
            <a:ext cx="12241896" cy="142039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 txBox="1"/>
          <p:nvPr/>
        </p:nvSpPr>
        <p:spPr>
          <a:xfrm>
            <a:off x="5056671" y="5304504"/>
            <a:ext cx="62238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thresholds-dummy: 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threshold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which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FPR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computed.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thresholds are typically used for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different points on the ROC curve.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38" y="-137652"/>
            <a:ext cx="90983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"/>
          <p:cNvSpPr txBox="1"/>
          <p:nvPr/>
        </p:nvSpPr>
        <p:spPr>
          <a:xfrm>
            <a:off x="7885471" y="2505669"/>
            <a:ext cx="381491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model whose ROC curve is closer to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top-left corner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indicates that it has a high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Positive Rate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(high sensitivity) and a low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(low fall-out)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300" y="725001"/>
            <a:ext cx="9545400" cy="57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 txBox="1"/>
          <p:nvPr/>
        </p:nvSpPr>
        <p:spPr>
          <a:xfrm>
            <a:off x="6597445" y="621166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with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AUC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considered to perform the best overall across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thresholds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2024-10-03T13:38:49Z</dcterms:created>
  <dc:creator>jagadishdell@outlook.com</dc:creator>
</cp:coreProperties>
</file>