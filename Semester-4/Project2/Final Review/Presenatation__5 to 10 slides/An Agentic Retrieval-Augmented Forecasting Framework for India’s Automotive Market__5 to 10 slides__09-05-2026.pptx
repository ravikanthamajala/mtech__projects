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2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2/hhuwKmITLi34coKuV9gvvc1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D6EE30B-C028-4789-B6E4-0BFFCBE8230D}">
  <a:tblStyle styleId="{DD6EE30B-C028-4789-B6E4-0BFFCBE823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572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06FD8DB1-11F1-9800-4CBB-E817EA3F428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A2653DC7-8751-8331-13F4-667FE4F377C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3E125330-7978-028D-70EB-536F528CD1A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B0A59605-326A-B0FC-8CE0-15E504EDD1C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2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7C2A31EC-A23F-91EC-A1EA-EB18AF5D940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7F605595-5A35-3269-8F69-27974C27C96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5D4ECB86-4B03-B537-C925-60D7C01961CD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" name="Google Shape;95;p1" descr="pngfind.com-kingpin-png-4152286 (1).png">
            <a:extLst>
              <a:ext uri="{FF2B5EF4-FFF2-40B4-BE49-F238E27FC236}">
                <a16:creationId xmlns:a16="http://schemas.microsoft.com/office/drawing/2014/main" id="{1A4F9173-5949-057F-2D66-7553A46F456E}"/>
              </a:ext>
            </a:extLst>
          </p:cNvPr>
          <p:cNvPicPr preferRelativeResize="0"/>
          <p:nvPr userDrawn="1"/>
        </p:nvPicPr>
        <p:blipFill rotWithShape="1">
          <a:blip r:embed="rId11">
            <a:alphaModFix/>
          </a:blip>
          <a:srcRect/>
          <a:stretch/>
        </p:blipFill>
        <p:spPr>
          <a:xfrm>
            <a:off x="7578968" y="28424"/>
            <a:ext cx="1565031" cy="56945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0352"/>
            <a:ext cx="8302752" cy="4251643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IN" sz="3600" dirty="0"/>
              <a:t>An Agentic Retrieval-Augmented Forecasting</a:t>
            </a:r>
            <a:br>
              <a:rPr lang="en-IN" sz="3600" dirty="0"/>
            </a:br>
            <a:r>
              <a:rPr lang="en-IN" sz="3600" dirty="0"/>
              <a:t>Framework for India’s Automotive Market:</a:t>
            </a:r>
            <a:br>
              <a:rPr lang="en-IN" sz="3600" dirty="0"/>
            </a:br>
            <a:r>
              <a:rPr lang="en-IN" sz="3600" dirty="0"/>
              <a:t>Integrating Multi-Document Intelligence, Policy</a:t>
            </a:r>
            <a:br>
              <a:rPr lang="en-IN" sz="3600" dirty="0"/>
            </a:br>
            <a:r>
              <a:rPr lang="en-IN" sz="3600" dirty="0"/>
              <a:t>Analysis, and Time-Series Modelling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4892041"/>
            <a:ext cx="7470648" cy="187452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dirty="0"/>
              <a:t>Presenter: Ravikanth Amajala</a:t>
            </a:r>
          </a:p>
          <a:p>
            <a:r>
              <a:rPr dirty="0"/>
              <a:t>SRM Institute of Science and Technology</a:t>
            </a:r>
          </a:p>
          <a:p>
            <a:r>
              <a:rPr dirty="0"/>
              <a:t>Co‑Author: Dr. K. Venkatesh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830568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dirty="0"/>
              <a:t>1. Motivation</a:t>
            </a:r>
          </a:p>
          <a:p>
            <a:r>
              <a:rPr dirty="0"/>
              <a:t>2. Research Gap</a:t>
            </a:r>
          </a:p>
          <a:p>
            <a:r>
              <a:rPr dirty="0"/>
              <a:t>3. Objectives</a:t>
            </a:r>
          </a:p>
          <a:p>
            <a:r>
              <a:rPr dirty="0"/>
              <a:t>4. Proposed Framework</a:t>
            </a:r>
          </a:p>
          <a:p>
            <a:r>
              <a:rPr dirty="0"/>
              <a:t>5. System Architecture</a:t>
            </a:r>
          </a:p>
          <a:p>
            <a:r>
              <a:rPr dirty="0"/>
              <a:t>6. Forecasting Models</a:t>
            </a:r>
          </a:p>
          <a:p>
            <a:r>
              <a:rPr dirty="0"/>
              <a:t>7. Dataset &amp; Experimental Setup</a:t>
            </a:r>
          </a:p>
          <a:p>
            <a:r>
              <a:rPr dirty="0"/>
              <a:t>8. Results</a:t>
            </a:r>
          </a:p>
          <a:p>
            <a:r>
              <a:rPr dirty="0"/>
              <a:t>9. Contributions</a:t>
            </a:r>
          </a:p>
          <a:p>
            <a:r>
              <a:rPr dirty="0"/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37960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dirty="0"/>
              <a:t>Accurate automotive demand forecasting is essential for:</a:t>
            </a:r>
          </a:p>
          <a:p>
            <a:r>
              <a:rPr dirty="0"/>
              <a:t>• Production planning</a:t>
            </a:r>
          </a:p>
          <a:p>
            <a:r>
              <a:rPr dirty="0"/>
              <a:t>• Supply‑chain optimization</a:t>
            </a:r>
          </a:p>
          <a:p>
            <a:r>
              <a:rPr dirty="0"/>
              <a:t>• Policy evaluation</a:t>
            </a:r>
          </a:p>
          <a:p>
            <a:r>
              <a:rPr dirty="0"/>
              <a:t>• Strategic investment</a:t>
            </a:r>
          </a:p>
          <a:p>
            <a:endParaRPr dirty="0"/>
          </a:p>
          <a:p>
            <a:r>
              <a:rPr dirty="0"/>
              <a:t>Traditional models rely mainly on historical numerical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Existing forecasting systems:</a:t>
            </a:r>
          </a:p>
          <a:p>
            <a:r>
              <a:rPr dirty="0"/>
              <a:t>• Use structured numerical data only</a:t>
            </a:r>
          </a:p>
          <a:p>
            <a:r>
              <a:rPr dirty="0"/>
              <a:t>• Ignore policy documents and industry reports</a:t>
            </a:r>
          </a:p>
          <a:p>
            <a:r>
              <a:rPr dirty="0"/>
              <a:t>• Provide limited contextual interpretation</a:t>
            </a:r>
          </a:p>
          <a:p>
            <a:endParaRPr dirty="0"/>
          </a:p>
          <a:p>
            <a:r>
              <a:rPr dirty="0"/>
              <a:t>This creates a gap between prediction models and real-world market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84848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1600201"/>
            <a:ext cx="8229600" cy="123443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25000" lnSpcReduction="20000"/>
          </a:bodyPr>
          <a:lstStyle/>
          <a:p>
            <a:r>
              <a:rPr dirty="0"/>
              <a:t>Agentic Retrieval‑Augmented Forecasting (ARAF)</a:t>
            </a:r>
          </a:p>
          <a:p>
            <a:endParaRPr dirty="0"/>
          </a:p>
          <a:p>
            <a:r>
              <a:rPr dirty="0"/>
              <a:t>Key Idea:</a:t>
            </a:r>
          </a:p>
          <a:p>
            <a:r>
              <a:rPr dirty="0"/>
              <a:t>• Combine time‑series forecasting</a:t>
            </a:r>
          </a:p>
          <a:p>
            <a:r>
              <a:rPr dirty="0"/>
              <a:t>• Integrate policy and industry document intelligence</a:t>
            </a:r>
          </a:p>
          <a:p>
            <a:r>
              <a:rPr dirty="0"/>
              <a:t>• Use AI agents for reasoning</a:t>
            </a:r>
          </a:p>
          <a:p>
            <a:endParaRPr dirty="0"/>
          </a:p>
          <a:p>
            <a:r>
              <a:rPr dirty="0"/>
              <a:t>Output: Forecast + policy-aware explanation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E6042-24F9-70E0-B79E-8D4BF0589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4640"/>
            <a:ext cx="6117336" cy="2090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F68C5-A773-54D1-C01D-35AC07DFB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4983406"/>
            <a:ext cx="5193792" cy="1874593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D72701F-816E-46D5-42C5-45699114034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H="1">
            <a:off x="3950208" y="3879738"/>
            <a:ext cx="2167128" cy="2040965"/>
          </a:xfrm>
          <a:prstGeom prst="bentConnector5">
            <a:avLst>
              <a:gd name="adj1" fmla="val -10549"/>
              <a:gd name="adj2" fmla="val 52641"/>
              <a:gd name="adj3" fmla="val 1105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92240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dirty="0"/>
              <a:t>Framework Modules:</a:t>
            </a:r>
          </a:p>
          <a:p>
            <a:r>
              <a:rPr dirty="0"/>
              <a:t>1. Data Ingestion – datasets &amp; policy reports</a:t>
            </a:r>
          </a:p>
          <a:p>
            <a:r>
              <a:rPr dirty="0"/>
              <a:t>2. Document Processing – chunking &amp; embeddings</a:t>
            </a:r>
          </a:p>
          <a:p>
            <a:r>
              <a:rPr dirty="0"/>
              <a:t>3. Semantic Retrieval – relevant policy context</a:t>
            </a:r>
          </a:p>
          <a:p>
            <a:r>
              <a:rPr dirty="0"/>
              <a:t>4. Agent Processing – forecasting &amp; analysis</a:t>
            </a:r>
          </a:p>
          <a:p>
            <a:endParaRPr dirty="0"/>
          </a:p>
          <a:p>
            <a:r>
              <a:rPr dirty="0"/>
              <a:t>Enables knowledge‑grounded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830568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Forecasting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r>
              <a:rPr dirty="0"/>
              <a:t>Hybrid forecasting strategy:</a:t>
            </a:r>
          </a:p>
          <a:p>
            <a:r>
              <a:rPr dirty="0"/>
              <a:t>• ARIMA / SARIMA – temporal trends &amp; seasonality</a:t>
            </a:r>
          </a:p>
          <a:p>
            <a:r>
              <a:rPr dirty="0"/>
              <a:t>• Additive Model – trend and seasonal effects</a:t>
            </a:r>
          </a:p>
          <a:p>
            <a:r>
              <a:rPr dirty="0"/>
              <a:t>• Gradient Boosting (</a:t>
            </a:r>
            <a:r>
              <a:rPr dirty="0" err="1"/>
              <a:t>XGBoost</a:t>
            </a:r>
            <a:r>
              <a:rPr dirty="0"/>
              <a:t>) – nonlinear patterns</a:t>
            </a:r>
          </a:p>
          <a:p>
            <a:endParaRPr dirty="0"/>
          </a:p>
          <a:p>
            <a:r>
              <a:rPr dirty="0"/>
              <a:t>Hybrid approach improves prediction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67728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>
            <a:normAutofit fontScale="90000"/>
          </a:bodyPr>
          <a:lstStyle/>
          <a:p>
            <a:r>
              <a:rPr dirty="0"/>
              <a:t>Dataset &amp;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Dataset characteristics:</a:t>
            </a:r>
          </a:p>
          <a:p>
            <a:r>
              <a:rPr dirty="0"/>
              <a:t>• Time span: 2014–2024</a:t>
            </a:r>
          </a:p>
          <a:p>
            <a:r>
              <a:rPr dirty="0"/>
              <a:t>• Observations: 132 monthly data points</a:t>
            </a:r>
          </a:p>
          <a:p>
            <a:r>
              <a:rPr dirty="0"/>
              <a:t>• Policy documents: 148</a:t>
            </a:r>
          </a:p>
          <a:p>
            <a:r>
              <a:rPr dirty="0"/>
              <a:t>• Embedding chunks: 2436</a:t>
            </a:r>
          </a:p>
          <a:p>
            <a:endParaRPr dirty="0"/>
          </a:p>
          <a:p>
            <a:r>
              <a:rPr dirty="0"/>
              <a:t>Forecast horizons: 1, 3, 6, 12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66560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dirty="0"/>
              <a:t>Model Comparison (MAE):</a:t>
            </a:r>
          </a:p>
          <a:p>
            <a:r>
              <a:rPr dirty="0"/>
              <a:t>• ARIMA: 6425</a:t>
            </a:r>
          </a:p>
          <a:p>
            <a:r>
              <a:rPr dirty="0"/>
              <a:t>• Additive Model: 9152</a:t>
            </a:r>
          </a:p>
          <a:p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: 10112</a:t>
            </a:r>
          </a:p>
          <a:p>
            <a:r>
              <a:rPr dirty="0"/>
              <a:t>• Hybrid Proposed Model: 5982</a:t>
            </a:r>
          </a:p>
          <a:p>
            <a:endParaRPr dirty="0"/>
          </a:p>
          <a:p>
            <a:r>
              <a:rPr dirty="0"/>
              <a:t>Hybrid approach achieved the best forecasting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47104" cy="1143000"/>
          </a:xfrm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20000"/>
          </a:bodyPr>
          <a:lstStyle/>
          <a:p>
            <a:r>
              <a:rPr dirty="0"/>
              <a:t>Key Outcomes:</a:t>
            </a:r>
          </a:p>
          <a:p>
            <a:r>
              <a:rPr dirty="0"/>
              <a:t>• Policy‑aware forecasting framework</a:t>
            </a:r>
          </a:p>
          <a:p>
            <a:r>
              <a:rPr dirty="0"/>
              <a:t>• Improved prediction accuracy</a:t>
            </a:r>
          </a:p>
          <a:p>
            <a:r>
              <a:rPr dirty="0"/>
              <a:t>• Interpretable decision‑support insights</a:t>
            </a:r>
          </a:p>
          <a:p>
            <a:endParaRPr dirty="0"/>
          </a:p>
          <a:p>
            <a:r>
              <a:rPr dirty="0"/>
              <a:t>Future Work:</a:t>
            </a:r>
          </a:p>
          <a:p>
            <a:r>
              <a:rPr dirty="0"/>
              <a:t>• Scenario simulation</a:t>
            </a:r>
          </a:p>
          <a:p>
            <a:r>
              <a:rPr dirty="0"/>
              <a:t>• Cross‑industry forecasting</a:t>
            </a:r>
          </a:p>
          <a:p>
            <a:endParaRPr dirty="0"/>
          </a:p>
          <a:p>
            <a:r>
              <a:rPr dirty="0"/>
              <a:t>Thank You –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3A32F-332F-D415-7574-9E070C9A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030"/>
            <a:ext cx="7735824" cy="6301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2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E1C55-AE4E-9489-01D6-52DD9F713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" y="0"/>
            <a:ext cx="8069645" cy="364272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E40598-ABA7-C0BD-B8D8-BA8A77FE87F6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1821362"/>
            <a:ext cx="1261872" cy="1933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145B60-E449-6BAC-0A8A-25B25A298FEC}"/>
              </a:ext>
            </a:extLst>
          </p:cNvPr>
          <p:cNvSpPr txBox="1"/>
          <p:nvPr/>
        </p:nvSpPr>
        <p:spPr>
          <a:xfrm>
            <a:off x="3067905" y="3676940"/>
            <a:ext cx="1142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Ask Query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8B4BE5-E370-F073-7EF4-B2E0C5F8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203211"/>
            <a:ext cx="6528816" cy="2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4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E690E-00AE-64C4-902B-1A2F5E105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4048"/>
            <a:ext cx="7543045" cy="647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382F5-980D-74CF-D8AB-DC3E37AF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0"/>
            <a:ext cx="7219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4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E6569-9F24-694B-9176-74EA17325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744"/>
            <a:ext cx="6535636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82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BC112-999E-556C-2246-ACAE4D1A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599"/>
            <a:ext cx="7900416" cy="303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6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16007</TotalTime>
  <Words>380</Words>
  <Application>Microsoft Office PowerPoint</Application>
  <PresentationFormat>On-screen Show (4:3)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An Agentic Retrieval-Augmented Forecasting Framework for India’s Automotive Market: Integrating Multi-Document Intelligence, Policy Analysis, and Time-Series Modelling</vt:lpstr>
      <vt:lpstr>Presentation Outline</vt:lpstr>
      <vt:lpstr>Motivation</vt:lpstr>
      <vt:lpstr>Research Gap</vt:lpstr>
      <vt:lpstr>Proposed Solution</vt:lpstr>
      <vt:lpstr>System Architecture</vt:lpstr>
      <vt:lpstr>Forecasting Models</vt:lpstr>
      <vt:lpstr>Dataset &amp; Experimental Setup</vt:lpstr>
      <vt:lpstr>Results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Sornalakshmi</dc:creator>
  <cp:lastModifiedBy>Ravikanth Amajala</cp:lastModifiedBy>
  <cp:revision>66</cp:revision>
  <dcterms:created xsi:type="dcterms:W3CDTF">2022-11-10T13:44:23Z</dcterms:created>
  <dcterms:modified xsi:type="dcterms:W3CDTF">2026-05-09T04:20:38Z</dcterms:modified>
</cp:coreProperties>
</file>