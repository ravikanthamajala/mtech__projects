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8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0FAA0-F128-4FF3-8FB7-E6B2F618F0EE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C8FAA-9B25-49F2-90ED-FF5C8137F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02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C8FAA-9B25-49F2-90ED-FF5C8137F3F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819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4910"/>
            <a:ext cx="8101584" cy="2624010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sz="2800" dirty="0"/>
              <a:t>An Agentic Retrieval‑Augmented Forecasting Framework for India’s Automotive Market</a:t>
            </a:r>
            <a:r>
              <a:rPr lang="en-IN" sz="2800" dirty="0"/>
              <a:t>:Integrating Multi-Document Intelligence, Policy</a:t>
            </a:r>
            <a:br>
              <a:rPr lang="en-IN" sz="2800" dirty="0"/>
            </a:br>
            <a:r>
              <a:rPr lang="en-IN" sz="2800" dirty="0"/>
              <a:t>Analysis, and Time-Series Modelling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916936"/>
            <a:ext cx="7927848" cy="3136391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dirty="0"/>
              <a:t>Presenter: Ravikanth Amajala</a:t>
            </a:r>
          </a:p>
          <a:p>
            <a:r>
              <a:rPr dirty="0"/>
              <a:t>SRM Institute of Science and Technology</a:t>
            </a:r>
          </a:p>
          <a:p>
            <a:r>
              <a:rPr dirty="0"/>
              <a:t>Co‑Author: Dr. K. Venkatesh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85000" lnSpcReduction="20000"/>
          </a:bodyPr>
          <a:lstStyle/>
          <a:p>
            <a:r>
              <a:rPr dirty="0"/>
              <a:t>1. Motivation</a:t>
            </a:r>
          </a:p>
          <a:p>
            <a:r>
              <a:rPr dirty="0"/>
              <a:t>2. Research Gap</a:t>
            </a:r>
          </a:p>
          <a:p>
            <a:r>
              <a:rPr dirty="0"/>
              <a:t>3. Objectives</a:t>
            </a:r>
          </a:p>
          <a:p>
            <a:r>
              <a:rPr dirty="0"/>
              <a:t>4. Proposed Framework</a:t>
            </a:r>
          </a:p>
          <a:p>
            <a:r>
              <a:rPr dirty="0"/>
              <a:t>5. System Architecture</a:t>
            </a:r>
          </a:p>
          <a:p>
            <a:r>
              <a:rPr dirty="0"/>
              <a:t>6. Forecasting Models</a:t>
            </a:r>
          </a:p>
          <a:p>
            <a:r>
              <a:rPr dirty="0"/>
              <a:t>7. Dataset &amp; Experimental Setup</a:t>
            </a:r>
          </a:p>
          <a:p>
            <a:r>
              <a:rPr dirty="0"/>
              <a:t>8. Results</a:t>
            </a:r>
          </a:p>
          <a:p>
            <a:r>
              <a:rPr dirty="0"/>
              <a:t>9. Contributions</a:t>
            </a:r>
          </a:p>
          <a:p>
            <a:r>
              <a:rPr dirty="0"/>
              <a:t>10.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dirty="0"/>
              <a:t>Accurate automotive demand forecasting is essential for:</a:t>
            </a:r>
          </a:p>
          <a:p>
            <a:r>
              <a:rPr dirty="0"/>
              <a:t>• Production planning</a:t>
            </a:r>
          </a:p>
          <a:p>
            <a:r>
              <a:rPr dirty="0"/>
              <a:t>• Supply‑chain optimization</a:t>
            </a:r>
          </a:p>
          <a:p>
            <a:r>
              <a:rPr dirty="0"/>
              <a:t>• Policy evaluation</a:t>
            </a:r>
          </a:p>
          <a:p>
            <a:r>
              <a:rPr dirty="0"/>
              <a:t>• Strategic investment</a:t>
            </a:r>
          </a:p>
          <a:p>
            <a:endParaRPr dirty="0"/>
          </a:p>
          <a:p>
            <a:r>
              <a:rPr dirty="0"/>
              <a:t>Traditional models rely mainly on historical numerical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Existing forecasting systems:</a:t>
            </a:r>
          </a:p>
          <a:p>
            <a:r>
              <a:rPr dirty="0"/>
              <a:t>• Use structured numerical data only</a:t>
            </a:r>
          </a:p>
          <a:p>
            <a:r>
              <a:rPr dirty="0"/>
              <a:t>• Ignore policy documents and industry reports</a:t>
            </a:r>
          </a:p>
          <a:p>
            <a:r>
              <a:rPr dirty="0"/>
              <a:t>• Provide limited contextual interpretation</a:t>
            </a:r>
          </a:p>
          <a:p>
            <a:endParaRPr dirty="0"/>
          </a:p>
          <a:p>
            <a:r>
              <a:rPr dirty="0"/>
              <a:t>This creates a gap between prediction models and real-world market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52" y="1600201"/>
            <a:ext cx="8229600" cy="123443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25000" lnSpcReduction="20000"/>
          </a:bodyPr>
          <a:lstStyle/>
          <a:p>
            <a:r>
              <a:rPr dirty="0"/>
              <a:t>Agentic Retrieval‑Augmented Forecasting (ARAF)</a:t>
            </a:r>
          </a:p>
          <a:p>
            <a:endParaRPr dirty="0"/>
          </a:p>
          <a:p>
            <a:r>
              <a:rPr dirty="0"/>
              <a:t>Key Idea:</a:t>
            </a:r>
          </a:p>
          <a:p>
            <a:r>
              <a:rPr dirty="0"/>
              <a:t>• Combine time‑series forecasting</a:t>
            </a:r>
          </a:p>
          <a:p>
            <a:r>
              <a:rPr dirty="0"/>
              <a:t>• Integrate policy and industry document intelligence</a:t>
            </a:r>
          </a:p>
          <a:p>
            <a:r>
              <a:rPr dirty="0"/>
              <a:t>• Use AI agents for reasoning</a:t>
            </a:r>
          </a:p>
          <a:p>
            <a:endParaRPr dirty="0"/>
          </a:p>
          <a:p>
            <a:r>
              <a:rPr dirty="0"/>
              <a:t>Output: Forecast + policy-aware explanation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6E6042-24F9-70E0-B79E-8D4BF0589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4640"/>
            <a:ext cx="6117336" cy="2090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FF68C5-A773-54D1-C01D-35AC07DFB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08" y="4983406"/>
            <a:ext cx="5193792" cy="1874593"/>
          </a:xfrm>
          <a:prstGeom prst="rect">
            <a:avLst/>
          </a:prstGeom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D72701F-816E-46D5-42C5-456991140348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H="1">
            <a:off x="3950208" y="3879738"/>
            <a:ext cx="2167128" cy="2040965"/>
          </a:xfrm>
          <a:prstGeom prst="bentConnector5">
            <a:avLst>
              <a:gd name="adj1" fmla="val -10549"/>
              <a:gd name="adj2" fmla="val 52641"/>
              <a:gd name="adj3" fmla="val 11054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r>
              <a:rPr dirty="0"/>
              <a:t>Framework Modules:</a:t>
            </a:r>
          </a:p>
          <a:p>
            <a:r>
              <a:rPr dirty="0"/>
              <a:t>1. Data Ingestion – datasets &amp; policy reports</a:t>
            </a:r>
          </a:p>
          <a:p>
            <a:r>
              <a:rPr dirty="0"/>
              <a:t>2. Document Processing – chunking &amp; embeddings</a:t>
            </a:r>
          </a:p>
          <a:p>
            <a:r>
              <a:rPr dirty="0"/>
              <a:t>3. Semantic Retrieval – relevant policy context</a:t>
            </a:r>
          </a:p>
          <a:p>
            <a:r>
              <a:rPr dirty="0"/>
              <a:t>4. Agent Processing – forecasting &amp; analysis</a:t>
            </a:r>
          </a:p>
          <a:p>
            <a:endParaRPr dirty="0"/>
          </a:p>
          <a:p>
            <a:r>
              <a:rPr dirty="0"/>
              <a:t>Enables knowledge‑grounded forecasting.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Forecasting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2500"/>
          </a:bodyPr>
          <a:lstStyle/>
          <a:p>
            <a:r>
              <a:rPr dirty="0"/>
              <a:t>Hybrid forecasting strategy:</a:t>
            </a:r>
          </a:p>
          <a:p>
            <a:r>
              <a:rPr dirty="0"/>
              <a:t>• ARIMA / SARIMA – temporal trends &amp; seasonality</a:t>
            </a:r>
          </a:p>
          <a:p>
            <a:r>
              <a:rPr dirty="0"/>
              <a:t>• Additive Model – trend and seasonal effects</a:t>
            </a:r>
          </a:p>
          <a:p>
            <a:r>
              <a:rPr dirty="0"/>
              <a:t>• Gradient Boosting (</a:t>
            </a:r>
            <a:r>
              <a:rPr dirty="0" err="1"/>
              <a:t>XGBoost</a:t>
            </a:r>
            <a:r>
              <a:rPr dirty="0"/>
              <a:t>) – nonlinear patterns</a:t>
            </a:r>
          </a:p>
          <a:p>
            <a:endParaRPr dirty="0"/>
          </a:p>
          <a:p>
            <a:r>
              <a:rPr dirty="0"/>
              <a:t>Hybrid approach improves prediction robustness.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Dataset &amp;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Dataset characteristics:</a:t>
            </a:r>
          </a:p>
          <a:p>
            <a:r>
              <a:rPr dirty="0"/>
              <a:t>• Time span: 2014–2024</a:t>
            </a:r>
          </a:p>
          <a:p>
            <a:r>
              <a:rPr dirty="0"/>
              <a:t>• Observations: 132 monthly data points</a:t>
            </a:r>
          </a:p>
          <a:p>
            <a:r>
              <a:rPr dirty="0"/>
              <a:t>• Policy documents: 148</a:t>
            </a:r>
          </a:p>
          <a:p>
            <a:r>
              <a:rPr dirty="0"/>
              <a:t>• Embedding chunks: 2436</a:t>
            </a:r>
          </a:p>
          <a:p>
            <a:endParaRPr dirty="0"/>
          </a:p>
          <a:p>
            <a:r>
              <a:rPr dirty="0"/>
              <a:t>Forecast horizons: 1, 3, 6, 12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r>
              <a:rPr dirty="0"/>
              <a:t>Model Comparison (MAE):</a:t>
            </a:r>
          </a:p>
          <a:p>
            <a:r>
              <a:rPr dirty="0"/>
              <a:t>• ARIMA: 6425</a:t>
            </a:r>
          </a:p>
          <a:p>
            <a:r>
              <a:rPr dirty="0"/>
              <a:t>• Additive Model: 9152</a:t>
            </a:r>
          </a:p>
          <a:p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: 10112</a:t>
            </a:r>
          </a:p>
          <a:p>
            <a:r>
              <a:rPr dirty="0"/>
              <a:t>• Hybrid Proposed Model: 5982</a:t>
            </a:r>
          </a:p>
          <a:p>
            <a:endParaRPr dirty="0"/>
          </a:p>
          <a:p>
            <a:r>
              <a:rPr dirty="0"/>
              <a:t>Hybrid approach achieved the best forecasting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85000" lnSpcReduction="20000"/>
          </a:bodyPr>
          <a:lstStyle/>
          <a:p>
            <a:r>
              <a:rPr dirty="0"/>
              <a:t>Key Outcomes:</a:t>
            </a:r>
          </a:p>
          <a:p>
            <a:r>
              <a:rPr dirty="0"/>
              <a:t>• Policy‑aware forecasting framework</a:t>
            </a:r>
          </a:p>
          <a:p>
            <a:r>
              <a:rPr dirty="0"/>
              <a:t>• Improved prediction accuracy</a:t>
            </a:r>
          </a:p>
          <a:p>
            <a:r>
              <a:rPr dirty="0"/>
              <a:t>• Interpretable decision‑support insights</a:t>
            </a:r>
          </a:p>
          <a:p>
            <a:endParaRPr dirty="0"/>
          </a:p>
          <a:p>
            <a:r>
              <a:rPr dirty="0"/>
              <a:t>Future Work:</a:t>
            </a:r>
          </a:p>
          <a:p>
            <a:r>
              <a:rPr dirty="0"/>
              <a:t>• Scenario simulation</a:t>
            </a:r>
          </a:p>
          <a:p>
            <a:r>
              <a:rPr dirty="0"/>
              <a:t>• Cross‑industry forecasting</a:t>
            </a:r>
          </a:p>
          <a:p>
            <a:endParaRPr dirty="0"/>
          </a:p>
          <a:p>
            <a:r>
              <a:rPr dirty="0"/>
              <a:t>Thank You – 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3A32F-332F-D415-7574-9E070C9A2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418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24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7E690E-00AE-64C4-902B-1A2F5E105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90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7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E382F5-980D-74CF-D8AB-DC3E37AF7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0"/>
            <a:ext cx="72193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41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AE6569-9F24-694B-9176-74EA17325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0"/>
            <a:ext cx="7022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82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BC112-999E-556C-2246-ACAE4D1AE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51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64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379</Words>
  <Application>Microsoft Office PowerPoint</Application>
  <PresentationFormat>On-screen Show (4:3)</PresentationFormat>
  <Paragraphs>82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An Agentic Retrieval‑Augmented Forecasting Framework for India’s Automotive Market:Integrating Multi-Document Intelligence, Policy Analysis, and Time-Series Modelling</vt:lpstr>
      <vt:lpstr>Presentation Outline</vt:lpstr>
      <vt:lpstr>Motivation</vt:lpstr>
      <vt:lpstr>Research Gap</vt:lpstr>
      <vt:lpstr>Proposed Solution</vt:lpstr>
      <vt:lpstr>System Architecture</vt:lpstr>
      <vt:lpstr>Forecasting Models</vt:lpstr>
      <vt:lpstr>Dataset &amp; Experimental Setup</vt:lpstr>
      <vt:lpstr>Results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Ravikanth Amajala</dc:creator>
  <cp:keywords/>
  <dc:description>generated using python-pptx</dc:description>
  <cp:lastModifiedBy>Ravikanth Amajala</cp:lastModifiedBy>
  <cp:revision>5</cp:revision>
  <dcterms:created xsi:type="dcterms:W3CDTF">2013-01-27T09:14:16Z</dcterms:created>
  <dcterms:modified xsi:type="dcterms:W3CDTF">2026-05-08T16:34:20Z</dcterms:modified>
  <cp:category/>
</cp:coreProperties>
</file>