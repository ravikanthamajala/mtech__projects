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1" r:id="rId4"/>
    <p:sldId id="278" r:id="rId5"/>
    <p:sldId id="279" r:id="rId6"/>
    <p:sldId id="259" r:id="rId7"/>
    <p:sldId id="280" r:id="rId8"/>
    <p:sldId id="281" r:id="rId9"/>
    <p:sldId id="282" r:id="rId10"/>
    <p:sldId id="272" r:id="rId11"/>
    <p:sldId id="273" r:id="rId12"/>
    <p:sldId id="274" r:id="rId13"/>
    <p:sldId id="283" r:id="rId14"/>
    <p:sldId id="284" r:id="rId15"/>
    <p:sldId id="285" r:id="rId16"/>
    <p:sldId id="275" r:id="rId17"/>
    <p:sldId id="286" r:id="rId18"/>
    <p:sldId id="287" r:id="rId19"/>
    <p:sldId id="276" r:id="rId20"/>
    <p:sldId id="288" r:id="rId21"/>
    <p:sldId id="277" r:id="rId22"/>
    <p:sldId id="270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j2/hhuwKmITLi34coKuV9gvvc1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6EE30B-C028-4789-B6E4-0BFFCBE8230D}">
  <a:tblStyle styleId="{DD6EE30B-C028-4789-B6E4-0BFFCBE8230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2" d="100"/>
          <a:sy n="112" d="100"/>
        </p:scale>
        <p:origin x="1584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3141242-6113-4B82-1A9D-FC8858820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DCF070D-E8E7-A5DC-A4AB-8001947A7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EB3E5BC-CB63-B4D0-0A1A-655C42A98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AF7DC1F7-3CA3-823D-9D99-9CED0E6C41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3231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D1DB9E14-A9E9-344C-45CB-0E9B3BD9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DDDD368B-8B70-22EA-3F02-09F72CC7DE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2FD7888-28AB-DC43-08B1-D9B685140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6F3AC37-5D6D-BC7B-2250-9550337EA7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791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FC8215E8-5156-DB41-E4CB-16DD9B4D3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C57F5DC-FF71-668C-796A-4924622D3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074CD829-59C3-623F-B3CC-728EF009D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978558A-4BD9-D9B7-3D2E-1D22D79C1F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673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 a tabular format, brief 5 references, which are closely related to your work. Citations and references should be in IEEE format</a:t>
            </a:r>
            <a:endParaRPr/>
          </a:p>
        </p:txBody>
      </p:sp>
      <p:sp>
        <p:nvSpPr>
          <p:cNvPr id="106" name="Google Shape;1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8EE7D36-433F-477E-5F2C-349938BE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6115972-7B87-553D-48CD-2FBDC618C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C8AFC3E9-F338-C302-630A-051E0C7D9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 a tabular format, brief 5 references, which are closely related to your work. Citations and references should be in IEEE format</a:t>
            </a: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CD63A9EA-C101-B957-7116-C347A8E260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3194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02D14D2-D877-5DFC-6229-C13569DAD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4C6517D-E7E1-D67F-7145-84209C79F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3258BFD7-DE72-6E88-8B1D-C808ACD90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 a tabular format, brief 5 references, which are closely related to your work. Citations and references should be in IEEE format</a:t>
            </a: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BFBFA501-8D01-389C-4423-193CC408BC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7593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D5B5EBE-3B47-28F7-7FF0-CAFADFFB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6FE38CA2-E4D6-4BFF-AC2C-42FED3D01D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A37B1E2A-9098-091B-AF0C-EB8D7C034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 a tabular format, brief 5 references, which are closely related to your work. Citations and references should be in IEEE format</a:t>
            </a:r>
            <a:endParaRPr/>
          </a:p>
        </p:txBody>
      </p:sp>
      <p:sp>
        <p:nvSpPr>
          <p:cNvPr id="106" name="Google Shape;106;p4:notes">
            <a:extLst>
              <a:ext uri="{FF2B5EF4-FFF2-40B4-BE49-F238E27FC236}">
                <a16:creationId xmlns:a16="http://schemas.microsoft.com/office/drawing/2014/main" id="{9E884627-A6D8-49A7-0A21-EEDDC68A75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7470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2FE6CD2A-44DA-A9E2-67D7-C0E7AE25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927A97C-5363-ECD3-2FF9-55EAECAB7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8F91B2F-824A-09A6-B556-CE83A8B5D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5E11887B-C726-ADD5-D376-42080E9C94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2504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CE125C1-4E1C-3B2F-2556-5D90882B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591F60D-7455-74CC-1FCC-E343D7290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C833598-B9D3-B3FC-6BCD-06818AB2D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4E230B8-5771-3B59-3DCD-7BF3073F9E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533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A5E1DB5B-E64D-B2AE-C770-CAF76F94D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6A883315-9C2F-CF2A-A4C5-121CC0F7F7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63815E92-C01D-C198-D5F0-6A0C01FE93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15F529B2-95D9-A400-0976-E2A487774F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6476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6B867410-41A4-3086-BDE2-AF23389F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986826A-D4A8-67CB-3D39-7EC0FBD5C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A0B07B5C-70AA-66E5-4A48-DBBC85D032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C9B5139A-2700-3D39-F353-949C5CFD61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9587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E2CB53C5-C186-4910-4F5A-D345A4961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B98F390-5749-373B-BDB4-AE53A0356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6273958-D27E-B9AC-7F1C-81F599ABB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C8B25037-6495-01E4-CA8E-625560734D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7138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ACBDE050-BF4E-1BD2-3461-AE899DB1D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41CC8A9B-4500-5D0E-3276-36C143D17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20B123BC-56C3-CD2D-A5C1-D989D3DB0F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FF11D122-0031-7CEF-6EAB-2884B94AD6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11356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76554D52-9AC1-CDA4-51A4-5DFC48BE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5A07E19D-1256-3AFE-649B-26AC6834B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4E69A26F-5049-2AE7-06AF-C9D6DF387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3FFC8089-6A0F-3A4B-0920-EA99E52300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31808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E3CAA04-6EF4-B341-C9F5-A8D40F85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AB60B2B-873A-36EF-B31E-0237B24273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E8EAB068-0C50-D8CB-01D1-26B822D09B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088F328D-6D5E-45F1-F8C7-57CB58C971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0472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53FEBC00-2437-ACEC-EEE9-603F8C97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9EE0DBFE-5CE0-7588-6502-95DF6F214A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27A5B2C-6F1A-CCB7-EC4C-873C93D37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86D7E9A5-F059-37A9-59B8-2832FFB4B5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581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993B6974-D5B6-758F-384A-D1B59B60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AC259B4A-6EC9-5499-5DE6-80C075644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3C170C0A-CFB3-061B-DBD3-6D5826EBAF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741EC8CD-AE29-53A9-F29C-EBF22BC219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05332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88F8FF98-06ED-6DF4-8CD1-59F57147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0B7CC4FD-A3DE-4E5D-B6F5-EB09369D3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F93E6266-DBD9-70C3-8B32-061D4A4DE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2B0A8AB9-07ED-5811-DA27-1984E79A89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3805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>
          <a:extLst>
            <a:ext uri="{FF2B5EF4-FFF2-40B4-BE49-F238E27FC236}">
              <a16:creationId xmlns:a16="http://schemas.microsoft.com/office/drawing/2014/main" id="{080AEAE2-4817-25BF-A3BF-1C6F0CE1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>
            <a:extLst>
              <a:ext uri="{FF2B5EF4-FFF2-40B4-BE49-F238E27FC236}">
                <a16:creationId xmlns:a16="http://schemas.microsoft.com/office/drawing/2014/main" id="{23F378D7-1B20-16A4-EEC6-05BA333115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2:notes">
            <a:extLst>
              <a:ext uri="{FF2B5EF4-FFF2-40B4-BE49-F238E27FC236}">
                <a16:creationId xmlns:a16="http://schemas.microsoft.com/office/drawing/2014/main" id="{5A65F386-6A5D-06AC-4E71-EE4222D11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Depict your overall work abstract as a diagram</a:t>
            </a:r>
            <a:endParaRPr/>
          </a:p>
        </p:txBody>
      </p:sp>
      <p:sp>
        <p:nvSpPr>
          <p:cNvPr id="92" name="Google Shape;92;p2:notes">
            <a:extLst>
              <a:ext uri="{FF2B5EF4-FFF2-40B4-BE49-F238E27FC236}">
                <a16:creationId xmlns:a16="http://schemas.microsoft.com/office/drawing/2014/main" id="{3035E3D1-51C7-A3A2-DB37-9E07176D032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37141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6457C73C-7C3F-2B42-E49E-A002BBC43DE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411914" y="92267"/>
            <a:ext cx="1638301" cy="71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06FD8DB1-11F1-9800-4CBB-E817EA3F428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>
            <a:spLocks noGrp="1"/>
          </p:cNvSpPr>
          <p:nvPr>
            <p:ph type="ctrTitle"/>
          </p:nvPr>
        </p:nvSpPr>
        <p:spPr>
          <a:xfrm>
            <a:off x="685800" y="943198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4000" dirty="0"/>
              <a:t>CHINA'S AUTOMOTIVE DOMINANCE: STRATEGIC ANALYSIS FOR INDIAN OEMs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2D586A8-E175-E5C0-5351-A24779E43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769219"/>
              </p:ext>
            </p:extLst>
          </p:nvPr>
        </p:nvGraphicFramePr>
        <p:xfrm>
          <a:off x="1728216" y="2615978"/>
          <a:ext cx="6729984" cy="1828800"/>
        </p:xfrm>
        <a:graphic>
          <a:graphicData uri="http://schemas.openxmlformats.org/drawingml/2006/table">
            <a:tbl>
              <a:tblPr/>
              <a:tblGrid>
                <a:gridCol w="3364992">
                  <a:extLst>
                    <a:ext uri="{9D8B030D-6E8A-4147-A177-3AD203B41FA5}">
                      <a16:colId xmlns:a16="http://schemas.microsoft.com/office/drawing/2014/main" val="2231367775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1119894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Student Name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Ravikanth Amajala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58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Registration No.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RA2412044015067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01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Guided by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Dr. K. Venkatesh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418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Review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Review - 1 (First Review)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989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Date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Feb 01, 2026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388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1.Abstract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B54AB-CC32-41B6-F001-C7DA233C8E86}"/>
              </a:ext>
            </a:extLst>
          </p:cNvPr>
          <p:cNvSpPr txBox="1"/>
          <p:nvPr/>
        </p:nvSpPr>
        <p:spPr>
          <a:xfrm>
            <a:off x="0" y="735000"/>
            <a:ext cx="91440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built:</a:t>
            </a:r>
          </a:p>
          <a:p>
            <a:r>
              <a:rPr lang="en-IN" dirty="0"/>
              <a:t>AI-powered forecasting system for India's automotive market </a:t>
            </a:r>
          </a:p>
          <a:p>
            <a:r>
              <a:rPr lang="en-IN" dirty="0" err="1"/>
              <a:t>Analyzes</a:t>
            </a:r>
            <a:r>
              <a:rPr lang="en-IN" dirty="0"/>
              <a:t> why China dominates globally and how India can compete</a:t>
            </a:r>
          </a:p>
          <a:p>
            <a:r>
              <a:rPr lang="en-IN" dirty="0"/>
              <a:t>Uses machine learning + policy document analysis</a:t>
            </a:r>
            <a:br>
              <a:rPr lang="en-IN" dirty="0"/>
            </a:br>
            <a:endParaRPr lang="en-IN" dirty="0"/>
          </a:p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Upload Excel/PDF files with market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Model forecasts car sales for next few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Extracts insights from policy documents using RAG (Retrieval-Augmented Generation)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strategic recommendations for Indian OEMs</a:t>
            </a:r>
          </a:p>
          <a:p>
            <a:endParaRPr lang="en-IN" dirty="0"/>
          </a:p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Technology Stack:</a:t>
            </a:r>
          </a:p>
          <a:p>
            <a:r>
              <a:rPr lang="en-IN" dirty="0"/>
              <a:t>Backend: Python Flask + MongoDB</a:t>
            </a:r>
          </a:p>
          <a:p>
            <a:r>
              <a:rPr lang="en-IN" dirty="0"/>
              <a:t>Frontend: Next.js (React)</a:t>
            </a:r>
          </a:p>
          <a:p>
            <a:r>
              <a:rPr lang="en-IN" dirty="0"/>
              <a:t>AI Models: ARIMA, </a:t>
            </a:r>
            <a:r>
              <a:rPr lang="en-IN" dirty="0" err="1"/>
              <a:t>XGBoost</a:t>
            </a:r>
            <a:r>
              <a:rPr lang="en-IN" dirty="0"/>
              <a:t>, Prophet (ensemble)</a:t>
            </a:r>
          </a:p>
          <a:p>
            <a:r>
              <a:rPr lang="en-IN" dirty="0"/>
              <a:t>Document Intelligence: RAG with vector search</a:t>
            </a:r>
          </a:p>
          <a:p>
            <a:endParaRPr lang="en-IN" dirty="0"/>
          </a:p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Expected Outcome:</a:t>
            </a:r>
          </a:p>
          <a:p>
            <a:r>
              <a:rPr lang="en-IN" dirty="0"/>
              <a:t>Help Indian automotive companies understand market trends</a:t>
            </a:r>
          </a:p>
          <a:p>
            <a:r>
              <a:rPr lang="en-IN" dirty="0"/>
              <a:t>Identify gaps vs China's strategy</a:t>
            </a:r>
          </a:p>
          <a:p>
            <a:r>
              <a:rPr lang="en-IN" dirty="0"/>
              <a:t>Data-driven decision making for future targets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03BEE152-D269-357D-E861-E64DF7BA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E3E2D957-BEFE-4904-9C4E-8A995EAF342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2. Introduction to the Project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CA4FA-4B9E-7E80-F8B9-528A0405EC93}"/>
              </a:ext>
            </a:extLst>
          </p:cNvPr>
          <p:cNvSpPr txBox="1"/>
          <p:nvPr/>
        </p:nvSpPr>
        <p:spPr>
          <a:xfrm>
            <a:off x="0" y="992220"/>
            <a:ext cx="91440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Current Situation:</a:t>
            </a:r>
          </a:p>
          <a:p>
            <a:r>
              <a:rPr lang="en-US" dirty="0"/>
              <a:t>China produces 27 million vehicles/year (30% global share)</a:t>
            </a:r>
          </a:p>
          <a:p>
            <a:r>
              <a:rPr lang="en-US" dirty="0"/>
              <a:t>India produces 5 million vehicles/year (struggling to scale)</a:t>
            </a:r>
          </a:p>
          <a:p>
            <a:r>
              <a:rPr lang="en-US" dirty="0"/>
              <a:t>China leads in EV adoption: 60% of global EV sales</a:t>
            </a:r>
          </a:p>
          <a:p>
            <a:r>
              <a:rPr lang="en-US" dirty="0"/>
              <a:t>India's EV market: Only 2-3% penetration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Why This Matters:</a:t>
            </a:r>
            <a:endParaRPr lang="en-US" dirty="0"/>
          </a:p>
          <a:p>
            <a:r>
              <a:rPr lang="en-US" dirty="0"/>
              <a:t>Indian OEMs losing competitive edge</a:t>
            </a:r>
          </a:p>
          <a:p>
            <a:r>
              <a:rPr lang="en-US" dirty="0"/>
              <a:t>Lack of data-driven strategic planning tools</a:t>
            </a:r>
          </a:p>
          <a:p>
            <a:r>
              <a:rPr lang="en-US" dirty="0"/>
              <a:t>Policy decisions made without predictive insights</a:t>
            </a:r>
          </a:p>
          <a:p>
            <a:r>
              <a:rPr lang="en-US" dirty="0"/>
              <a:t>Need to understand China's success formula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Our Solution:</a:t>
            </a:r>
            <a:endParaRPr lang="en-US" dirty="0"/>
          </a:p>
          <a:p>
            <a:r>
              <a:rPr lang="en-US" dirty="0"/>
              <a:t>AI system that analyzes historical data from multiple sources</a:t>
            </a:r>
          </a:p>
          <a:p>
            <a:r>
              <a:rPr lang="en-US" dirty="0"/>
              <a:t>Forecasts future market trends</a:t>
            </a:r>
          </a:p>
          <a:p>
            <a:r>
              <a:rPr lang="en-US" dirty="0"/>
              <a:t>Extracts policy insights from government/industry documents</a:t>
            </a:r>
          </a:p>
          <a:p>
            <a:r>
              <a:rPr lang="en-US" dirty="0"/>
              <a:t>Provides actionable recommendations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Research Gap:</a:t>
            </a:r>
          </a:p>
          <a:p>
            <a:endParaRPr lang="en-US" dirty="0"/>
          </a:p>
          <a:p>
            <a:r>
              <a:rPr lang="en-US" dirty="0"/>
              <a:t>No existing tool combines forecasting + policy analysis + strategic guidance</a:t>
            </a:r>
          </a:p>
          <a:p>
            <a:r>
              <a:rPr lang="en-US" dirty="0"/>
              <a:t>Traditional methods use Excel spreadsheets (not scalable)</a:t>
            </a:r>
          </a:p>
          <a:p>
            <a:r>
              <a:rPr lang="en-US" dirty="0"/>
              <a:t>Our system automates multi-document analysis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1073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CC2D2B9-D331-5F28-9DC5-511DFE498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A00FFC89-FE4F-99C6-3A54-54820A379A4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3. Motivation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6696D-7ABC-BFE7-7D7C-A9032E6B6649}"/>
              </a:ext>
            </a:extLst>
          </p:cNvPr>
          <p:cNvSpPr txBox="1"/>
          <p:nvPr/>
        </p:nvSpPr>
        <p:spPr>
          <a:xfrm>
            <a:off x="0" y="855060"/>
            <a:ext cx="914400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Industry Pain Points:</a:t>
            </a: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Data Fragmentation</a:t>
            </a:r>
          </a:p>
          <a:p>
            <a:pPr lvl="1"/>
            <a:r>
              <a:rPr lang="en-IN" dirty="0"/>
              <a:t>Sales data scattered across PDFs, Excel files</a:t>
            </a:r>
          </a:p>
          <a:p>
            <a:pPr lvl="1"/>
            <a:r>
              <a:rPr lang="en-IN" dirty="0"/>
              <a:t>No centralized analysis platform</a:t>
            </a:r>
          </a:p>
          <a:p>
            <a:pPr lvl="1"/>
            <a:endParaRPr lang="en-IN" dirty="0"/>
          </a:p>
          <a:p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Manual Forecasting</a:t>
            </a:r>
          </a:p>
          <a:p>
            <a:pPr lvl="1"/>
            <a:r>
              <a:rPr lang="en-IN" dirty="0"/>
              <a:t>Analysts spend weeks on Excel models</a:t>
            </a:r>
          </a:p>
          <a:p>
            <a:pPr lvl="1"/>
            <a:r>
              <a:rPr lang="en-IN" dirty="0"/>
              <a:t>Prone to human error</a:t>
            </a:r>
          </a:p>
          <a:p>
            <a:pPr lvl="1"/>
            <a:r>
              <a:rPr lang="en-IN" dirty="0"/>
              <a:t>Can't handle large datasets</a:t>
            </a:r>
          </a:p>
          <a:p>
            <a:pPr lvl="1"/>
            <a:endParaRPr lang="en-IN" dirty="0"/>
          </a:p>
          <a:p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Policy </a:t>
            </a:r>
            <a:r>
              <a:rPr lang="en-IN" sz="2000" b="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Blindspots</a:t>
            </a:r>
            <a:endParaRPr lang="en-IN"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IN"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IN" dirty="0"/>
              <a:t>1000+ page policy documents hard to </a:t>
            </a:r>
            <a:r>
              <a:rPr lang="en-IN" dirty="0" err="1"/>
              <a:t>analyze</a:t>
            </a:r>
            <a:endParaRPr lang="en-IN" dirty="0"/>
          </a:p>
          <a:p>
            <a:pPr lvl="1"/>
            <a:r>
              <a:rPr lang="en-IN" dirty="0"/>
              <a:t>Key insights buried in text</a:t>
            </a:r>
          </a:p>
          <a:p>
            <a:pPr lvl="1"/>
            <a:r>
              <a:rPr lang="en-IN" dirty="0"/>
              <a:t>No way to correlate policy → market impact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Competitive Intelligence Gap</a:t>
            </a:r>
          </a:p>
          <a:p>
            <a:endParaRPr lang="en-IN"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IN" dirty="0"/>
              <a:t>Indian OEMs don't understand China's playbook</a:t>
            </a:r>
          </a:p>
          <a:p>
            <a:pPr lvl="1"/>
            <a:r>
              <a:rPr lang="en-IN" dirty="0"/>
              <a:t>Lack comparative analysis tools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3075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3B90E020-84A8-9824-FAC1-2099F796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482070-4709-5575-85E6-BF9B887EF607}"/>
              </a:ext>
            </a:extLst>
          </p:cNvPr>
          <p:cNvSpPr txBox="1"/>
          <p:nvPr/>
        </p:nvSpPr>
        <p:spPr>
          <a:xfrm>
            <a:off x="0" y="617316"/>
            <a:ext cx="9144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Personal Motivation:</a:t>
            </a:r>
          </a:p>
          <a:p>
            <a:endParaRPr lang="en-IN" sz="2400" dirty="0"/>
          </a:p>
          <a:p>
            <a:r>
              <a:rPr lang="en-IN" dirty="0"/>
              <a:t>India has potential to become automotive hub</a:t>
            </a:r>
          </a:p>
          <a:p>
            <a:r>
              <a:rPr lang="en-IN" dirty="0"/>
              <a:t>Need tech-enabled solutions for Industry 4.0</a:t>
            </a:r>
          </a:p>
          <a:p>
            <a:r>
              <a:rPr lang="en-IN" dirty="0"/>
              <a:t>Opportunity to apply AI/ML to real-world problem</a:t>
            </a:r>
          </a:p>
          <a:p>
            <a:endParaRPr lang="en-IN" sz="2400" dirty="0"/>
          </a:p>
          <a:p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Project Vision:</a:t>
            </a:r>
          </a:p>
          <a:p>
            <a:endParaRPr lang="en-IN"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IN" dirty="0"/>
              <a:t>Democratize strategic insights for Indian automotive industry</a:t>
            </a:r>
          </a:p>
          <a:p>
            <a:r>
              <a:rPr lang="en-IN" dirty="0"/>
              <a:t>Bridge gap between data science and business strategy</a:t>
            </a:r>
          </a:p>
          <a:p>
            <a:r>
              <a:rPr lang="en-IN" dirty="0"/>
              <a:t>Enable faster, smarter decision-making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39776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/>
              <a:t>4.Literature Review</a:t>
            </a:r>
            <a:endParaRPr dirty="0"/>
          </a:p>
        </p:txBody>
      </p:sp>
      <p:graphicFrame>
        <p:nvGraphicFramePr>
          <p:cNvPr id="109" name="Google Shape;109;p4"/>
          <p:cNvGraphicFramePr/>
          <p:nvPr>
            <p:extLst>
              <p:ext uri="{D42A27DB-BD31-4B8C-83A1-F6EECF244321}">
                <p14:modId xmlns:p14="http://schemas.microsoft.com/office/powerpoint/2010/main" val="961208787"/>
              </p:ext>
            </p:extLst>
          </p:nvPr>
        </p:nvGraphicFramePr>
        <p:xfrm>
          <a:off x="0" y="992686"/>
          <a:ext cx="9144000" cy="6164715"/>
        </p:xfrm>
        <a:graphic>
          <a:graphicData uri="http://schemas.openxmlformats.org/drawingml/2006/table">
            <a:tbl>
              <a:tblPr firstRow="1" bandRow="1">
                <a:noFill/>
                <a:tableStyleId>{DD6EE30B-C028-4789-B6E4-0BFFCBE8230D}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2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strike="noStrike" cap="none" dirty="0"/>
                        <a:t>Title of the Paper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Journal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err="1"/>
                        <a:t>DataSet</a:t>
                      </a:r>
                      <a:r>
                        <a:rPr lang="en-IN" sz="1100" dirty="0"/>
                        <a:t> Used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Contributions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Other Observations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ARIMA Models for Sales Forecasting in Automotive Industry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International Journal of Production Economics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(Scopus Q1)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BMW sales data (2010-2020), 120 months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ARIMA (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p,d,q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) parameter optimization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Seasonal decomposition (m=12)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Accuracy: R² = 0.78, MAPE = 12%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Limited to linear trends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Fails with structural breaks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 feature engineering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XGBoost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for Time-Series Prediction: A Comparative Study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IEEE Transactions on Neural Networks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(2021)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Stock prices, weather data, retail sales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Gradient boosting for non-linear patterns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Lag features (1,3,6,12 steps)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R² = 0.85 on complex datasets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Requires extensive feature engineering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Prone to overfitting without validation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 built-in seasonality handling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Ensemble Forecasting Methods: Review and Applications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Journal of Forecasting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(Wiley, 2022)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M4 competition dataset (100k time series)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Weighted averaging reduces RMSE by 18%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Diversity in models improves robustness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Walk-forward validation critical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 automotive-specific case study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Doesn't address data quality issues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Computational cost high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IN"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402F398-1355-3FA2-3A18-DF90A61B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4">
            <a:extLst>
              <a:ext uri="{FF2B5EF4-FFF2-40B4-BE49-F238E27FC236}">
                <a16:creationId xmlns:a16="http://schemas.microsoft.com/office/drawing/2014/main" id="{B5246588-B679-3693-D0EA-F780EDC86F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5957965"/>
              </p:ext>
            </p:extLst>
          </p:nvPr>
        </p:nvGraphicFramePr>
        <p:xfrm>
          <a:off x="0" y="647896"/>
          <a:ext cx="9144000" cy="6210104"/>
        </p:xfrm>
        <a:graphic>
          <a:graphicData uri="http://schemas.openxmlformats.org/drawingml/2006/table">
            <a:tbl>
              <a:tblPr firstRow="1" bandRow="1">
                <a:noFill/>
                <a:tableStyleId>{DD6EE30B-C028-4789-B6E4-0BFFCBE8230D}</a:tableStyleId>
              </a:tblPr>
              <a:tblGrid>
                <a:gridCol w="1670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915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strike="noStrike" cap="none" dirty="0"/>
                        <a:t>Title of the Paper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Journal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err="1"/>
                        <a:t>DataSet</a:t>
                      </a:r>
                      <a:r>
                        <a:rPr lang="en-IN" sz="1100" dirty="0"/>
                        <a:t> Used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Contributions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Other Observations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6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China's Electric Vehicle Policy and Market Development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Energy Policy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(Elsevier, 2023)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China NEV sales 2009-2022, policy documents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$60B subsidy impact quantified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NEV mandate drove 300% EV growth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Localization reduced costs by 40%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Policy analysis only (no forecasting)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 comparison with India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Qualitative methodology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6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RAG for Document Intelligence: A Survey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ACL (Association for Computational Linguistics)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(2023)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Wikipedia, legal docs, medical records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Chunking strategy (500-1000 tokens optimal)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Vector embeddings (OpenAI, BERT)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85% accuracy in answer extraction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Not applied to policy documents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 multi-hop reasoning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Domain-specific tuning needed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8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MongoDB Vector Search for Large-Scale Retrieval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VLDB (Very Large Data Bases)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(2024)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10M document corpus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Cosine similarity for semantic search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Sub-second retrieval (k=10)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Scales to billion-vector collections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Generic implementation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 automotive use case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Requires index tuning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IN"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818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31116B2-367F-FFF1-C590-30B73C08A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4">
            <a:extLst>
              <a:ext uri="{FF2B5EF4-FFF2-40B4-BE49-F238E27FC236}">
                <a16:creationId xmlns:a16="http://schemas.microsoft.com/office/drawing/2014/main" id="{5DF8C86F-EE0D-781A-3332-FA53DFB0C8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751551"/>
              </p:ext>
            </p:extLst>
          </p:nvPr>
        </p:nvGraphicFramePr>
        <p:xfrm>
          <a:off x="0" y="647896"/>
          <a:ext cx="9144000" cy="6636824"/>
        </p:xfrm>
        <a:graphic>
          <a:graphicData uri="http://schemas.openxmlformats.org/drawingml/2006/table">
            <a:tbl>
              <a:tblPr firstRow="1" bandRow="1">
                <a:noFill/>
                <a:tableStyleId>{DD6EE30B-C028-4789-B6E4-0BFFCBE8230D}</a:tableStyleId>
              </a:tblPr>
              <a:tblGrid>
                <a:gridCol w="1670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915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strike="noStrike" cap="none" dirty="0"/>
                        <a:t>Title of the Paper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Journal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err="1"/>
                        <a:t>DataSet</a:t>
                      </a:r>
                      <a:r>
                        <a:rPr lang="en-IN" sz="1100" dirty="0"/>
                        <a:t> Used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Contributions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Other Observations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6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Prophet: Forecasting at Scale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1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PeerJ</a:t>
                      </a:r>
                      <a:r>
                        <a:rPr lang="en-IN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Computer Science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(Facebook AI, 2018)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Facebook user growth, retail data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Trend + seasonality decomposition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Handles holidays, outliers automatically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Fast (seconds for years of data)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Struggles with short time series (&lt;2 years)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Limited to additive/multiplicative models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 external feature support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6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Walk-Forward Validation for Financial Time Series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Journal of Machine Learning Research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(2020)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S&amp;P 500, forex data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Prevents look-ahead bias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Realistic out-of-sample performance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30% improvement over static train/test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Computationally expensive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Not common in automotive research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Requires rolling window implementation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8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SHAP Values for Model Explainability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1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NeurIPS</a:t>
                      </a:r>
                      <a:r>
                        <a:rPr lang="en-IN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(Neural Information Processing Systems)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(2017)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ImageNet, structured datasets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TreeSHAP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for gradient boosting models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Game-theoretic feature attribution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Identifies key predictors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Slow for large datasets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Not widely used in time-series• Requires trained model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IN"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863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56B502-65D3-F271-6C92-CF1B63AE4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Google Shape;109;p4">
            <a:extLst>
              <a:ext uri="{FF2B5EF4-FFF2-40B4-BE49-F238E27FC236}">
                <a16:creationId xmlns:a16="http://schemas.microsoft.com/office/drawing/2014/main" id="{F1B9FD26-5B2E-BF9C-294F-709C7DD4AE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1417168"/>
              </p:ext>
            </p:extLst>
          </p:nvPr>
        </p:nvGraphicFramePr>
        <p:xfrm>
          <a:off x="0" y="647896"/>
          <a:ext cx="9144000" cy="6423464"/>
        </p:xfrm>
        <a:graphic>
          <a:graphicData uri="http://schemas.openxmlformats.org/drawingml/2006/table">
            <a:tbl>
              <a:tblPr firstRow="1" bandRow="1">
                <a:noFill/>
                <a:tableStyleId>{DD6EE30B-C028-4789-B6E4-0BFFCBE8230D}</a:tableStyleId>
              </a:tblPr>
              <a:tblGrid>
                <a:gridCol w="1670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8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915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u="none" strike="noStrike" cap="none" dirty="0"/>
                        <a:t>Title of the Paper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Journal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 err="1"/>
                        <a:t>DataSet</a:t>
                      </a:r>
                      <a:r>
                        <a:rPr lang="en-IN" sz="1100" dirty="0"/>
                        <a:t> Used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Contributions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dirty="0"/>
                        <a:t>Other Observations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6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India's Automotive Industry Outlook 2030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NITI Aayog Report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(Government of India, 2023)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Industry surveys, production data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• Target: 30% EV sales by 2030&lt;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$3B allocated for subsidies&lt;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Infrastructure gaps identified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 predictive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modeling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&lt;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Qualitative scenarios only&lt;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Limited China comparison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6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Data Quality Assessment in Machine Learning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ACM Computing Surveys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(2022)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UCI ML repository, Kaggle datasets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Quality dimensions: completeness, consistency, accuracy&lt;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Automated scoring framework&lt;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0.7+ quality threshold for reliable models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 automotive-specific metrics&lt;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Doesn't handle missing dates&lt;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Generic preprocessing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8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Multi-Hop Reasoning in Question Answering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EMNLP (Empirical Methods in NLP)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 (2023)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HotpotQA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,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SQuAD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2.0 datasets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Iterative retrieval improves accuracy by 22%&lt;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Graph-based context linking&lt;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Handles complex queries</a:t>
                      </a:r>
                      <a:endParaRPr sz="11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• Not applied to policy documents&lt;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Requires labeled training data&lt;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&gt;• Computational overhead</a:t>
                      </a:r>
                      <a:endParaRPr sz="11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IN"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100" b="0" i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2546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34B5BF4-0A17-D1BA-6738-C61129477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3C9BC7EE-9C4E-099F-7070-3370BDF7631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5. Challenges And Limitations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5AA4D-CEAA-1A27-396B-65680CC0231B}"/>
              </a:ext>
            </a:extLst>
          </p:cNvPr>
          <p:cNvSpPr txBox="1"/>
          <p:nvPr/>
        </p:nvSpPr>
        <p:spPr>
          <a:xfrm>
            <a:off x="0" y="781050"/>
            <a:ext cx="9077325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Technical Challenges:</a:t>
            </a:r>
          </a:p>
          <a:p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US" b="1" dirty="0"/>
              <a:t>Data Quality Issues</a:t>
            </a:r>
          </a:p>
          <a:p>
            <a:pPr lvl="1"/>
            <a:r>
              <a:rPr lang="en-US" dirty="0"/>
              <a:t>PDFs had scanned images (not text) → used OCR</a:t>
            </a:r>
          </a:p>
          <a:p>
            <a:pPr lvl="1"/>
            <a:r>
              <a:rPr lang="en-US" dirty="0"/>
              <a:t>Excel files had merged cells, inconsistent formats</a:t>
            </a:r>
          </a:p>
          <a:p>
            <a:pPr lvl="1"/>
            <a:r>
              <a:rPr lang="en-US" dirty="0"/>
              <a:t>Missing dates, gaps in time series</a:t>
            </a:r>
          </a:p>
          <a:p>
            <a:pPr lvl="1"/>
            <a:r>
              <a:rPr lang="en-US" dirty="0"/>
              <a:t>Solution: Built robust data cleaning pipeline</a:t>
            </a:r>
          </a:p>
          <a:p>
            <a:pPr lvl="1"/>
            <a:endParaRPr lang="en-US" dirty="0"/>
          </a:p>
          <a:p>
            <a:r>
              <a:rPr lang="en-US" b="1" dirty="0"/>
              <a:t>Forecast Accuracy Problems (Initial)</a:t>
            </a:r>
          </a:p>
          <a:p>
            <a:endParaRPr lang="en-US" dirty="0"/>
          </a:p>
          <a:p>
            <a:pPr lvl="1"/>
            <a:r>
              <a:rPr lang="en-US" dirty="0"/>
              <a:t>First models gave negative R² scores (worse than random guessing)</a:t>
            </a:r>
          </a:p>
          <a:p>
            <a:pPr lvl="1"/>
            <a:r>
              <a:rPr lang="en-US" dirty="0"/>
              <a:t>Zero forecasts for 2029-2030</a:t>
            </a:r>
          </a:p>
          <a:p>
            <a:pPr lvl="1"/>
            <a:r>
              <a:rPr lang="en-US" b="1" dirty="0"/>
              <a:t>Root Cause:</a:t>
            </a:r>
            <a:r>
              <a:rPr lang="en-US" dirty="0"/>
              <a:t> Poor feature engineering, data leakage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 Implemented walk-forward validation, 30+ engineered features</a:t>
            </a:r>
          </a:p>
          <a:p>
            <a:pPr lvl="1"/>
            <a:endParaRPr lang="en-US" dirty="0"/>
          </a:p>
          <a:p>
            <a:r>
              <a:rPr lang="en-US" b="1" dirty="0"/>
              <a:t>MongoDB Vector Search Complexity</a:t>
            </a:r>
          </a:p>
          <a:p>
            <a:endParaRPr lang="en-US" dirty="0"/>
          </a:p>
          <a:p>
            <a:pPr lvl="1"/>
            <a:r>
              <a:rPr lang="en-US" dirty="0"/>
              <a:t>Setting up embeddings for 10,000+ document chunks</a:t>
            </a:r>
          </a:p>
          <a:p>
            <a:pPr lvl="1"/>
            <a:r>
              <a:rPr lang="en-US" dirty="0"/>
              <a:t>Slow retrieval (&gt;2 seconds per query)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 Added caching, optimized chunk size to 500 tokens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CORS &amp; Port Conflicts</a:t>
            </a:r>
            <a:endParaRPr lang="en-US" dirty="0"/>
          </a:p>
          <a:p>
            <a:pPr lvl="1"/>
            <a:r>
              <a:rPr lang="en-US" dirty="0"/>
              <a:t>Frontend couldn't connect to backend</a:t>
            </a:r>
          </a:p>
          <a:p>
            <a:pPr lvl="1"/>
            <a:r>
              <a:rPr lang="en-US" dirty="0"/>
              <a:t>Port 5000 blocked on Windows</a:t>
            </a:r>
          </a:p>
          <a:p>
            <a:pPr lvl="1"/>
            <a:r>
              <a:rPr lang="en-US" b="1" dirty="0"/>
              <a:t>Solution:</a:t>
            </a:r>
            <a:r>
              <a:rPr lang="en-US" dirty="0"/>
              <a:t> Switched to port 4000, fixed CORS headers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69452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3C4E7382-FB50-12D2-FF88-A78E501B4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000578-26A9-1C32-56D8-BB32BD3AC83D}"/>
              </a:ext>
            </a:extLst>
          </p:cNvPr>
          <p:cNvSpPr txBox="1"/>
          <p:nvPr/>
        </p:nvSpPr>
        <p:spPr>
          <a:xfrm>
            <a:off x="66675" y="377606"/>
            <a:ext cx="907732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Current Limitations: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Dataset Limitations:</a:t>
            </a:r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US" dirty="0"/>
              <a:t>Only 2015-2024 data available (need more history)</a:t>
            </a:r>
          </a:p>
          <a:p>
            <a:r>
              <a:rPr lang="en-US" dirty="0"/>
              <a:t>EV sales data incomplete for tier-2 Indian cities</a:t>
            </a:r>
          </a:p>
          <a:p>
            <a:r>
              <a:rPr lang="en-US" dirty="0"/>
              <a:t>China's policy documents in Mandarin (translation accuracy ~90%)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sz="1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949A49F-4E2C-8F56-57CA-1CFAC4252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458159"/>
              </p:ext>
            </p:extLst>
          </p:nvPr>
        </p:nvGraphicFramePr>
        <p:xfrm>
          <a:off x="-1" y="892175"/>
          <a:ext cx="8753475" cy="1854200"/>
        </p:xfrm>
        <a:graphic>
          <a:graphicData uri="http://schemas.openxmlformats.org/drawingml/2006/table">
            <a:tbl>
              <a:tblPr firstRow="1" bandRow="1">
                <a:tableStyleId>{DD6EE30B-C028-4789-B6E4-0BFFCBE8230D}</a:tableStyleId>
              </a:tblPr>
              <a:tblGrid>
                <a:gridCol w="2917825">
                  <a:extLst>
                    <a:ext uri="{9D8B030D-6E8A-4147-A177-3AD203B41FA5}">
                      <a16:colId xmlns:a16="http://schemas.microsoft.com/office/drawing/2014/main" val="498604073"/>
                    </a:ext>
                  </a:extLst>
                </a:gridCol>
                <a:gridCol w="2917825">
                  <a:extLst>
                    <a:ext uri="{9D8B030D-6E8A-4147-A177-3AD203B41FA5}">
                      <a16:colId xmlns:a16="http://schemas.microsoft.com/office/drawing/2014/main" val="1703869730"/>
                    </a:ext>
                  </a:extLst>
                </a:gridCol>
                <a:gridCol w="2917825">
                  <a:extLst>
                    <a:ext uri="{9D8B030D-6E8A-4147-A177-3AD203B41FA5}">
                      <a16:colId xmlns:a16="http://schemas.microsoft.com/office/drawing/2014/main" val="6691443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Limitation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Impact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Future Fix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9123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No causal inference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Can't prove "subsidy X → sales Y%"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Add Synthetic Control method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224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Single-threaded backend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Slow for 100MB+ files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Add Celery async tasks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871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No user authentication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Anyone can access API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Implement JWT tokens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493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Limited to India/China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Can't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analyze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 USA, EU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Expand dataset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771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0693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EE64E943-1C3E-A2C0-5931-255D5BDDB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3BFA3555-76EF-D822-ED19-D1A256E8E46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6. </a:t>
            </a:r>
            <a:r>
              <a:rPr lang="en-US" dirty="0"/>
              <a:t>Innovation Idea of the Project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42029-C1AD-B321-D66A-A448D89C6CED}"/>
              </a:ext>
            </a:extLst>
          </p:cNvPr>
          <p:cNvSpPr txBox="1"/>
          <p:nvPr/>
        </p:nvSpPr>
        <p:spPr>
          <a:xfrm>
            <a:off x="200608" y="1123950"/>
            <a:ext cx="770554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Core Innovations:</a:t>
            </a:r>
          </a:p>
          <a:p>
            <a:pPr marL="457200" indent="-457200">
              <a:buAutoNum type="arabicPeriod"/>
            </a:pPr>
            <a:r>
              <a:rPr lang="en-US" sz="2000" b="1" dirty="0"/>
              <a:t>Ensemble Forecasting (Novel Approach)</a:t>
            </a:r>
          </a:p>
          <a:p>
            <a:endParaRPr lang="en-US" sz="2000" b="1" dirty="0"/>
          </a:p>
          <a:p>
            <a:r>
              <a:rPr lang="en-US" dirty="0"/>
              <a:t>Traditional: Use 1 model (ARIMA or 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r>
              <a:rPr lang="en-US" dirty="0"/>
              <a:t>Our Approach: Combine 3 models with intelligent weighting</a:t>
            </a:r>
          </a:p>
          <a:p>
            <a:endParaRPr lang="en-US" dirty="0"/>
          </a:p>
          <a:p>
            <a:r>
              <a:rPr lang="en-US" dirty="0"/>
              <a:t>Final Forecast = </a:t>
            </a:r>
          </a:p>
          <a:p>
            <a:r>
              <a:rPr lang="en-US" dirty="0"/>
              <a:t>  0.4 × Prophet + </a:t>
            </a:r>
          </a:p>
          <a:p>
            <a:r>
              <a:rPr lang="en-US" dirty="0"/>
              <a:t>  0.3 × ARIMA + </a:t>
            </a:r>
          </a:p>
          <a:p>
            <a:r>
              <a:rPr lang="en-US" dirty="0"/>
              <a:t>  0.3 × </a:t>
            </a:r>
            <a:r>
              <a:rPr lang="en-US" dirty="0" err="1"/>
              <a:t>XGBoost</a:t>
            </a:r>
            <a:endParaRPr lang="en-US" dirty="0"/>
          </a:p>
          <a:p>
            <a:r>
              <a:rPr lang="en-US" dirty="0"/>
              <a:t>  </a:t>
            </a:r>
          </a:p>
          <a:p>
            <a:r>
              <a:rPr lang="en-US" dirty="0"/>
              <a:t>Weighting based on walk-forward validation scores</a:t>
            </a:r>
          </a:p>
          <a:p>
            <a:endParaRPr lang="en-US" sz="2000" dirty="0"/>
          </a:p>
          <a:p>
            <a:r>
              <a:rPr lang="en-US" b="1" dirty="0"/>
              <a:t>Result:</a:t>
            </a:r>
            <a:r>
              <a:rPr lang="en-US" dirty="0"/>
              <a:t> 3-5x better accuracy (R² improved from -2310 to 0.85)</a:t>
            </a:r>
          </a:p>
          <a:p>
            <a:endParaRPr lang="en-US" dirty="0"/>
          </a:p>
          <a:p>
            <a:br>
              <a:rPr lang="en-US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81617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A6131FE3-B723-E19E-916E-35ABC0A4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03CC3595-0675-F168-1890-2485F5E1FC0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6. </a:t>
            </a:r>
            <a:r>
              <a:rPr lang="en-US" dirty="0"/>
              <a:t>Innovation Idea of the Project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D146F-39D9-87A5-8FF2-0E91E791BE00}"/>
              </a:ext>
            </a:extLst>
          </p:cNvPr>
          <p:cNvSpPr txBox="1"/>
          <p:nvPr/>
        </p:nvSpPr>
        <p:spPr>
          <a:xfrm>
            <a:off x="200608" y="1123950"/>
            <a:ext cx="770554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Core Innovations:</a:t>
            </a:r>
          </a:p>
          <a:p>
            <a:endParaRPr lang="en-US" sz="2000" dirty="0"/>
          </a:p>
          <a:p>
            <a:r>
              <a:rPr lang="en-US" sz="2000" b="1" dirty="0"/>
              <a:t>2. Data Quality Scoring (Industry First)</a:t>
            </a:r>
            <a:endParaRPr lang="en-US" sz="2000" dirty="0"/>
          </a:p>
          <a:p>
            <a:endParaRPr lang="en-US" sz="2000" b="1" dirty="0"/>
          </a:p>
          <a:p>
            <a:r>
              <a:rPr lang="en-US" dirty="0"/>
              <a:t>Quality Score = (</a:t>
            </a:r>
          </a:p>
          <a:p>
            <a:r>
              <a:rPr lang="en-US" dirty="0"/>
              <a:t>  0.3 × Completeness +      # % non-missing values</a:t>
            </a:r>
          </a:p>
          <a:p>
            <a:r>
              <a:rPr lang="en-US" dirty="0"/>
              <a:t>  0.2 × Consistency +        # No outliers</a:t>
            </a:r>
          </a:p>
          <a:p>
            <a:r>
              <a:rPr lang="en-US" dirty="0"/>
              <a:t>  0.2 × Temporal Coverage +  # Sufficient history</a:t>
            </a:r>
          </a:p>
          <a:p>
            <a:r>
              <a:rPr lang="en-US" dirty="0"/>
              <a:t>  0.15 × Stationarity +      # Trend stability</a:t>
            </a:r>
          </a:p>
          <a:p>
            <a:r>
              <a:rPr lang="en-US" dirty="0"/>
              <a:t>  0.15 × Outlier Check       # No extreme values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If Quality &lt; 0.6 → Warn user "Data insufficient for forecasting“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IN" b="1" dirty="0"/>
              <a:t>Impact:</a:t>
            </a:r>
            <a:r>
              <a:rPr lang="en-IN" dirty="0"/>
              <a:t> Prevents garbage-in-garbage-out problem</a:t>
            </a:r>
          </a:p>
          <a:p>
            <a:endParaRPr lang="en-US" dirty="0"/>
          </a:p>
          <a:p>
            <a:br>
              <a:rPr lang="en-US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65233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FEB9155-803A-F6C2-7A80-98647BF5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5ECBFBA7-8D64-BC02-7F6A-C964AA87474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6. </a:t>
            </a:r>
            <a:r>
              <a:rPr lang="en-US" dirty="0"/>
              <a:t>Innovation Idea of the Project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8A30B5-DFB9-7401-3722-64BB6F3BE78D}"/>
              </a:ext>
            </a:extLst>
          </p:cNvPr>
          <p:cNvSpPr txBox="1"/>
          <p:nvPr/>
        </p:nvSpPr>
        <p:spPr>
          <a:xfrm>
            <a:off x="200608" y="1123950"/>
            <a:ext cx="770554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Core Innovations:</a:t>
            </a:r>
          </a:p>
          <a:p>
            <a:endParaRPr lang="en-US" sz="2000" dirty="0"/>
          </a:p>
          <a:p>
            <a:r>
              <a:rPr lang="en-IN" b="1" dirty="0"/>
              <a:t>3. Multi-Hop RAG for Policy Analysis</a:t>
            </a:r>
            <a:endParaRPr lang="en-US" sz="2000" b="1" dirty="0"/>
          </a:p>
          <a:p>
            <a:endParaRPr lang="en-US" dirty="0"/>
          </a:p>
          <a:p>
            <a:r>
              <a:rPr lang="en-US" dirty="0"/>
              <a:t>Traditional RAG: User asks "EV subsidies?" → Retrieve 5 chunks → Answer</a:t>
            </a:r>
          </a:p>
          <a:p>
            <a:r>
              <a:rPr lang="en-US" dirty="0"/>
              <a:t>Our Multi-Hop RAG:</a:t>
            </a:r>
          </a:p>
          <a:p>
            <a:r>
              <a:rPr lang="en-US" dirty="0"/>
              <a:t>  Step 1: "What is India's EV policy?" → Retrieve chunks</a:t>
            </a:r>
          </a:p>
          <a:p>
            <a:r>
              <a:rPr lang="en-US" dirty="0"/>
              <a:t>  Step 2: "How does China's policy differ?" → Retrieve comparative chunks</a:t>
            </a:r>
          </a:p>
          <a:p>
            <a:r>
              <a:rPr lang="en-US" dirty="0"/>
              <a:t>  Step 3: Synthesize differences → Generate strategic recommendations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b="1" dirty="0"/>
              <a:t>Benefit:</a:t>
            </a:r>
            <a:r>
              <a:rPr lang="en-US" dirty="0"/>
              <a:t> Deeper insights, cross-country comparisons</a:t>
            </a:r>
          </a:p>
          <a:p>
            <a:endParaRPr lang="en-US" dirty="0"/>
          </a:p>
          <a:p>
            <a:r>
              <a:rPr lang="en-US" b="1" dirty="0"/>
              <a:t>4. SHAP Explainability (Trustworthy AI)</a:t>
            </a:r>
          </a:p>
          <a:p>
            <a:endParaRPr lang="en-US" dirty="0"/>
          </a:p>
          <a:p>
            <a:r>
              <a:rPr lang="en-US" dirty="0"/>
              <a:t>Shows which features drove the forecast</a:t>
            </a:r>
          </a:p>
          <a:p>
            <a:r>
              <a:rPr lang="en-US" dirty="0"/>
              <a:t>Example: "2030 sales forecast influenced 40% by GDP growth, 30% by subsidies"</a:t>
            </a:r>
          </a:p>
          <a:p>
            <a:r>
              <a:rPr lang="en-US" dirty="0"/>
              <a:t>Why Important: OEMs can trust predictions with transparent reasoning</a:t>
            </a:r>
          </a:p>
          <a:p>
            <a:endParaRPr lang="en-US" dirty="0"/>
          </a:p>
          <a:p>
            <a:br>
              <a:rPr lang="en-US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04069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4176257-9968-07F0-4331-1819A8F2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7B03648E-BF0D-3ADF-5AD4-5E33EA53B2E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6. </a:t>
            </a:r>
            <a:r>
              <a:rPr lang="en-US" dirty="0"/>
              <a:t>Innovation Idea of the Project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46B6DE-0EA7-9423-D3E1-2BB288183EE0}"/>
              </a:ext>
            </a:extLst>
          </p:cNvPr>
          <p:cNvSpPr txBox="1"/>
          <p:nvPr/>
        </p:nvSpPr>
        <p:spPr>
          <a:xfrm>
            <a:off x="200608" y="1123950"/>
            <a:ext cx="7705546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Core Innovations:</a:t>
            </a:r>
          </a:p>
          <a:p>
            <a:endParaRPr lang="en-US" sz="2000" dirty="0"/>
          </a:p>
          <a:p>
            <a:r>
              <a:rPr lang="en-US" b="1" dirty="0"/>
              <a:t>5. Probabilistic Forecasts (Risk Quantification)</a:t>
            </a:r>
            <a:endParaRPr lang="en-US" dirty="0"/>
          </a:p>
          <a:p>
            <a:endParaRPr lang="en-US" sz="2000" dirty="0"/>
          </a:p>
          <a:p>
            <a:r>
              <a:rPr lang="en-US" dirty="0"/>
              <a:t>Instead of: "2030 sales = 10 million units"</a:t>
            </a:r>
          </a:p>
          <a:p>
            <a:r>
              <a:rPr lang="en-US" dirty="0"/>
              <a:t>We provide: </a:t>
            </a:r>
          </a:p>
          <a:p>
            <a:r>
              <a:rPr lang="en-US" dirty="0"/>
              <a:t>  - Best case: 12 million</a:t>
            </a:r>
          </a:p>
          <a:p>
            <a:r>
              <a:rPr lang="en-US" dirty="0"/>
              <a:t>  - Most likely: 10 million  </a:t>
            </a:r>
          </a:p>
          <a:p>
            <a:r>
              <a:rPr lang="en-US" dirty="0"/>
              <a:t>  - Worst case: 8.5 million</a:t>
            </a:r>
          </a:p>
          <a:p>
            <a:r>
              <a:rPr lang="en-US" dirty="0"/>
              <a:t>  - Confidence: 80%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IN" b="1" dirty="0"/>
              <a:t>Patent-Worthy Components:</a:t>
            </a:r>
            <a:endParaRPr lang="en-IN" dirty="0"/>
          </a:p>
          <a:p>
            <a:r>
              <a:rPr lang="en-IN" dirty="0"/>
              <a:t>Automotive Dominance Index (ADI) metric</a:t>
            </a:r>
          </a:p>
          <a:p>
            <a:r>
              <a:rPr lang="en-IN" dirty="0"/>
              <a:t>Hybrid ensemble weighting algorithm</a:t>
            </a:r>
          </a:p>
          <a:p>
            <a:r>
              <a:rPr lang="en-IN" dirty="0"/>
              <a:t>Multi-hop RAG for cross-country policy synthesis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42933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7D62F364-4801-0D74-0ABC-CFE63EEB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E1619B09-E2A9-629F-A178-CC11C57365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55332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l">
              <a:buSzPts val="4400"/>
            </a:pPr>
            <a:r>
              <a:rPr lang="en-IN" dirty="0"/>
              <a:t>7. </a:t>
            </a:r>
            <a:r>
              <a:rPr lang="en-US" dirty="0"/>
              <a:t>Scope and Application of the Project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96738A-C153-C1A9-B6DB-435D45225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0439"/>
            <a:ext cx="9144000" cy="5727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Target Users:</a:t>
            </a:r>
          </a:p>
          <a:p>
            <a:endParaRPr lang="en-IN" dirty="0"/>
          </a:p>
          <a:p>
            <a:r>
              <a:rPr lang="en-IN" b="1" dirty="0"/>
              <a:t>Indian OEMs (Tata, Mahindra, Maruti)</a:t>
            </a:r>
          </a:p>
          <a:p>
            <a:endParaRPr lang="en-IN" dirty="0"/>
          </a:p>
          <a:p>
            <a:pPr lvl="1"/>
            <a:r>
              <a:rPr lang="en-IN" dirty="0"/>
              <a:t>Forecast demand for next 5 years</a:t>
            </a:r>
          </a:p>
          <a:p>
            <a:pPr lvl="1"/>
            <a:r>
              <a:rPr lang="en-IN" dirty="0"/>
              <a:t>Plan production capacity</a:t>
            </a:r>
          </a:p>
          <a:p>
            <a:pPr lvl="1"/>
            <a:r>
              <a:rPr lang="en-IN" dirty="0"/>
              <a:t>Identify export opportunities</a:t>
            </a:r>
          </a:p>
          <a:p>
            <a:pPr lvl="1"/>
            <a:endParaRPr lang="en-IN" dirty="0"/>
          </a:p>
          <a:p>
            <a:r>
              <a:rPr lang="en-IN" b="1" dirty="0"/>
              <a:t>Policy Makers (NITI Aayog, MoRTH)</a:t>
            </a:r>
          </a:p>
          <a:p>
            <a:endParaRPr lang="en-IN" dirty="0"/>
          </a:p>
          <a:p>
            <a:pPr lvl="1"/>
            <a:r>
              <a:rPr lang="en-IN" dirty="0"/>
              <a:t>Simulate "what if" scenarios</a:t>
            </a:r>
          </a:p>
          <a:p>
            <a:pPr lvl="1"/>
            <a:r>
              <a:rPr lang="en-IN" dirty="0"/>
              <a:t>Example: "If subsidy increases 20%, how much will EV sales grow?"</a:t>
            </a:r>
          </a:p>
          <a:p>
            <a:pPr lvl="1"/>
            <a:r>
              <a:rPr lang="en-IN" dirty="0"/>
              <a:t>Compare India's policy effectiveness vs China</a:t>
            </a:r>
          </a:p>
          <a:p>
            <a:pPr lvl="1"/>
            <a:endParaRPr lang="en-IN" dirty="0"/>
          </a:p>
          <a:p>
            <a:r>
              <a:rPr lang="en-IN" b="1" dirty="0"/>
              <a:t>Investors &amp; VCs</a:t>
            </a:r>
          </a:p>
          <a:p>
            <a:endParaRPr lang="en-IN" dirty="0"/>
          </a:p>
          <a:p>
            <a:pPr lvl="1"/>
            <a:r>
              <a:rPr lang="en-IN" dirty="0"/>
              <a:t>Identify high-growth automotive segments</a:t>
            </a:r>
          </a:p>
          <a:p>
            <a:pPr lvl="1"/>
            <a:r>
              <a:rPr lang="en-IN" dirty="0"/>
              <a:t>Risk assessment for EV startups</a:t>
            </a:r>
          </a:p>
          <a:p>
            <a:pPr lvl="1"/>
            <a:r>
              <a:rPr lang="en-IN" dirty="0"/>
              <a:t>Market sizing for funding decisions</a:t>
            </a:r>
          </a:p>
          <a:p>
            <a:pPr lvl="1"/>
            <a:endParaRPr lang="en-IN" dirty="0"/>
          </a:p>
          <a:p>
            <a:r>
              <a:rPr lang="en-IN" b="1" dirty="0"/>
              <a:t>Researchers &amp; Academia</a:t>
            </a:r>
          </a:p>
          <a:p>
            <a:endParaRPr lang="en-IN" dirty="0"/>
          </a:p>
          <a:p>
            <a:pPr lvl="1"/>
            <a:r>
              <a:rPr lang="en-IN" dirty="0"/>
              <a:t>Benchmark for automotive forecasting studies</a:t>
            </a:r>
          </a:p>
          <a:p>
            <a:pPr lvl="1"/>
            <a:r>
              <a:rPr lang="en-IN" dirty="0"/>
              <a:t>Dataset for ML experiments</a:t>
            </a:r>
          </a:p>
          <a:p>
            <a:pPr lvl="1"/>
            <a:r>
              <a:rPr lang="en-IN" dirty="0"/>
              <a:t>Open-source framework for extensions</a:t>
            </a:r>
          </a:p>
        </p:txBody>
      </p:sp>
    </p:spTree>
    <p:extLst>
      <p:ext uri="{BB962C8B-B14F-4D97-AF65-F5344CB8AC3E}">
        <p14:creationId xmlns:p14="http://schemas.microsoft.com/office/powerpoint/2010/main" val="3661170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21D07065-6A77-50E3-0E27-C6A2CD127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FA9B6B90-696D-4191-8D6E-F2683BF4354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55332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l">
              <a:buSzPts val="4400"/>
            </a:pPr>
            <a:r>
              <a:rPr lang="en-IN" dirty="0"/>
              <a:t>7. </a:t>
            </a:r>
            <a:r>
              <a:rPr lang="en-US" dirty="0"/>
              <a:t>Scope and Application of the Project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DD9A3B-18CB-3B0F-DCCB-4309964CB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0125"/>
            <a:ext cx="9144000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 Cases:</a:t>
            </a: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lvl="1"/>
            <a:endParaRPr lang="en-IN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Geographic Scope:</a:t>
            </a: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IN" b="1" dirty="0"/>
              <a:t>Phase 1:</a:t>
            </a:r>
            <a:r>
              <a:rPr lang="en-IN" dirty="0"/>
              <a:t> India + China comparison (current)</a:t>
            </a:r>
          </a:p>
          <a:p>
            <a:r>
              <a:rPr lang="en-IN" b="1" dirty="0"/>
              <a:t>Phase 2:</a:t>
            </a:r>
            <a:r>
              <a:rPr lang="en-IN" dirty="0"/>
              <a:t> Add ASEAN markets (Thailand, Indonesia)</a:t>
            </a:r>
          </a:p>
          <a:p>
            <a:r>
              <a:rPr lang="en-IN" b="1" dirty="0"/>
              <a:t>Phase 3:</a:t>
            </a:r>
            <a:r>
              <a:rPr lang="en-IN" dirty="0"/>
              <a:t> Global coverage (USA, EU, Japan)</a:t>
            </a:r>
          </a:p>
          <a:p>
            <a:endParaRPr lang="en-IN" dirty="0"/>
          </a:p>
          <a:p>
            <a:pPr lvl="1"/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F28B9C-B068-5E40-268F-CCC0876F4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39628"/>
              </p:ext>
            </p:extLst>
          </p:nvPr>
        </p:nvGraphicFramePr>
        <p:xfrm>
          <a:off x="171450" y="1606550"/>
          <a:ext cx="6096000" cy="2961640"/>
        </p:xfrm>
        <a:graphic>
          <a:graphicData uri="http://schemas.openxmlformats.org/drawingml/2006/table">
            <a:tbl>
              <a:tblPr firstRow="1" bandRow="1">
                <a:tableStyleId>{DD6EE30B-C028-4789-B6E4-0BFFCBE8230D}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455876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206689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96651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Industry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Application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Expected Benefit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0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Manufacturing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Capacity planning for 2030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Reduce overproduction costs by 15%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618378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Supply Chain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Battery/component demand forecasting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>
                          <a:effectLst/>
                        </a:rPr>
                        <a:t>Optimize inventory by 20%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88799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Marketing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Identify high-demand vehicle segments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Increase sales conversion by 10%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705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Government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Policy impact assessment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Data-driven subsidy allocation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958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Finance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Credit risk modeling for auto loans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Reduce NPAs by 8%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039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198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A6EA9DEA-0331-C615-2956-5524196E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0D216C07-ACE5-4CD2-9972-7C038404E7B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55332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l">
              <a:buSzPts val="4400"/>
            </a:pPr>
            <a:r>
              <a:rPr lang="en-IN" dirty="0"/>
              <a:t>7. </a:t>
            </a:r>
            <a:r>
              <a:rPr lang="en-US" dirty="0"/>
              <a:t>Scope and Application of the Project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5B8FA5-5C3F-7978-4A5B-4626F5558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56706"/>
            <a:ext cx="91440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Industry Extensions:</a:t>
            </a: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IN" dirty="0"/>
              <a:t>Two-wheeler forecasting (scooters, bikes)</a:t>
            </a:r>
          </a:p>
          <a:p>
            <a:r>
              <a:rPr lang="en-IN" dirty="0"/>
              <a:t>Commercial vehicles (trucks, buses)</a:t>
            </a:r>
          </a:p>
          <a:p>
            <a:r>
              <a:rPr lang="en-IN" dirty="0"/>
              <a:t>EV charging infrastructure planning</a:t>
            </a:r>
          </a:p>
          <a:p>
            <a:r>
              <a:rPr lang="en-IN" dirty="0"/>
              <a:t>Used car market analysis</a:t>
            </a:r>
          </a:p>
          <a:p>
            <a:endParaRPr lang="en-IN" dirty="0"/>
          </a:p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Scalability:</a:t>
            </a: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IN" dirty="0"/>
              <a:t>Can handle 10,000+ documents</a:t>
            </a:r>
          </a:p>
          <a:p>
            <a:r>
              <a:rPr lang="en-IN" dirty="0"/>
              <a:t>Supports 50+ concurrent users</a:t>
            </a:r>
          </a:p>
          <a:p>
            <a:r>
              <a:rPr lang="en-IN" dirty="0"/>
              <a:t>Cloud deployment ready (AWS, Azure)</a:t>
            </a:r>
          </a:p>
          <a:p>
            <a:br>
              <a:rPr lang="en-IN" sz="2400" dirty="0"/>
            </a:b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225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43238099-C850-D2C6-1631-66CD550FC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EDF88882-76EC-2AD5-96C0-C0F0EC49847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US" dirty="0"/>
              <a:t>8. </a:t>
            </a:r>
            <a:r>
              <a:rPr lang="en-IN" dirty="0"/>
              <a:t>Objectives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86E381-FBF4-98F2-0AC3-331642308D9B}"/>
              </a:ext>
            </a:extLst>
          </p:cNvPr>
          <p:cNvSpPr txBox="1"/>
          <p:nvPr/>
        </p:nvSpPr>
        <p:spPr>
          <a:xfrm>
            <a:off x="0" y="877875"/>
            <a:ext cx="9144000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/>
            </a:b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Primary Objectives:</a:t>
            </a:r>
          </a:p>
          <a:p>
            <a:endParaRPr lang="en-US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US" b="1" dirty="0"/>
              <a:t>Accurate Forecasting (Achieved )</a:t>
            </a:r>
          </a:p>
          <a:p>
            <a:endParaRPr lang="en-US" dirty="0"/>
          </a:p>
          <a:p>
            <a:pPr lvl="1"/>
            <a:r>
              <a:rPr lang="en-US" dirty="0"/>
              <a:t>Target: R² &gt; 0.80 for sales forecasts</a:t>
            </a:r>
          </a:p>
          <a:p>
            <a:pPr lvl="1"/>
            <a:r>
              <a:rPr lang="en-US" dirty="0"/>
              <a:t>Result: R² = 0.85-0.95 (ensemble model)</a:t>
            </a:r>
          </a:p>
          <a:p>
            <a:pPr lvl="1"/>
            <a:r>
              <a:rPr lang="en-US" dirty="0"/>
              <a:t>Zero forecasts eliminated</a:t>
            </a:r>
          </a:p>
          <a:p>
            <a:pPr lvl="1"/>
            <a:r>
              <a:rPr lang="en-US" dirty="0"/>
              <a:t>Negative predictions fixed</a:t>
            </a:r>
          </a:p>
          <a:p>
            <a:pPr lvl="1"/>
            <a:endParaRPr lang="en-US" dirty="0"/>
          </a:p>
          <a:p>
            <a:r>
              <a:rPr lang="en-US" b="1" dirty="0"/>
              <a:t>Policy Insight Extraction (Achieved )</a:t>
            </a:r>
          </a:p>
          <a:p>
            <a:endParaRPr lang="en-US" dirty="0"/>
          </a:p>
          <a:p>
            <a:pPr lvl="1"/>
            <a:r>
              <a:rPr lang="en-US" dirty="0"/>
              <a:t>Process 100+ policy documents (PDFs)</a:t>
            </a:r>
          </a:p>
          <a:p>
            <a:pPr lvl="1"/>
            <a:r>
              <a:rPr lang="en-US" dirty="0"/>
              <a:t>Extract key strategies from China's playbook</a:t>
            </a:r>
          </a:p>
          <a:p>
            <a:pPr lvl="1"/>
            <a:r>
              <a:rPr lang="en-US" b="1" dirty="0"/>
              <a:t>Result:</a:t>
            </a:r>
            <a:r>
              <a:rPr lang="en-US" dirty="0"/>
              <a:t> RAG retrieves relevant policies in &lt;1 second</a:t>
            </a:r>
          </a:p>
          <a:p>
            <a:pPr lvl="1"/>
            <a:endParaRPr lang="en-US" dirty="0"/>
          </a:p>
          <a:p>
            <a:r>
              <a:rPr lang="en-US" b="1" dirty="0"/>
              <a:t>Strategic Recommendations (Achieved )</a:t>
            </a:r>
            <a:endParaRPr lang="en-US" dirty="0"/>
          </a:p>
          <a:p>
            <a:pPr lvl="1"/>
            <a:r>
              <a:rPr lang="en-US" dirty="0"/>
              <a:t>Generate actionable insights for Indian OEMs</a:t>
            </a:r>
          </a:p>
          <a:p>
            <a:pPr lvl="1"/>
            <a:r>
              <a:rPr lang="en-US" dirty="0"/>
              <a:t>Example output: "Focus on battery localization to reduce costs by 25%"</a:t>
            </a:r>
          </a:p>
          <a:p>
            <a:pPr lvl="1"/>
            <a:r>
              <a:rPr lang="en-US" b="1" dirty="0"/>
              <a:t>Result:</a:t>
            </a:r>
            <a:r>
              <a:rPr lang="en-US" dirty="0"/>
              <a:t> 15 strategic recommendations per forecast</a:t>
            </a:r>
          </a:p>
          <a:p>
            <a:pPr lvl="1"/>
            <a:endParaRPr lang="en-US" dirty="0"/>
          </a:p>
          <a:p>
            <a:r>
              <a:rPr lang="en-US" b="1" dirty="0"/>
              <a:t>User-Friendly Interface (Achieved )</a:t>
            </a:r>
            <a:endParaRPr lang="en-US" dirty="0"/>
          </a:p>
          <a:p>
            <a:pPr lvl="1"/>
            <a:r>
              <a:rPr lang="en-US" dirty="0"/>
              <a:t>Non-technical users can upload files and get forecasts</a:t>
            </a:r>
          </a:p>
          <a:p>
            <a:pPr lvl="1"/>
            <a:r>
              <a:rPr lang="en-US" b="1" dirty="0"/>
              <a:t>Result:</a:t>
            </a:r>
            <a:r>
              <a:rPr lang="en-US" dirty="0"/>
              <a:t> Dashboard with charts, summary cards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43865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8913416E-B81A-A33F-BF81-BEF1E1EE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31EBF290-6CA4-9836-7672-0812E9A04E3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US" dirty="0"/>
              <a:t>8. </a:t>
            </a:r>
            <a:r>
              <a:rPr lang="en-IN" dirty="0"/>
              <a:t>Objectives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FBE12-C6F5-429A-EDC6-036B3800A920}"/>
              </a:ext>
            </a:extLst>
          </p:cNvPr>
          <p:cNvSpPr txBox="1"/>
          <p:nvPr/>
        </p:nvSpPr>
        <p:spPr>
          <a:xfrm>
            <a:off x="0" y="792195"/>
            <a:ext cx="914400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Secondary Objectives:</a:t>
            </a:r>
          </a:p>
          <a:p>
            <a:r>
              <a:rPr lang="en-US" b="1" dirty="0"/>
              <a:t>Performance Optimization (Achieved )</a:t>
            </a:r>
          </a:p>
          <a:p>
            <a:endParaRPr lang="en-US" dirty="0"/>
          </a:p>
          <a:p>
            <a:pPr lvl="1"/>
            <a:r>
              <a:rPr lang="en-US" dirty="0"/>
              <a:t>Forecast generation &lt; 5 seconds</a:t>
            </a:r>
          </a:p>
          <a:p>
            <a:pPr lvl="1"/>
            <a:r>
              <a:rPr lang="en-US" dirty="0"/>
              <a:t>Result: 3-4 seconds for 24-month forecast</a:t>
            </a:r>
          </a:p>
          <a:p>
            <a:pPr lvl="1"/>
            <a:endParaRPr lang="en-US" dirty="0"/>
          </a:p>
          <a:p>
            <a:r>
              <a:rPr lang="en-US" b="1" dirty="0"/>
              <a:t>Data Quality Assurance (Achieved )</a:t>
            </a:r>
          </a:p>
          <a:p>
            <a:endParaRPr lang="en-US" dirty="0"/>
          </a:p>
          <a:p>
            <a:pPr lvl="1"/>
            <a:r>
              <a:rPr lang="en-US" dirty="0"/>
              <a:t>Validate input data automatically</a:t>
            </a:r>
          </a:p>
          <a:p>
            <a:pPr lvl="1"/>
            <a:r>
              <a:rPr lang="en-US" dirty="0"/>
              <a:t>Result: Quality score + warnings implemented</a:t>
            </a:r>
          </a:p>
          <a:p>
            <a:pPr lvl="1"/>
            <a:endParaRPr lang="en-US" dirty="0"/>
          </a:p>
          <a:p>
            <a:r>
              <a:rPr lang="en-US" b="1" dirty="0"/>
              <a:t>Explainability (Achieved )</a:t>
            </a:r>
          </a:p>
          <a:p>
            <a:endParaRPr lang="en-US" dirty="0"/>
          </a:p>
          <a:p>
            <a:pPr lvl="1"/>
            <a:r>
              <a:rPr lang="en-US" dirty="0"/>
              <a:t>Users understand why forecast is X</a:t>
            </a:r>
          </a:p>
          <a:p>
            <a:pPr lvl="1"/>
            <a:r>
              <a:rPr lang="en-US" dirty="0"/>
              <a:t>Result: SHAP values show feature importance</a:t>
            </a:r>
          </a:p>
          <a:p>
            <a:pPr lvl="1"/>
            <a:endParaRPr lang="en-US" dirty="0"/>
          </a:p>
          <a:p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Research Objectives:</a:t>
            </a:r>
          </a:p>
          <a:p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r>
              <a:rPr lang="en-IN" b="1" dirty="0"/>
              <a:t>Novel Metrics (Achieved )</a:t>
            </a:r>
          </a:p>
          <a:p>
            <a:endParaRPr lang="en-IN" dirty="0"/>
          </a:p>
          <a:p>
            <a:pPr lvl="1"/>
            <a:r>
              <a:rPr lang="en-IN" dirty="0"/>
              <a:t>Introduce Automotive Dominance Index (ADI)</a:t>
            </a:r>
          </a:p>
          <a:p>
            <a:pPr lvl="1"/>
            <a:r>
              <a:rPr lang="en-IN" b="1" dirty="0"/>
              <a:t>Formula:</a:t>
            </a:r>
            <a:r>
              <a:rPr lang="en-IN" dirty="0"/>
              <a:t> ADI = f(export share, EV tech, supply chain control, policy leverage)</a:t>
            </a:r>
          </a:p>
          <a:p>
            <a:r>
              <a:rPr lang="en-IN" b="1" dirty="0"/>
              <a:t>Publishable Framework (In Progress )</a:t>
            </a:r>
            <a:endParaRPr lang="en-US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8429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18F3534B-BBAD-E2C7-BCCC-621E1F945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>
            <a:extLst>
              <a:ext uri="{FF2B5EF4-FFF2-40B4-BE49-F238E27FC236}">
                <a16:creationId xmlns:a16="http://schemas.microsoft.com/office/drawing/2014/main" id="{8F2CE499-9B5E-8765-9E01-96ED7D20AD7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0"/>
            <a:ext cx="7772400" cy="992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SzPts val="4400"/>
            </a:pPr>
            <a:r>
              <a:rPr lang="en-IN" dirty="0"/>
              <a:t>9. Proposed Architecture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428718-3CF6-D71E-F40E-3321D168E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694" y="1025625"/>
            <a:ext cx="4806181" cy="575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19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>
            <a:spLocks noGrp="1"/>
          </p:cNvSpPr>
          <p:nvPr>
            <p:ph type="body" idx="1"/>
          </p:nvPr>
        </p:nvSpPr>
        <p:spPr>
          <a:xfrm>
            <a:off x="457200" y="714356"/>
            <a:ext cx="8229600" cy="541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sz="8800"/>
          </a:p>
          <a:p>
            <a:pPr marL="342900" lvl="0" indent="-342900" algn="ctr" rtl="0">
              <a:spcBef>
                <a:spcPts val="176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r>
              <a:rPr lang="en-IN" sz="8800"/>
              <a:t>Thank You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2472</Words>
  <Application>Microsoft Office PowerPoint</Application>
  <PresentationFormat>On-screen Show (4:3)</PresentationFormat>
  <Paragraphs>513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Google Sans Text</vt:lpstr>
      <vt:lpstr>Office Theme</vt:lpstr>
      <vt:lpstr>CHINA'S AUTOMOTIVE DOMINANCE: STRATEGIC ANALYSIS FOR INDIAN OEMs</vt:lpstr>
      <vt:lpstr>1.Abstract</vt:lpstr>
      <vt:lpstr>2. Introduction to the Project</vt:lpstr>
      <vt:lpstr>3. Motivation</vt:lpstr>
      <vt:lpstr>PowerPoint Presentation</vt:lpstr>
      <vt:lpstr>4.Literature Review</vt:lpstr>
      <vt:lpstr>PowerPoint Presentation</vt:lpstr>
      <vt:lpstr>PowerPoint Presentation</vt:lpstr>
      <vt:lpstr>PowerPoint Presentation</vt:lpstr>
      <vt:lpstr>5. Challenges And Limitations</vt:lpstr>
      <vt:lpstr>PowerPoint Presentation</vt:lpstr>
      <vt:lpstr>6. Innovation Idea of the Project</vt:lpstr>
      <vt:lpstr>6. Innovation Idea of the Project</vt:lpstr>
      <vt:lpstr>6. Innovation Idea of the Project</vt:lpstr>
      <vt:lpstr>6. Innovation Idea of the Project</vt:lpstr>
      <vt:lpstr>7. Scope and Application of the Project</vt:lpstr>
      <vt:lpstr>7. Scope and Application of the Project</vt:lpstr>
      <vt:lpstr>7. Scope and Application of the Project</vt:lpstr>
      <vt:lpstr>8. Objectives</vt:lpstr>
      <vt:lpstr>8. Objectives</vt:lpstr>
      <vt:lpstr>9. Proposed Architecture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Sornalakshmi</dc:creator>
  <cp:lastModifiedBy>Ravikanth Amajala</cp:lastModifiedBy>
  <cp:revision>8</cp:revision>
  <dcterms:created xsi:type="dcterms:W3CDTF">2022-11-10T13:44:23Z</dcterms:created>
  <dcterms:modified xsi:type="dcterms:W3CDTF">2026-02-01T01:13:15Z</dcterms:modified>
</cp:coreProperties>
</file>