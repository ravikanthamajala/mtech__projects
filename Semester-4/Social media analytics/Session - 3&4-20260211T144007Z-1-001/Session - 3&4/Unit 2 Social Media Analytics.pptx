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Lst>
  <p:sldSz cy="6858000" cx="12192000"/>
  <p:notesSz cx="6858000" cy="9144000"/>
  <p:embeddedFontLst>
    <p:embeddedFont>
      <p:font typeface="Play"/>
      <p:regular r:id="rId147"/>
      <p:bold r:id="rId1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9" roundtripDataSignature="AMtx7mhlonbQPz5i97Mu7757kGY2E76w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7C267D-501B-42CC-91B5-972FE712E406}">
  <a:tblStyle styleId="{097C267D-501B-42CC-91B5-972FE712E406}"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customschemas.google.com/relationships/presentationmetadata" Target="metadata"/><Relationship Id="rId4" Type="http://schemas.openxmlformats.org/officeDocument/2006/relationships/slideMaster" Target="slideMasters/slideMaster1.xml"/><Relationship Id="rId148" Type="http://schemas.openxmlformats.org/officeDocument/2006/relationships/font" Target="fonts/Play-bold.fntdata"/><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font" Target="fonts/Play-regular.fntdata"/><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0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0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0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0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4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4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1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4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4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4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4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4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5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5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1"/>
          <p:cNvSpPr/>
          <p:nvPr>
            <p:ph idx="2" type="pic"/>
          </p:nvPr>
        </p:nvSpPr>
        <p:spPr>
          <a:xfrm>
            <a:off x="5183188" y="987425"/>
            <a:ext cx="6172200" cy="4873625"/>
          </a:xfrm>
          <a:prstGeom prst="rect">
            <a:avLst/>
          </a:prstGeom>
          <a:noFill/>
          <a:ln>
            <a:noFill/>
          </a:ln>
        </p:spPr>
      </p:sp>
      <p:sp>
        <p:nvSpPr>
          <p:cNvPr id="64" name="Google Shape;64;p15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5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5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5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2.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2.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2.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2.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2.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2.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2.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2.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2.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2.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2.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2.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2.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2.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2.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2.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2.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2.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2.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2.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2.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2.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2.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2.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2.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2.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2.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2.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2.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2.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2.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2.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2.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2.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2.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2.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2.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2.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2.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2.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2.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2.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2.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2.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2.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2.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2.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2.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2.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2.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2.jp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2.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2.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2.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2.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image" Target="../media/image2.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2.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2.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2.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362976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b="1" lang="en-US"/>
              <a:t>UNIT 2: TEXT MINING &amp; NATURAL LANGUAGE PROCESSING (NLP) FOR SOCIAL MEDIA</a:t>
            </a:r>
            <a:endParaRPr b="1"/>
          </a:p>
        </p:txBody>
      </p:sp>
      <p:pic>
        <p:nvPicPr>
          <p:cNvPr descr="A blue and white logo&#10;&#10;AI-generated content may be incorrect." id="85" name="Google Shape;85;p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Text Mining and Natural Language Processing (NLP) for Social Media</a:t>
            </a:r>
            <a:endParaRPr b="1"/>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457200" lvl="0" marL="457200" rtl="0" algn="just">
              <a:lnSpc>
                <a:spcPct val="90000"/>
              </a:lnSpc>
              <a:spcBef>
                <a:spcPts val="0"/>
              </a:spcBef>
              <a:spcAft>
                <a:spcPts val="0"/>
              </a:spcAft>
              <a:buClr>
                <a:schemeClr val="dk1"/>
              </a:buClr>
              <a:buSzPts val="2800"/>
              <a:buChar char="•"/>
            </a:pPr>
            <a:r>
              <a:rPr lang="en-US"/>
              <a:t>Natural Language Processing (NLP) is a specialized branch of Artificial Intelligence that focuses on enabling machines to understand, analyze, interpret, and generate human language.</a:t>
            </a:r>
            <a:endParaRPr/>
          </a:p>
          <a:p>
            <a:pPr indent="-457200" lvl="0" marL="457200" rtl="0" algn="just">
              <a:lnSpc>
                <a:spcPct val="90000"/>
              </a:lnSpc>
              <a:spcBef>
                <a:spcPts val="1000"/>
              </a:spcBef>
              <a:spcAft>
                <a:spcPts val="0"/>
              </a:spcAft>
              <a:buClr>
                <a:schemeClr val="dk1"/>
              </a:buClr>
              <a:buSzPts val="2800"/>
              <a:buChar char="•"/>
            </a:pPr>
            <a:r>
              <a:rPr lang="en-US"/>
              <a:t>In today’s digital world, enormous volumes of unstructured text are generated every second through social media platforms such as Twitter, Facebook, Instagram, YouTube comments, online reviews, blogs, and discussion forums. This text contains valuable information about public opinions, emotions, trends, and behaviors. However, machines cannot directly understand raw text. Therefore, NLP techniques are used to convert human language into numerical representations so that machine learning algorithms can process it.</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2" name="Google Shape;92;p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Text Mining and Natural Language Processing (NLP) for Social Media</a:t>
            </a:r>
            <a:endParaRPr b="1"/>
          </a:p>
        </p:txBody>
      </p:sp>
      <p:sp>
        <p:nvSpPr>
          <p:cNvPr id="98" name="Google Shape;9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This unit introduces core NLP techniques used specifically for social media analysis, including:</a:t>
            </a:r>
            <a:endParaRPr/>
          </a:p>
          <a:p>
            <a:pPr indent="-457200" lvl="0" marL="457200" rtl="0" algn="just">
              <a:lnSpc>
                <a:spcPct val="90000"/>
              </a:lnSpc>
              <a:spcBef>
                <a:spcPts val="1000"/>
              </a:spcBef>
              <a:spcAft>
                <a:spcPts val="0"/>
              </a:spcAft>
              <a:buClr>
                <a:schemeClr val="dk1"/>
              </a:buClr>
              <a:buSzPts val="2800"/>
              <a:buChar char="•"/>
            </a:pPr>
            <a:r>
              <a:rPr lang="en-US"/>
              <a:t>Text representation methods such as Bag of Words, TF-IDF, and Word Embeddings</a:t>
            </a:r>
            <a:endParaRPr/>
          </a:p>
          <a:p>
            <a:pPr indent="-457200" lvl="0" marL="457200" rtl="0" algn="just">
              <a:lnSpc>
                <a:spcPct val="90000"/>
              </a:lnSpc>
              <a:spcBef>
                <a:spcPts val="1000"/>
              </a:spcBef>
              <a:spcAft>
                <a:spcPts val="0"/>
              </a:spcAft>
              <a:buClr>
                <a:schemeClr val="dk1"/>
              </a:buClr>
              <a:buSzPts val="2800"/>
              <a:buChar char="•"/>
            </a:pPr>
            <a:r>
              <a:rPr lang="en-US"/>
              <a:t>Topic modeling using Latent Dirichlet Allocation (LDA)</a:t>
            </a:r>
            <a:endParaRPr/>
          </a:p>
          <a:p>
            <a:pPr indent="-457200" lvl="0" marL="457200" rtl="0" algn="just">
              <a:lnSpc>
                <a:spcPct val="90000"/>
              </a:lnSpc>
              <a:spcBef>
                <a:spcPts val="1000"/>
              </a:spcBef>
              <a:spcAft>
                <a:spcPts val="0"/>
              </a:spcAft>
              <a:buClr>
                <a:schemeClr val="dk1"/>
              </a:buClr>
              <a:buSzPts val="2800"/>
              <a:buChar char="•"/>
            </a:pPr>
            <a:r>
              <a:rPr lang="en-US"/>
              <a:t>Sentiment analysis and opinion mining</a:t>
            </a:r>
            <a:endParaRPr/>
          </a:p>
          <a:p>
            <a:pPr indent="-457200" lvl="0" marL="457200" rtl="0" algn="just">
              <a:lnSpc>
                <a:spcPct val="90000"/>
              </a:lnSpc>
              <a:spcBef>
                <a:spcPts val="1000"/>
              </a:spcBef>
              <a:spcAft>
                <a:spcPts val="0"/>
              </a:spcAft>
              <a:buClr>
                <a:schemeClr val="dk1"/>
              </a:buClr>
              <a:buSzPts val="2800"/>
              <a:buChar char="•"/>
            </a:pPr>
            <a:r>
              <a:rPr lang="en-US"/>
              <a:t>Aspect-based sentiment analysis</a:t>
            </a:r>
            <a:endParaRPr/>
          </a:p>
          <a:p>
            <a:pPr indent="-457200" lvl="0" marL="457200" rtl="0" algn="just">
              <a:lnSpc>
                <a:spcPct val="90000"/>
              </a:lnSpc>
              <a:spcBef>
                <a:spcPts val="1000"/>
              </a:spcBef>
              <a:spcAft>
                <a:spcPts val="0"/>
              </a:spcAft>
              <a:buClr>
                <a:schemeClr val="dk1"/>
              </a:buClr>
              <a:buSzPts val="2800"/>
              <a:buChar char="•"/>
            </a:pPr>
            <a:r>
              <a:rPr lang="en-US"/>
              <a:t>Text classification and categorization</a:t>
            </a:r>
            <a:endParaRPr/>
          </a:p>
          <a:p>
            <a:pPr indent="-457200" lvl="0" marL="457200" rtl="0" algn="just">
              <a:lnSpc>
                <a:spcPct val="90000"/>
              </a:lnSpc>
              <a:spcBef>
                <a:spcPts val="1000"/>
              </a:spcBef>
              <a:spcAft>
                <a:spcPts val="0"/>
              </a:spcAft>
              <a:buClr>
                <a:schemeClr val="dk1"/>
              </a:buClr>
              <a:buSzPts val="2800"/>
              <a:buChar char="•"/>
            </a:pPr>
            <a:r>
              <a:rPr lang="en-US"/>
              <a:t>Practical applications like spam detection and topic classification</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9" name="Google Shape;99;p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Why Do We Need NLP for Social Media</a:t>
            </a:r>
            <a:endParaRPr b="1"/>
          </a:p>
        </p:txBody>
      </p:sp>
      <p:sp>
        <p:nvSpPr>
          <p:cNvPr id="105" name="Google Shape;10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90000"/>
              </a:lnSpc>
              <a:spcBef>
                <a:spcPts val="0"/>
              </a:spcBef>
              <a:spcAft>
                <a:spcPts val="0"/>
              </a:spcAft>
              <a:buClr>
                <a:schemeClr val="dk1"/>
              </a:buClr>
              <a:buSzPct val="100000"/>
              <a:buNone/>
            </a:pPr>
            <a:r>
              <a:rPr lang="en-US"/>
              <a:t>Social media text is very different from traditional documents such as books or reports. It is informal, noisy, short, and highly emotional.</a:t>
            </a:r>
            <a:endParaRPr/>
          </a:p>
          <a:p>
            <a:pPr indent="-228600" lvl="0" marL="228600" rtl="0" algn="just">
              <a:lnSpc>
                <a:spcPct val="90000"/>
              </a:lnSpc>
              <a:spcBef>
                <a:spcPts val="1000"/>
              </a:spcBef>
              <a:spcAft>
                <a:spcPts val="0"/>
              </a:spcAft>
              <a:buClr>
                <a:schemeClr val="dk1"/>
              </a:buClr>
              <a:buSzPct val="100000"/>
              <a:buNone/>
            </a:pPr>
            <a:r>
              <a:rPr lang="en-US"/>
              <a:t>Common characteristics of social media data include:</a:t>
            </a:r>
            <a:endParaRPr/>
          </a:p>
          <a:p>
            <a:pPr indent="-457200" lvl="0" marL="457200" rtl="0" algn="just">
              <a:lnSpc>
                <a:spcPct val="90000"/>
              </a:lnSpc>
              <a:spcBef>
                <a:spcPts val="1000"/>
              </a:spcBef>
              <a:spcAft>
                <a:spcPts val="0"/>
              </a:spcAft>
              <a:buClr>
                <a:schemeClr val="dk1"/>
              </a:buClr>
              <a:buSzPct val="100000"/>
              <a:buChar char="•"/>
            </a:pPr>
            <a:r>
              <a:rPr lang="en-US"/>
              <a:t>Slang and abbreviations (e.g., “LOL”, “OMG”, “idk”)</a:t>
            </a:r>
            <a:endParaRPr/>
          </a:p>
          <a:p>
            <a:pPr indent="-457200" lvl="0" marL="457200" rtl="0" algn="just">
              <a:lnSpc>
                <a:spcPct val="90000"/>
              </a:lnSpc>
              <a:spcBef>
                <a:spcPts val="1000"/>
              </a:spcBef>
              <a:spcAft>
                <a:spcPts val="0"/>
              </a:spcAft>
              <a:buClr>
                <a:schemeClr val="dk1"/>
              </a:buClr>
              <a:buSzPct val="100000"/>
              <a:buChar char="•"/>
            </a:pPr>
            <a:r>
              <a:rPr lang="en-US"/>
              <a:t>Emojis and symbols (😊🔥💔)</a:t>
            </a:r>
            <a:endParaRPr/>
          </a:p>
          <a:p>
            <a:pPr indent="-457200" lvl="0" marL="457200" rtl="0" algn="just">
              <a:lnSpc>
                <a:spcPct val="90000"/>
              </a:lnSpc>
              <a:spcBef>
                <a:spcPts val="1000"/>
              </a:spcBef>
              <a:spcAft>
                <a:spcPts val="0"/>
              </a:spcAft>
              <a:buClr>
                <a:schemeClr val="dk1"/>
              </a:buClr>
              <a:buSzPct val="100000"/>
              <a:buChar char="•"/>
            </a:pPr>
            <a:r>
              <a:rPr lang="en-US"/>
              <a:t>Hashtags and mentions (#AI, @user)</a:t>
            </a:r>
            <a:endParaRPr/>
          </a:p>
          <a:p>
            <a:pPr indent="-457200" lvl="0" marL="457200" rtl="0" algn="just">
              <a:lnSpc>
                <a:spcPct val="90000"/>
              </a:lnSpc>
              <a:spcBef>
                <a:spcPts val="1000"/>
              </a:spcBef>
              <a:spcAft>
                <a:spcPts val="0"/>
              </a:spcAft>
              <a:buClr>
                <a:schemeClr val="dk1"/>
              </a:buClr>
              <a:buSzPct val="100000"/>
              <a:buChar char="•"/>
            </a:pPr>
            <a:r>
              <a:rPr lang="en-US"/>
              <a:t>Misspellings and grammatical errors</a:t>
            </a:r>
            <a:endParaRPr/>
          </a:p>
          <a:p>
            <a:pPr indent="-457200" lvl="0" marL="457200" rtl="0" algn="just">
              <a:lnSpc>
                <a:spcPct val="90000"/>
              </a:lnSpc>
              <a:spcBef>
                <a:spcPts val="1000"/>
              </a:spcBef>
              <a:spcAft>
                <a:spcPts val="0"/>
              </a:spcAft>
              <a:buClr>
                <a:schemeClr val="dk1"/>
              </a:buClr>
              <a:buSzPct val="100000"/>
              <a:buChar char="•"/>
            </a:pPr>
            <a:r>
              <a:rPr lang="en-US"/>
              <a:t>Very short sentences</a:t>
            </a:r>
            <a:endParaRPr/>
          </a:p>
          <a:p>
            <a:pPr indent="-457200" lvl="0" marL="457200" rtl="0" algn="just">
              <a:lnSpc>
                <a:spcPct val="90000"/>
              </a:lnSpc>
              <a:spcBef>
                <a:spcPts val="1000"/>
              </a:spcBef>
              <a:spcAft>
                <a:spcPts val="0"/>
              </a:spcAft>
              <a:buClr>
                <a:schemeClr val="dk1"/>
              </a:buClr>
              <a:buSzPct val="100000"/>
              <a:buChar char="•"/>
            </a:pPr>
            <a:r>
              <a:rPr lang="en-US"/>
              <a:t>Sarcasm and implicit meaning</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106" name="Google Shape;106;p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Why Do We Need NLP for Social Media</a:t>
            </a:r>
            <a:endParaRPr/>
          </a:p>
        </p:txBody>
      </p:sp>
      <p:sp>
        <p:nvSpPr>
          <p:cNvPr id="112" name="Google Shape;112;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Although humans can easily understand such content, computers cannot directly interpret it. For example:</a:t>
            </a:r>
            <a:endParaRPr/>
          </a:p>
          <a:p>
            <a:pPr indent="-228600" lvl="0" marL="228600" rtl="0" algn="just">
              <a:lnSpc>
                <a:spcPct val="90000"/>
              </a:lnSpc>
              <a:spcBef>
                <a:spcPts val="1000"/>
              </a:spcBef>
              <a:spcAft>
                <a:spcPts val="0"/>
              </a:spcAft>
              <a:buClr>
                <a:schemeClr val="dk1"/>
              </a:buClr>
              <a:buSzPts val="2800"/>
              <a:buNone/>
            </a:pPr>
            <a:r>
              <a:rPr lang="en-US"/>
              <a:t>“I’m dead 😂”</a:t>
            </a:r>
            <a:endParaRPr/>
          </a:p>
          <a:p>
            <a:pPr indent="-457200" lvl="0" marL="457200" rtl="0" algn="just">
              <a:lnSpc>
                <a:spcPct val="90000"/>
              </a:lnSpc>
              <a:spcBef>
                <a:spcPts val="1000"/>
              </a:spcBef>
              <a:spcAft>
                <a:spcPts val="0"/>
              </a:spcAft>
              <a:buClr>
                <a:schemeClr val="dk1"/>
              </a:buClr>
              <a:buSzPts val="2800"/>
              <a:buChar char="•"/>
            </a:pPr>
            <a:r>
              <a:rPr lang="en-US"/>
              <a:t>Humans understand this as laughter or excitement.</a:t>
            </a:r>
            <a:br>
              <a:rPr lang="en-US"/>
            </a:br>
            <a:r>
              <a:rPr lang="en-US"/>
              <a:t> Computers interpret it literally as death.</a:t>
            </a:r>
            <a:endParaRPr/>
          </a:p>
          <a:p>
            <a:pPr indent="-457200" lvl="0" marL="457200" rtl="0" algn="just">
              <a:lnSpc>
                <a:spcPct val="90000"/>
              </a:lnSpc>
              <a:spcBef>
                <a:spcPts val="1000"/>
              </a:spcBef>
              <a:spcAft>
                <a:spcPts val="0"/>
              </a:spcAft>
              <a:buClr>
                <a:schemeClr val="dk1"/>
              </a:buClr>
              <a:buSzPts val="2800"/>
              <a:buChar char="•"/>
            </a:pPr>
            <a:r>
              <a:rPr lang="en-US"/>
              <a:t>Natural Language Processing is required to bridge this gap by converting raw text into structured numerical data that machine learning models can understand.</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13" name="Google Shape;113;p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Why Do We Need NLP for Social Media</a:t>
            </a:r>
            <a:endParaRPr/>
          </a:p>
        </p:txBody>
      </p:sp>
      <p:sp>
        <p:nvSpPr>
          <p:cNvPr id="119" name="Google Shape;1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None/>
            </a:pPr>
            <a:r>
              <a:rPr lang="en-US"/>
              <a:t>NLP enables automated analysis of:</a:t>
            </a:r>
            <a:endParaRPr/>
          </a:p>
          <a:p>
            <a:pPr indent="-228600" lvl="0" marL="228600" rtl="0" algn="just">
              <a:lnSpc>
                <a:spcPct val="90000"/>
              </a:lnSpc>
              <a:spcBef>
                <a:spcPts val="1000"/>
              </a:spcBef>
              <a:spcAft>
                <a:spcPts val="0"/>
              </a:spcAft>
              <a:buClr>
                <a:schemeClr val="dk1"/>
              </a:buClr>
              <a:buSzPct val="100000"/>
              <a:buChar char="•"/>
            </a:pPr>
            <a:r>
              <a:rPr lang="en-US"/>
              <a:t>Public opinion</a:t>
            </a:r>
            <a:endParaRPr/>
          </a:p>
          <a:p>
            <a:pPr indent="-228600" lvl="0" marL="228600" rtl="0" algn="just">
              <a:lnSpc>
                <a:spcPct val="90000"/>
              </a:lnSpc>
              <a:spcBef>
                <a:spcPts val="1000"/>
              </a:spcBef>
              <a:spcAft>
                <a:spcPts val="0"/>
              </a:spcAft>
              <a:buClr>
                <a:schemeClr val="dk1"/>
              </a:buClr>
              <a:buSzPct val="100000"/>
              <a:buChar char="•"/>
            </a:pPr>
            <a:r>
              <a:rPr lang="en-US"/>
              <a:t>Customer feedback</a:t>
            </a:r>
            <a:endParaRPr/>
          </a:p>
          <a:p>
            <a:pPr indent="-228600" lvl="0" marL="228600" rtl="0" algn="just">
              <a:lnSpc>
                <a:spcPct val="90000"/>
              </a:lnSpc>
              <a:spcBef>
                <a:spcPts val="1000"/>
              </a:spcBef>
              <a:spcAft>
                <a:spcPts val="0"/>
              </a:spcAft>
              <a:buClr>
                <a:schemeClr val="dk1"/>
              </a:buClr>
              <a:buSzPct val="100000"/>
              <a:buChar char="•"/>
            </a:pPr>
            <a:r>
              <a:rPr lang="en-US"/>
              <a:t>Brand reputation</a:t>
            </a:r>
            <a:endParaRPr/>
          </a:p>
          <a:p>
            <a:pPr indent="-228600" lvl="0" marL="228600" rtl="0" algn="just">
              <a:lnSpc>
                <a:spcPct val="90000"/>
              </a:lnSpc>
              <a:spcBef>
                <a:spcPts val="1000"/>
              </a:spcBef>
              <a:spcAft>
                <a:spcPts val="0"/>
              </a:spcAft>
              <a:buClr>
                <a:schemeClr val="dk1"/>
              </a:buClr>
              <a:buSzPct val="100000"/>
              <a:buChar char="•"/>
            </a:pPr>
            <a:r>
              <a:rPr lang="en-US"/>
              <a:t>Political sentiment</a:t>
            </a:r>
            <a:endParaRPr/>
          </a:p>
          <a:p>
            <a:pPr indent="-228600" lvl="0" marL="228600" rtl="0" algn="just">
              <a:lnSpc>
                <a:spcPct val="90000"/>
              </a:lnSpc>
              <a:spcBef>
                <a:spcPts val="1000"/>
              </a:spcBef>
              <a:spcAft>
                <a:spcPts val="0"/>
              </a:spcAft>
              <a:buClr>
                <a:schemeClr val="dk1"/>
              </a:buClr>
              <a:buSzPct val="100000"/>
              <a:buChar char="•"/>
            </a:pPr>
            <a:r>
              <a:rPr lang="en-US"/>
              <a:t>Fake news</a:t>
            </a:r>
            <a:endParaRPr/>
          </a:p>
          <a:p>
            <a:pPr indent="-228600" lvl="0" marL="228600" rtl="0" algn="just">
              <a:lnSpc>
                <a:spcPct val="90000"/>
              </a:lnSpc>
              <a:spcBef>
                <a:spcPts val="1000"/>
              </a:spcBef>
              <a:spcAft>
                <a:spcPts val="0"/>
              </a:spcAft>
              <a:buClr>
                <a:schemeClr val="dk1"/>
              </a:buClr>
              <a:buSzPct val="100000"/>
              <a:buChar char="•"/>
            </a:pPr>
            <a:r>
              <a:rPr lang="en-US"/>
              <a:t>Spam content</a:t>
            </a:r>
            <a:endParaRPr/>
          </a:p>
          <a:p>
            <a:pPr indent="-228600" lvl="0" marL="228600" rtl="0" algn="just">
              <a:lnSpc>
                <a:spcPct val="90000"/>
              </a:lnSpc>
              <a:spcBef>
                <a:spcPts val="1000"/>
              </a:spcBef>
              <a:spcAft>
                <a:spcPts val="0"/>
              </a:spcAft>
              <a:buClr>
                <a:schemeClr val="dk1"/>
              </a:buClr>
              <a:buSzPct val="100000"/>
              <a:buChar char="•"/>
            </a:pPr>
            <a:r>
              <a:rPr lang="en-US"/>
              <a:t>Mental health indicators</a:t>
            </a:r>
            <a:endParaRPr/>
          </a:p>
          <a:p>
            <a:pPr indent="0" lvl="0" marL="0" rtl="0" algn="just">
              <a:lnSpc>
                <a:spcPct val="90000"/>
              </a:lnSpc>
              <a:spcBef>
                <a:spcPts val="1000"/>
              </a:spcBef>
              <a:spcAft>
                <a:spcPts val="0"/>
              </a:spcAft>
              <a:buClr>
                <a:schemeClr val="dk1"/>
              </a:buClr>
              <a:buSzPct val="100000"/>
              <a:buNone/>
            </a:pPr>
            <a:r>
              <a:rPr lang="en-US"/>
              <a:t>Without NLP, meaningful large-scale social media analysis would be impossible.</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120" name="Google Shape;120;p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What is Text Mining?</a:t>
            </a:r>
            <a:endParaRPr b="1"/>
          </a:p>
        </p:txBody>
      </p:sp>
      <p:sp>
        <p:nvSpPr>
          <p:cNvPr id="126" name="Google Shape;126;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lnSpc>
                <a:spcPct val="90000"/>
              </a:lnSpc>
              <a:spcBef>
                <a:spcPts val="0"/>
              </a:spcBef>
              <a:spcAft>
                <a:spcPts val="0"/>
              </a:spcAft>
              <a:buClr>
                <a:schemeClr val="dk1"/>
              </a:buClr>
              <a:buSzPct val="100000"/>
              <a:buNone/>
            </a:pPr>
            <a:r>
              <a:rPr lang="en-US"/>
              <a:t>Text Mining is the process of discovering meaningful patterns, knowledge, and insights from large collections of unstructured textual data. Unlike numerical or tabular data, text does not follow a fixed format. It exists in the form of sentences, paragraphs, comments, or messages. Because of this, traditional data analysis techniques cannot be applied directly.</a:t>
            </a:r>
            <a:endParaRPr/>
          </a:p>
          <a:p>
            <a:pPr indent="-228600" lvl="0" marL="228600" rtl="0" algn="just">
              <a:lnSpc>
                <a:spcPct val="90000"/>
              </a:lnSpc>
              <a:spcBef>
                <a:spcPts val="1000"/>
              </a:spcBef>
              <a:spcAft>
                <a:spcPts val="0"/>
              </a:spcAft>
              <a:buClr>
                <a:schemeClr val="dk1"/>
              </a:buClr>
              <a:buSzPct val="100000"/>
              <a:buNone/>
            </a:pPr>
            <a:r>
              <a:rPr lang="en-US"/>
              <a:t>Text mining combines methods from:</a:t>
            </a:r>
            <a:endParaRPr/>
          </a:p>
          <a:p>
            <a:pPr indent="-228600" lvl="0" marL="228600" rtl="0" algn="just">
              <a:lnSpc>
                <a:spcPct val="90000"/>
              </a:lnSpc>
              <a:spcBef>
                <a:spcPts val="1000"/>
              </a:spcBef>
              <a:spcAft>
                <a:spcPts val="0"/>
              </a:spcAft>
              <a:buClr>
                <a:schemeClr val="dk1"/>
              </a:buClr>
              <a:buSzPct val="100000"/>
              <a:buChar char="•"/>
            </a:pPr>
            <a:r>
              <a:rPr lang="en-US"/>
              <a:t>Natural Language Processing</a:t>
            </a:r>
            <a:endParaRPr/>
          </a:p>
          <a:p>
            <a:pPr indent="-228600" lvl="0" marL="228600" rtl="0" algn="just">
              <a:lnSpc>
                <a:spcPct val="90000"/>
              </a:lnSpc>
              <a:spcBef>
                <a:spcPts val="1000"/>
              </a:spcBef>
              <a:spcAft>
                <a:spcPts val="0"/>
              </a:spcAft>
              <a:buClr>
                <a:schemeClr val="dk1"/>
              </a:buClr>
              <a:buSzPct val="100000"/>
              <a:buChar char="•"/>
            </a:pPr>
            <a:r>
              <a:rPr lang="en-US"/>
              <a:t>Machine Learning</a:t>
            </a:r>
            <a:endParaRPr/>
          </a:p>
          <a:p>
            <a:pPr indent="-228600" lvl="0" marL="228600" rtl="0" algn="just">
              <a:lnSpc>
                <a:spcPct val="90000"/>
              </a:lnSpc>
              <a:spcBef>
                <a:spcPts val="1000"/>
              </a:spcBef>
              <a:spcAft>
                <a:spcPts val="0"/>
              </a:spcAft>
              <a:buClr>
                <a:schemeClr val="dk1"/>
              </a:buClr>
              <a:buSzPct val="100000"/>
              <a:buChar char="•"/>
            </a:pPr>
            <a:r>
              <a:rPr lang="en-US"/>
              <a:t>Statistics</a:t>
            </a:r>
            <a:endParaRPr/>
          </a:p>
          <a:p>
            <a:pPr indent="-228600" lvl="0" marL="228600" rtl="0" algn="just">
              <a:lnSpc>
                <a:spcPct val="90000"/>
              </a:lnSpc>
              <a:spcBef>
                <a:spcPts val="1000"/>
              </a:spcBef>
              <a:spcAft>
                <a:spcPts val="0"/>
              </a:spcAft>
              <a:buClr>
                <a:schemeClr val="dk1"/>
              </a:buClr>
              <a:buSzPct val="100000"/>
              <a:buChar char="•"/>
            </a:pPr>
            <a:r>
              <a:rPr lang="en-US"/>
              <a:t>Information Retrieval</a:t>
            </a:r>
            <a:endParaRPr/>
          </a:p>
          <a:p>
            <a:pPr indent="0" lvl="0" marL="0" rtl="0" algn="just">
              <a:lnSpc>
                <a:spcPct val="90000"/>
              </a:lnSpc>
              <a:spcBef>
                <a:spcPts val="1000"/>
              </a:spcBef>
              <a:spcAft>
                <a:spcPts val="0"/>
              </a:spcAft>
              <a:buClr>
                <a:schemeClr val="dk1"/>
              </a:buClr>
              <a:buSzPct val="100000"/>
              <a:buNone/>
            </a:pPr>
            <a:r>
              <a:rPr lang="en-US"/>
              <a:t>to convert raw text into structured representations and extract useful information such as topics, sentiments, keywords, or categories.</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127" name="Google Shape;127;p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What is Text Mining?</a:t>
            </a:r>
            <a:endParaRPr/>
          </a:p>
        </p:txBody>
      </p:sp>
      <p:sp>
        <p:nvSpPr>
          <p:cNvPr id="133" name="Google Shape;13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None/>
            </a:pPr>
            <a:r>
              <a:rPr lang="en-US"/>
              <a:t>In simple terms:</a:t>
            </a:r>
            <a:endParaRPr/>
          </a:p>
          <a:p>
            <a:pPr indent="-228600" lvl="0" marL="228600" rtl="0" algn="just">
              <a:lnSpc>
                <a:spcPct val="90000"/>
              </a:lnSpc>
              <a:spcBef>
                <a:spcPts val="1000"/>
              </a:spcBef>
              <a:spcAft>
                <a:spcPts val="0"/>
              </a:spcAft>
              <a:buClr>
                <a:schemeClr val="dk1"/>
              </a:buClr>
              <a:buSzPct val="100000"/>
              <a:buNone/>
            </a:pPr>
            <a:r>
              <a:rPr lang="en-US"/>
              <a:t>Text Mining = Turning text into knowledge.</a:t>
            </a:r>
            <a:endParaRPr/>
          </a:p>
          <a:p>
            <a:pPr indent="-228600" lvl="0" marL="228600" rtl="0" algn="just">
              <a:lnSpc>
                <a:spcPct val="90000"/>
              </a:lnSpc>
              <a:spcBef>
                <a:spcPts val="1000"/>
              </a:spcBef>
              <a:spcAft>
                <a:spcPts val="0"/>
              </a:spcAft>
              <a:buClr>
                <a:schemeClr val="dk1"/>
              </a:buClr>
              <a:buSzPct val="100000"/>
              <a:buNone/>
            </a:pPr>
            <a:r>
              <a:rPr lang="en-US"/>
              <a:t>The typical text mining workflow includes:</a:t>
            </a:r>
            <a:endParaRPr/>
          </a:p>
          <a:p>
            <a:pPr indent="-228600" lvl="0" marL="228600" rtl="0" algn="just">
              <a:lnSpc>
                <a:spcPct val="90000"/>
              </a:lnSpc>
              <a:spcBef>
                <a:spcPts val="1000"/>
              </a:spcBef>
              <a:spcAft>
                <a:spcPts val="0"/>
              </a:spcAft>
              <a:buClr>
                <a:schemeClr val="dk1"/>
              </a:buClr>
              <a:buSzPct val="100000"/>
              <a:buChar char="•"/>
            </a:pPr>
            <a:r>
              <a:rPr lang="en-US"/>
              <a:t>Collecting text data</a:t>
            </a:r>
            <a:endParaRPr/>
          </a:p>
          <a:p>
            <a:pPr indent="-228600" lvl="0" marL="228600" rtl="0" algn="just">
              <a:lnSpc>
                <a:spcPct val="90000"/>
              </a:lnSpc>
              <a:spcBef>
                <a:spcPts val="1000"/>
              </a:spcBef>
              <a:spcAft>
                <a:spcPts val="0"/>
              </a:spcAft>
              <a:buClr>
                <a:schemeClr val="dk1"/>
              </a:buClr>
              <a:buSzPct val="100000"/>
              <a:buChar char="•"/>
            </a:pPr>
            <a:r>
              <a:rPr lang="en-US"/>
              <a:t>Cleaning and preprocessing</a:t>
            </a:r>
            <a:endParaRPr/>
          </a:p>
          <a:p>
            <a:pPr indent="-228600" lvl="0" marL="228600" rtl="0" algn="just">
              <a:lnSpc>
                <a:spcPct val="90000"/>
              </a:lnSpc>
              <a:spcBef>
                <a:spcPts val="1000"/>
              </a:spcBef>
              <a:spcAft>
                <a:spcPts val="0"/>
              </a:spcAft>
              <a:buClr>
                <a:schemeClr val="dk1"/>
              </a:buClr>
              <a:buSzPct val="100000"/>
              <a:buChar char="•"/>
            </a:pPr>
            <a:r>
              <a:rPr lang="en-US"/>
              <a:t>Converting text into numerical form</a:t>
            </a:r>
            <a:endParaRPr/>
          </a:p>
          <a:p>
            <a:pPr indent="-228600" lvl="0" marL="228600" rtl="0" algn="just">
              <a:lnSpc>
                <a:spcPct val="90000"/>
              </a:lnSpc>
              <a:spcBef>
                <a:spcPts val="1000"/>
              </a:spcBef>
              <a:spcAft>
                <a:spcPts val="0"/>
              </a:spcAft>
              <a:buClr>
                <a:schemeClr val="dk1"/>
              </a:buClr>
              <a:buSzPct val="100000"/>
              <a:buChar char="•"/>
            </a:pPr>
            <a:r>
              <a:rPr lang="en-US"/>
              <a:t>Applying models or algorithms</a:t>
            </a:r>
            <a:endParaRPr/>
          </a:p>
          <a:p>
            <a:pPr indent="-228600" lvl="0" marL="228600" rtl="0" algn="just">
              <a:lnSpc>
                <a:spcPct val="90000"/>
              </a:lnSpc>
              <a:spcBef>
                <a:spcPts val="1000"/>
              </a:spcBef>
              <a:spcAft>
                <a:spcPts val="0"/>
              </a:spcAft>
              <a:buClr>
                <a:schemeClr val="dk1"/>
              </a:buClr>
              <a:buSzPct val="100000"/>
              <a:buChar char="•"/>
            </a:pPr>
            <a:r>
              <a:rPr lang="en-US"/>
              <a:t>Interpreting results</a:t>
            </a:r>
            <a:endParaRPr/>
          </a:p>
          <a:p>
            <a:pPr indent="0" lvl="0" marL="0" rtl="0" algn="just">
              <a:lnSpc>
                <a:spcPct val="90000"/>
              </a:lnSpc>
              <a:spcBef>
                <a:spcPts val="1000"/>
              </a:spcBef>
              <a:spcAft>
                <a:spcPts val="0"/>
              </a:spcAft>
              <a:buClr>
                <a:schemeClr val="dk1"/>
              </a:buClr>
              <a:buSzPct val="100000"/>
              <a:buNone/>
            </a:pPr>
            <a:r>
              <a:rPr lang="en-US"/>
              <a:t>Text mining forms the foundation for many NLP applications such as sentiment analysis, spam detection, topic modeling, and document classification.</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134" name="Google Shape;134;p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Difference Between Text Mining and NLP</a:t>
            </a:r>
            <a:endParaRPr b="1"/>
          </a:p>
        </p:txBody>
      </p:sp>
      <p:sp>
        <p:nvSpPr>
          <p:cNvPr id="140" name="Google Shape;140;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Although Text Mining and Natural Language Processing (NLP) are closely related, they are not exactly the same.</a:t>
            </a:r>
            <a:endParaRPr/>
          </a:p>
          <a:p>
            <a:pPr indent="-228600" lvl="0" marL="228600" rtl="0" algn="just">
              <a:lnSpc>
                <a:spcPct val="90000"/>
              </a:lnSpc>
              <a:spcBef>
                <a:spcPts val="1000"/>
              </a:spcBef>
              <a:spcAft>
                <a:spcPts val="0"/>
              </a:spcAft>
              <a:buClr>
                <a:schemeClr val="dk1"/>
              </a:buClr>
              <a:buSzPts val="2800"/>
              <a:buChar char="•"/>
            </a:pPr>
            <a:r>
              <a:rPr lang="en-US"/>
              <a:t>Natural Language Processing (NLP) focuses on enabling machines to understand, interpret, and generate human language. It deals with linguistic structure such as grammar, syntax, semantics, and context.</a:t>
            </a:r>
            <a:endParaRPr/>
          </a:p>
          <a:p>
            <a:pPr indent="-228600" lvl="0" marL="228600" rtl="0" algn="just">
              <a:lnSpc>
                <a:spcPct val="90000"/>
              </a:lnSpc>
              <a:spcBef>
                <a:spcPts val="1000"/>
              </a:spcBef>
              <a:spcAft>
                <a:spcPts val="0"/>
              </a:spcAft>
              <a:buClr>
                <a:schemeClr val="dk1"/>
              </a:buClr>
              <a:buSzPts val="2800"/>
              <a:buChar char="•"/>
            </a:pPr>
            <a:r>
              <a:rPr lang="en-US"/>
              <a:t>Text Mining focuses on extracting useful patterns, trends, and knowledge from large volumes of textual data. It emphasizes discovery and analysis rather than language understanding itself.</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41" name="Google Shape;141;p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Difference Between Text Mining and NLP</a:t>
            </a:r>
            <a:endParaRPr b="1"/>
          </a:p>
        </p:txBody>
      </p:sp>
      <p:sp>
        <p:nvSpPr>
          <p:cNvPr id="147" name="Google Shape;147;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None/>
            </a:pPr>
            <a:r>
              <a:rPr lang="en-US"/>
              <a:t>In simple terms:</a:t>
            </a:r>
            <a:endParaRPr/>
          </a:p>
          <a:p>
            <a:pPr indent="-228600" lvl="0" marL="228600" rtl="0" algn="just">
              <a:lnSpc>
                <a:spcPct val="90000"/>
              </a:lnSpc>
              <a:spcBef>
                <a:spcPts val="1000"/>
              </a:spcBef>
              <a:spcAft>
                <a:spcPts val="0"/>
              </a:spcAft>
              <a:buClr>
                <a:schemeClr val="dk1"/>
              </a:buClr>
              <a:buSzPts val="2800"/>
              <a:buChar char="•"/>
            </a:pPr>
            <a:r>
              <a:rPr b="1" lang="en-US"/>
              <a:t>NLP answers:</a:t>
            </a:r>
            <a:r>
              <a:rPr lang="en-US"/>
              <a:t> </a:t>
            </a:r>
            <a:r>
              <a:rPr i="1" lang="en-US"/>
              <a:t>“What does this text mean?”</a:t>
            </a:r>
            <a:endParaRPr/>
          </a:p>
          <a:p>
            <a:pPr indent="-228600" lvl="0" marL="228600" rtl="0" algn="just">
              <a:lnSpc>
                <a:spcPct val="90000"/>
              </a:lnSpc>
              <a:spcBef>
                <a:spcPts val="1000"/>
              </a:spcBef>
              <a:spcAft>
                <a:spcPts val="0"/>
              </a:spcAft>
              <a:buClr>
                <a:schemeClr val="dk1"/>
              </a:buClr>
              <a:buSzPts val="2800"/>
              <a:buChar char="•"/>
            </a:pPr>
            <a:r>
              <a:rPr b="1" i="1" lang="en-US"/>
              <a:t>Text Mining answers: </a:t>
            </a:r>
            <a:r>
              <a:rPr i="1" lang="en-US"/>
              <a:t>“What useful information can we extract from many texts?”</a:t>
            </a:r>
            <a:endParaRPr/>
          </a:p>
          <a:p>
            <a:pPr indent="-228600" lvl="0" marL="228600" rtl="0" algn="just">
              <a:lnSpc>
                <a:spcPct val="90000"/>
              </a:lnSpc>
              <a:spcBef>
                <a:spcPts val="1000"/>
              </a:spcBef>
              <a:spcAft>
                <a:spcPts val="0"/>
              </a:spcAft>
              <a:buClr>
                <a:schemeClr val="dk1"/>
              </a:buClr>
              <a:buSzPts val="2800"/>
              <a:buNone/>
            </a:pPr>
            <a:r>
              <a:rPr lang="en-US"/>
              <a:t>NLP is often used as a tool inside Text Mining pipelines.</a:t>
            </a:r>
            <a:endParaRPr/>
          </a:p>
          <a:p>
            <a:pPr indent="-228600" lvl="0" marL="228600" rtl="0" algn="just">
              <a:lnSpc>
                <a:spcPct val="90000"/>
              </a:lnSpc>
              <a:spcBef>
                <a:spcPts val="1000"/>
              </a:spcBef>
              <a:spcAft>
                <a:spcPts val="0"/>
              </a:spcAft>
              <a:buClr>
                <a:schemeClr val="dk1"/>
              </a:buClr>
              <a:buSzPts val="2800"/>
              <a:buNone/>
            </a:pPr>
            <a:r>
              <a:rPr b="1" lang="en-US"/>
              <a:t>For example:</a:t>
            </a:r>
            <a:endParaRPr b="1"/>
          </a:p>
          <a:p>
            <a:pPr indent="-228600" lvl="0" marL="228600" rtl="0" algn="just">
              <a:lnSpc>
                <a:spcPct val="90000"/>
              </a:lnSpc>
              <a:spcBef>
                <a:spcPts val="1000"/>
              </a:spcBef>
              <a:spcAft>
                <a:spcPts val="0"/>
              </a:spcAft>
              <a:buClr>
                <a:schemeClr val="dk1"/>
              </a:buClr>
              <a:buSzPts val="2800"/>
              <a:buChar char="•"/>
            </a:pPr>
            <a:r>
              <a:rPr lang="en-US"/>
              <a:t>NLP techniques help tokenize sentences and understand words.</a:t>
            </a:r>
            <a:endParaRPr/>
          </a:p>
          <a:p>
            <a:pPr indent="-228600" lvl="0" marL="228600" rtl="0" algn="just">
              <a:lnSpc>
                <a:spcPct val="90000"/>
              </a:lnSpc>
              <a:spcBef>
                <a:spcPts val="1000"/>
              </a:spcBef>
              <a:spcAft>
                <a:spcPts val="0"/>
              </a:spcAft>
              <a:buClr>
                <a:schemeClr val="dk1"/>
              </a:buClr>
              <a:buSzPts val="2800"/>
              <a:buChar char="•"/>
            </a:pPr>
            <a:r>
              <a:rPr lang="en-US"/>
              <a:t>Text mining techniques use this processed text to identify topics, sentiments, or spam. Thus, NLP provides the foundation, while Text Mining delivers actionable insights.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48" name="Google Shape;148;p1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Text Representation</a:t>
            </a:r>
            <a:endParaRPr b="1"/>
          </a:p>
        </p:txBody>
      </p:sp>
      <p:sp>
        <p:nvSpPr>
          <p:cNvPr id="154" name="Google Shape;154;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Text Representation is the process of converting human language into numerical form so that machines can process it.</a:t>
            </a:r>
            <a:endParaRPr/>
          </a:p>
          <a:p>
            <a:pPr indent="-228600" lvl="0" marL="228600" rtl="0" algn="just">
              <a:lnSpc>
                <a:spcPct val="90000"/>
              </a:lnSpc>
              <a:spcBef>
                <a:spcPts val="1000"/>
              </a:spcBef>
              <a:spcAft>
                <a:spcPts val="0"/>
              </a:spcAft>
              <a:buClr>
                <a:schemeClr val="dk1"/>
              </a:buClr>
              <a:buSzPts val="2800"/>
              <a:buChar char="•"/>
            </a:pPr>
            <a:r>
              <a:rPr lang="en-US"/>
              <a:t>Computers cannot understand words, sentences, or emotions directly. They only understand numbers. Therefore, before applying any machine learning or deep learning algorithm, textual data must be transformed into vectors.</a:t>
            </a:r>
            <a:endParaRPr/>
          </a:p>
          <a:p>
            <a:pPr indent="-228600" lvl="0" marL="228600" rtl="0" algn="just">
              <a:lnSpc>
                <a:spcPct val="90000"/>
              </a:lnSpc>
              <a:spcBef>
                <a:spcPts val="1000"/>
              </a:spcBef>
              <a:spcAft>
                <a:spcPts val="0"/>
              </a:spcAft>
              <a:buClr>
                <a:schemeClr val="dk1"/>
              </a:buClr>
              <a:buSzPts val="2800"/>
              <a:buNone/>
            </a:pPr>
            <a:r>
              <a:rPr b="1" lang="en-US"/>
              <a:t>For example:</a:t>
            </a:r>
            <a:endParaRPr b="1"/>
          </a:p>
          <a:p>
            <a:pPr indent="-228600" lvl="0" marL="228600" rtl="0" algn="just">
              <a:lnSpc>
                <a:spcPct val="90000"/>
              </a:lnSpc>
              <a:spcBef>
                <a:spcPts val="1000"/>
              </a:spcBef>
              <a:spcAft>
                <a:spcPts val="0"/>
              </a:spcAft>
              <a:buClr>
                <a:schemeClr val="dk1"/>
              </a:buClr>
              <a:buSzPts val="2800"/>
              <a:buNone/>
            </a:pPr>
            <a:r>
              <a:rPr b="1" lang="en-US"/>
              <a:t>Human sentence:</a:t>
            </a:r>
            <a:r>
              <a:rPr lang="en-US"/>
              <a:t>  “I love machine learning”</a:t>
            </a:r>
            <a:endParaRPr/>
          </a:p>
          <a:p>
            <a:pPr indent="-228600" lvl="0" marL="228600" rtl="0" algn="just">
              <a:lnSpc>
                <a:spcPct val="90000"/>
              </a:lnSpc>
              <a:spcBef>
                <a:spcPts val="1000"/>
              </a:spcBef>
              <a:spcAft>
                <a:spcPts val="0"/>
              </a:spcAft>
              <a:buClr>
                <a:schemeClr val="dk1"/>
              </a:buClr>
              <a:buSzPts val="2800"/>
              <a:buNone/>
            </a:pPr>
            <a:r>
              <a:rPr b="1" lang="en-US"/>
              <a:t>Machine-readable form:</a:t>
            </a:r>
            <a:r>
              <a:rPr lang="en-US"/>
              <a:t> [0.21, 0.87, 0.45]</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55" name="Google Shape;155;p1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Text Representation</a:t>
            </a:r>
            <a:endParaRPr/>
          </a:p>
        </p:txBody>
      </p:sp>
      <p:sp>
        <p:nvSpPr>
          <p:cNvPr id="161" name="Google Shape;16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This numerical conversion allows algorithms to:</a:t>
            </a:r>
            <a:endParaRPr/>
          </a:p>
          <a:p>
            <a:pPr indent="-228600" lvl="0" marL="228600" rtl="0" algn="just">
              <a:lnSpc>
                <a:spcPct val="90000"/>
              </a:lnSpc>
              <a:spcBef>
                <a:spcPts val="1000"/>
              </a:spcBef>
              <a:spcAft>
                <a:spcPts val="0"/>
              </a:spcAft>
              <a:buClr>
                <a:schemeClr val="dk1"/>
              </a:buClr>
              <a:buSzPts val="2800"/>
              <a:buChar char="•"/>
            </a:pPr>
            <a:r>
              <a:rPr lang="en-US"/>
              <a:t>Measure similarity between documents</a:t>
            </a:r>
            <a:endParaRPr/>
          </a:p>
          <a:p>
            <a:pPr indent="-228600" lvl="0" marL="228600" rtl="0" algn="just">
              <a:lnSpc>
                <a:spcPct val="90000"/>
              </a:lnSpc>
              <a:spcBef>
                <a:spcPts val="1000"/>
              </a:spcBef>
              <a:spcAft>
                <a:spcPts val="0"/>
              </a:spcAft>
              <a:buClr>
                <a:schemeClr val="dk1"/>
              </a:buClr>
              <a:buSzPts val="2800"/>
              <a:buChar char="•"/>
            </a:pPr>
            <a:r>
              <a:rPr lang="en-US"/>
              <a:t>Identify important words</a:t>
            </a:r>
            <a:endParaRPr/>
          </a:p>
          <a:p>
            <a:pPr indent="-228600" lvl="0" marL="228600" rtl="0" algn="just">
              <a:lnSpc>
                <a:spcPct val="90000"/>
              </a:lnSpc>
              <a:spcBef>
                <a:spcPts val="1000"/>
              </a:spcBef>
              <a:spcAft>
                <a:spcPts val="0"/>
              </a:spcAft>
              <a:buClr>
                <a:schemeClr val="dk1"/>
              </a:buClr>
              <a:buSzPts val="2800"/>
              <a:buChar char="•"/>
            </a:pPr>
            <a:r>
              <a:rPr lang="en-US"/>
              <a:t>Detect sentiment</a:t>
            </a:r>
            <a:endParaRPr/>
          </a:p>
          <a:p>
            <a:pPr indent="-228600" lvl="0" marL="228600" rtl="0" algn="just">
              <a:lnSpc>
                <a:spcPct val="90000"/>
              </a:lnSpc>
              <a:spcBef>
                <a:spcPts val="1000"/>
              </a:spcBef>
              <a:spcAft>
                <a:spcPts val="0"/>
              </a:spcAft>
              <a:buClr>
                <a:schemeClr val="dk1"/>
              </a:buClr>
              <a:buSzPts val="2800"/>
              <a:buChar char="•"/>
            </a:pPr>
            <a:r>
              <a:rPr lang="en-US"/>
              <a:t>Classify text</a:t>
            </a:r>
            <a:endParaRPr/>
          </a:p>
          <a:p>
            <a:pPr indent="-228600" lvl="0" marL="228600" rtl="0" algn="just">
              <a:lnSpc>
                <a:spcPct val="90000"/>
              </a:lnSpc>
              <a:spcBef>
                <a:spcPts val="1000"/>
              </a:spcBef>
              <a:spcAft>
                <a:spcPts val="0"/>
              </a:spcAft>
              <a:buClr>
                <a:schemeClr val="dk1"/>
              </a:buClr>
              <a:buSzPts val="2800"/>
              <a:buChar char="•"/>
            </a:pPr>
            <a:r>
              <a:rPr lang="en-US"/>
              <a:t>Discover topics</a:t>
            </a:r>
            <a:endParaRPr/>
          </a:p>
          <a:p>
            <a:pPr indent="0" lvl="0" marL="0" rtl="0" algn="just">
              <a:lnSpc>
                <a:spcPct val="90000"/>
              </a:lnSpc>
              <a:spcBef>
                <a:spcPts val="1000"/>
              </a:spcBef>
              <a:spcAft>
                <a:spcPts val="0"/>
              </a:spcAft>
              <a:buClr>
                <a:schemeClr val="dk1"/>
              </a:buClr>
              <a:buSzPts val="2800"/>
              <a:buNone/>
            </a:pPr>
            <a:r>
              <a:rPr lang="en-US"/>
              <a:t>Text representation is the most critical step in any NLP pipeline. The quality of representation directly impacts model performance.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62" name="Google Shape;162;p1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Text Representation</a:t>
            </a:r>
            <a:endParaRPr/>
          </a:p>
        </p:txBody>
      </p:sp>
      <p:sp>
        <p:nvSpPr>
          <p:cNvPr id="168" name="Google Shape;168;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Common text representation techniques include:</a:t>
            </a:r>
            <a:endParaRPr/>
          </a:p>
          <a:p>
            <a:pPr indent="-228600" lvl="0" marL="228600" rtl="0" algn="just">
              <a:lnSpc>
                <a:spcPct val="90000"/>
              </a:lnSpc>
              <a:spcBef>
                <a:spcPts val="1000"/>
              </a:spcBef>
              <a:spcAft>
                <a:spcPts val="0"/>
              </a:spcAft>
              <a:buClr>
                <a:schemeClr val="dk1"/>
              </a:buClr>
              <a:buSzPts val="2800"/>
              <a:buChar char="•"/>
            </a:pPr>
            <a:r>
              <a:rPr lang="en-US"/>
              <a:t>Bag of Words (BoW)</a:t>
            </a:r>
            <a:endParaRPr/>
          </a:p>
          <a:p>
            <a:pPr indent="-228600" lvl="0" marL="228600" rtl="0" algn="just">
              <a:lnSpc>
                <a:spcPct val="90000"/>
              </a:lnSpc>
              <a:spcBef>
                <a:spcPts val="1000"/>
              </a:spcBef>
              <a:spcAft>
                <a:spcPts val="0"/>
              </a:spcAft>
              <a:buClr>
                <a:schemeClr val="dk1"/>
              </a:buClr>
              <a:buSzPts val="2800"/>
              <a:buChar char="•"/>
            </a:pPr>
            <a:r>
              <a:rPr lang="en-US"/>
              <a:t>Term Frequency–Inverse Document Frequency (TF-IDF)</a:t>
            </a:r>
            <a:endParaRPr/>
          </a:p>
          <a:p>
            <a:pPr indent="-228600" lvl="0" marL="228600" rtl="0" algn="just">
              <a:lnSpc>
                <a:spcPct val="90000"/>
              </a:lnSpc>
              <a:spcBef>
                <a:spcPts val="1000"/>
              </a:spcBef>
              <a:spcAft>
                <a:spcPts val="0"/>
              </a:spcAft>
              <a:buClr>
                <a:schemeClr val="dk1"/>
              </a:buClr>
              <a:buSzPts val="2800"/>
              <a:buChar char="•"/>
            </a:pPr>
            <a:r>
              <a:rPr lang="en-US"/>
              <a:t>Word Embeddings (Word2Vec, GloVe)</a:t>
            </a:r>
            <a:endParaRPr/>
          </a:p>
          <a:p>
            <a:pPr indent="0" lvl="0" marL="0" rtl="0" algn="just">
              <a:lnSpc>
                <a:spcPct val="90000"/>
              </a:lnSpc>
              <a:spcBef>
                <a:spcPts val="1000"/>
              </a:spcBef>
              <a:spcAft>
                <a:spcPts val="0"/>
              </a:spcAft>
              <a:buClr>
                <a:schemeClr val="dk1"/>
              </a:buClr>
              <a:buSzPts val="2800"/>
              <a:buNone/>
            </a:pPr>
            <a:r>
              <a:rPr lang="en-US"/>
              <a:t>Each method captures different properties of language such as frequency, importance, or semantic meaning.</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69" name="Google Shape;169;p1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Types of Text Representation Techniques</a:t>
            </a:r>
            <a:endParaRPr b="1"/>
          </a:p>
        </p:txBody>
      </p:sp>
      <p:sp>
        <p:nvSpPr>
          <p:cNvPr id="175" name="Google Shape;17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There are multiple ways to convert text into numerical form. Each method captures different characteristics of language and is suitable for different NLP tasks.</a:t>
            </a:r>
            <a:endParaRPr/>
          </a:p>
          <a:p>
            <a:pPr indent="-228600" lvl="0" marL="228600" rtl="0" algn="just">
              <a:lnSpc>
                <a:spcPct val="90000"/>
              </a:lnSpc>
              <a:spcBef>
                <a:spcPts val="1000"/>
              </a:spcBef>
              <a:spcAft>
                <a:spcPts val="0"/>
              </a:spcAft>
              <a:buClr>
                <a:schemeClr val="dk1"/>
              </a:buClr>
              <a:buSzPts val="2800"/>
              <a:buNone/>
            </a:pPr>
            <a:r>
              <a:rPr lang="en-US"/>
              <a:t>The most commonly used text representation techniques are:</a:t>
            </a:r>
            <a:endParaRPr/>
          </a:p>
          <a:p>
            <a:pPr indent="-228600" lvl="0" marL="228600" rtl="0" algn="just">
              <a:lnSpc>
                <a:spcPct val="90000"/>
              </a:lnSpc>
              <a:spcBef>
                <a:spcPts val="1000"/>
              </a:spcBef>
              <a:spcAft>
                <a:spcPts val="0"/>
              </a:spcAft>
              <a:buClr>
                <a:schemeClr val="dk1"/>
              </a:buClr>
              <a:buSzPts val="2800"/>
              <a:buNone/>
            </a:pPr>
            <a:r>
              <a:rPr b="1" lang="en-US"/>
              <a:t>1. Bag of Words (BoW)</a:t>
            </a:r>
            <a:endParaRPr/>
          </a:p>
          <a:p>
            <a:pPr indent="0" lvl="0" marL="0" rtl="0" algn="just">
              <a:lnSpc>
                <a:spcPct val="90000"/>
              </a:lnSpc>
              <a:spcBef>
                <a:spcPts val="1000"/>
              </a:spcBef>
              <a:spcAft>
                <a:spcPts val="0"/>
              </a:spcAft>
              <a:buClr>
                <a:schemeClr val="dk1"/>
              </a:buClr>
              <a:buSzPts val="2800"/>
              <a:buNone/>
            </a:pPr>
            <a:r>
              <a:rPr lang="en-US"/>
              <a:t>Represents text by counting how many times each word appears in a document. Word order is ignored, and only frequency matters.</a:t>
            </a:r>
            <a:endParaRPr/>
          </a:p>
          <a:p>
            <a:pPr indent="-228600" lvl="0" marL="228600" rtl="0" algn="just">
              <a:lnSpc>
                <a:spcPct val="90000"/>
              </a:lnSpc>
              <a:spcBef>
                <a:spcPts val="1000"/>
              </a:spcBef>
              <a:spcAft>
                <a:spcPts val="0"/>
              </a:spcAft>
              <a:buClr>
                <a:schemeClr val="dk1"/>
              </a:buClr>
              <a:buSzPts val="2800"/>
              <a:buNone/>
            </a:pPr>
            <a:r>
              <a:rPr b="1" lang="en-US"/>
              <a:t>2. Term Frequency–Inverse Document Frequency (TF-IDF)</a:t>
            </a:r>
            <a:endParaRPr/>
          </a:p>
          <a:p>
            <a:pPr indent="0" lvl="0" marL="0" rtl="0" algn="just">
              <a:lnSpc>
                <a:spcPct val="90000"/>
              </a:lnSpc>
              <a:spcBef>
                <a:spcPts val="1000"/>
              </a:spcBef>
              <a:spcAft>
                <a:spcPts val="0"/>
              </a:spcAft>
              <a:buClr>
                <a:schemeClr val="dk1"/>
              </a:buClr>
              <a:buSzPts val="2800"/>
              <a:buNone/>
            </a:pPr>
            <a:r>
              <a:rPr lang="en-US"/>
              <a:t>An extension of Bag of Words that assigns higher importance to rare but meaningful words and reduces the impact of common words.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76" name="Google Shape;176;p1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Types of Text Representation Techniques</a:t>
            </a:r>
            <a:endParaRPr b="1"/>
          </a:p>
        </p:txBody>
      </p:sp>
      <p:sp>
        <p:nvSpPr>
          <p:cNvPr id="182" name="Google Shape;18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None/>
            </a:pPr>
            <a:r>
              <a:rPr b="1" lang="en-US"/>
              <a:t>3. Word Embeddings (Word2Vec, GloVe)</a:t>
            </a:r>
            <a:endParaRPr/>
          </a:p>
          <a:p>
            <a:pPr indent="0" lvl="0" marL="0" rtl="0" algn="just">
              <a:lnSpc>
                <a:spcPct val="90000"/>
              </a:lnSpc>
              <a:spcBef>
                <a:spcPts val="1000"/>
              </a:spcBef>
              <a:spcAft>
                <a:spcPts val="0"/>
              </a:spcAft>
              <a:buClr>
                <a:schemeClr val="dk1"/>
              </a:buClr>
              <a:buSzPct val="100000"/>
              <a:buNone/>
            </a:pPr>
            <a:r>
              <a:rPr lang="en-US"/>
              <a:t>Represents words as dense vectors that capture semantic meaning and relationships between words.</a:t>
            </a:r>
            <a:endParaRPr/>
          </a:p>
          <a:p>
            <a:pPr indent="-228600" lvl="0" marL="228600" rtl="0" algn="just">
              <a:lnSpc>
                <a:spcPct val="90000"/>
              </a:lnSpc>
              <a:spcBef>
                <a:spcPts val="1000"/>
              </a:spcBef>
              <a:spcAft>
                <a:spcPts val="0"/>
              </a:spcAft>
              <a:buClr>
                <a:schemeClr val="dk1"/>
              </a:buClr>
              <a:buSzPct val="100000"/>
              <a:buNone/>
            </a:pPr>
            <a:r>
              <a:rPr lang="en-US"/>
              <a:t>These methods differ in:</a:t>
            </a:r>
            <a:endParaRPr/>
          </a:p>
          <a:p>
            <a:pPr indent="-228600" lvl="0" marL="228600" rtl="0" algn="just">
              <a:lnSpc>
                <a:spcPct val="90000"/>
              </a:lnSpc>
              <a:spcBef>
                <a:spcPts val="1000"/>
              </a:spcBef>
              <a:spcAft>
                <a:spcPts val="0"/>
              </a:spcAft>
              <a:buClr>
                <a:schemeClr val="dk1"/>
              </a:buClr>
              <a:buSzPct val="100000"/>
              <a:buChar char="•"/>
            </a:pPr>
            <a:r>
              <a:rPr lang="en-US"/>
              <a:t>Complexity</a:t>
            </a:r>
            <a:endParaRPr/>
          </a:p>
          <a:p>
            <a:pPr indent="-228600" lvl="0" marL="228600" rtl="0" algn="just">
              <a:lnSpc>
                <a:spcPct val="90000"/>
              </a:lnSpc>
              <a:spcBef>
                <a:spcPts val="1000"/>
              </a:spcBef>
              <a:spcAft>
                <a:spcPts val="0"/>
              </a:spcAft>
              <a:buClr>
                <a:schemeClr val="dk1"/>
              </a:buClr>
              <a:buSzPct val="100000"/>
              <a:buChar char="•"/>
            </a:pPr>
            <a:r>
              <a:rPr lang="en-US"/>
              <a:t>Memory usage</a:t>
            </a:r>
            <a:endParaRPr/>
          </a:p>
          <a:p>
            <a:pPr indent="-228600" lvl="0" marL="228600" rtl="0" algn="just">
              <a:lnSpc>
                <a:spcPct val="90000"/>
              </a:lnSpc>
              <a:spcBef>
                <a:spcPts val="1000"/>
              </a:spcBef>
              <a:spcAft>
                <a:spcPts val="0"/>
              </a:spcAft>
              <a:buClr>
                <a:schemeClr val="dk1"/>
              </a:buClr>
              <a:buSzPct val="100000"/>
              <a:buChar char="•"/>
            </a:pPr>
            <a:r>
              <a:rPr lang="en-US"/>
              <a:t>Ability to capture meaning</a:t>
            </a:r>
            <a:endParaRPr/>
          </a:p>
          <a:p>
            <a:pPr indent="-228600" lvl="0" marL="228600" rtl="0" algn="just">
              <a:lnSpc>
                <a:spcPct val="90000"/>
              </a:lnSpc>
              <a:spcBef>
                <a:spcPts val="1000"/>
              </a:spcBef>
              <a:spcAft>
                <a:spcPts val="0"/>
              </a:spcAft>
              <a:buClr>
                <a:schemeClr val="dk1"/>
              </a:buClr>
              <a:buSzPct val="100000"/>
              <a:buChar char="•"/>
            </a:pPr>
            <a:r>
              <a:rPr lang="en-US"/>
              <a:t>Performance on real-world data</a:t>
            </a:r>
            <a:endParaRPr/>
          </a:p>
          <a:p>
            <a:pPr indent="0" lvl="0" marL="0" rtl="0" algn="just">
              <a:lnSpc>
                <a:spcPct val="90000"/>
              </a:lnSpc>
              <a:spcBef>
                <a:spcPts val="1000"/>
              </a:spcBef>
              <a:spcAft>
                <a:spcPts val="0"/>
              </a:spcAft>
              <a:buClr>
                <a:schemeClr val="dk1"/>
              </a:buClr>
              <a:buSzPct val="100000"/>
              <a:buNone/>
            </a:pPr>
            <a:r>
              <a:rPr lang="en-US"/>
              <a:t>Choosing the right representation method is crucial because it directly affects model accuracy and interpretability.</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183" name="Google Shape;183;p1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Bag of Words (BoW)</a:t>
            </a:r>
            <a:r>
              <a:rPr lang="en-US"/>
              <a:t> </a:t>
            </a:r>
            <a:endParaRPr/>
          </a:p>
        </p:txBody>
      </p:sp>
      <p:sp>
        <p:nvSpPr>
          <p:cNvPr id="189" name="Google Shape;18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Bag of Words (BoW) is one of the simplest and most widely used techniques for text representation in Natural Language Processing.</a:t>
            </a:r>
            <a:endParaRPr/>
          </a:p>
          <a:p>
            <a:pPr indent="-228600" lvl="0" marL="228600" rtl="0" algn="just">
              <a:lnSpc>
                <a:spcPct val="90000"/>
              </a:lnSpc>
              <a:spcBef>
                <a:spcPts val="1000"/>
              </a:spcBef>
              <a:spcAft>
                <a:spcPts val="0"/>
              </a:spcAft>
              <a:buClr>
                <a:schemeClr val="dk1"/>
              </a:buClr>
              <a:buSzPts val="2800"/>
              <a:buNone/>
            </a:pPr>
            <a:r>
              <a:rPr lang="en-US"/>
              <a:t>In the Bag of Words model:</a:t>
            </a:r>
            <a:endParaRPr/>
          </a:p>
          <a:p>
            <a:pPr indent="-228600" lvl="0" marL="228600" rtl="0" algn="just">
              <a:lnSpc>
                <a:spcPct val="90000"/>
              </a:lnSpc>
              <a:spcBef>
                <a:spcPts val="1000"/>
              </a:spcBef>
              <a:spcAft>
                <a:spcPts val="0"/>
              </a:spcAft>
              <a:buClr>
                <a:schemeClr val="dk1"/>
              </a:buClr>
              <a:buSzPts val="2800"/>
              <a:buChar char="•"/>
            </a:pPr>
            <a:r>
              <a:rPr lang="en-US"/>
              <a:t>Each document is treated as a “bag” of individual words</a:t>
            </a:r>
            <a:endParaRPr/>
          </a:p>
          <a:p>
            <a:pPr indent="-228600" lvl="0" marL="228600" rtl="0" algn="just">
              <a:lnSpc>
                <a:spcPct val="90000"/>
              </a:lnSpc>
              <a:spcBef>
                <a:spcPts val="1000"/>
              </a:spcBef>
              <a:spcAft>
                <a:spcPts val="0"/>
              </a:spcAft>
              <a:buClr>
                <a:schemeClr val="dk1"/>
              </a:buClr>
              <a:buSzPts val="2800"/>
              <a:buChar char="•"/>
            </a:pPr>
            <a:r>
              <a:rPr lang="en-US"/>
              <a:t>The order of words is completely ignored</a:t>
            </a:r>
            <a:endParaRPr/>
          </a:p>
          <a:p>
            <a:pPr indent="-228600" lvl="0" marL="228600" rtl="0" algn="just">
              <a:lnSpc>
                <a:spcPct val="90000"/>
              </a:lnSpc>
              <a:spcBef>
                <a:spcPts val="1000"/>
              </a:spcBef>
              <a:spcAft>
                <a:spcPts val="0"/>
              </a:spcAft>
              <a:buClr>
                <a:schemeClr val="dk1"/>
              </a:buClr>
              <a:buSzPts val="2800"/>
              <a:buChar char="•"/>
            </a:pPr>
            <a:r>
              <a:rPr lang="en-US"/>
              <a:t>Only the frequency (count) of each word matters</a:t>
            </a:r>
            <a:endParaRPr/>
          </a:p>
          <a:p>
            <a:pPr indent="0" lvl="0" marL="0" rtl="0" algn="just">
              <a:lnSpc>
                <a:spcPct val="90000"/>
              </a:lnSpc>
              <a:spcBef>
                <a:spcPts val="1000"/>
              </a:spcBef>
              <a:spcAft>
                <a:spcPts val="0"/>
              </a:spcAft>
              <a:buClr>
                <a:schemeClr val="dk1"/>
              </a:buClr>
              <a:buSzPts val="2800"/>
              <a:buNone/>
            </a:pPr>
            <a:r>
              <a:rPr lang="en-US"/>
              <a:t>The main idea is to build a vocabulary from all unique words in the dataset and then represent each document as a vector indicating how many times each word appears.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90" name="Google Shape;190;p1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Bag of Words (BoW) </a:t>
            </a:r>
            <a:endParaRPr/>
          </a:p>
        </p:txBody>
      </p:sp>
      <p:sp>
        <p:nvSpPr>
          <p:cNvPr id="196" name="Google Shape;196;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None/>
            </a:pPr>
            <a:r>
              <a:rPr b="1" lang="en-US"/>
              <a:t>For example:</a:t>
            </a:r>
            <a:endParaRPr b="1"/>
          </a:p>
          <a:p>
            <a:pPr indent="-228600" lvl="0" marL="228600" rtl="0" algn="l">
              <a:lnSpc>
                <a:spcPct val="90000"/>
              </a:lnSpc>
              <a:spcBef>
                <a:spcPts val="1000"/>
              </a:spcBef>
              <a:spcAft>
                <a:spcPts val="0"/>
              </a:spcAft>
              <a:buClr>
                <a:schemeClr val="dk1"/>
              </a:buClr>
              <a:buSzPct val="100000"/>
              <a:buNone/>
            </a:pPr>
            <a:r>
              <a:rPr b="1" lang="en-US"/>
              <a:t>Sentence 1:</a:t>
            </a:r>
            <a:r>
              <a:rPr lang="en-US"/>
              <a:t> “I love NLP”</a:t>
            </a:r>
            <a:endParaRPr/>
          </a:p>
          <a:p>
            <a:pPr indent="-228600" lvl="0" marL="228600" rtl="0" algn="l">
              <a:lnSpc>
                <a:spcPct val="90000"/>
              </a:lnSpc>
              <a:spcBef>
                <a:spcPts val="1000"/>
              </a:spcBef>
              <a:spcAft>
                <a:spcPts val="0"/>
              </a:spcAft>
              <a:buClr>
                <a:schemeClr val="dk1"/>
              </a:buClr>
              <a:buSzPct val="100000"/>
              <a:buNone/>
            </a:pPr>
            <a:r>
              <a:rPr b="1" lang="en-US"/>
              <a:t>Sentence 2: </a:t>
            </a:r>
            <a:r>
              <a:rPr lang="en-US"/>
              <a:t>“I love AI”</a:t>
            </a:r>
            <a:endParaRPr/>
          </a:p>
          <a:p>
            <a:pPr indent="-228600" lvl="0" marL="228600" rtl="0" algn="l">
              <a:lnSpc>
                <a:spcPct val="90000"/>
              </a:lnSpc>
              <a:spcBef>
                <a:spcPts val="1000"/>
              </a:spcBef>
              <a:spcAft>
                <a:spcPts val="0"/>
              </a:spcAft>
              <a:buClr>
                <a:schemeClr val="dk1"/>
              </a:buClr>
              <a:buSzPct val="100000"/>
              <a:buNone/>
            </a:pPr>
            <a:r>
              <a:rPr b="1" lang="en-US"/>
              <a:t>Vocabulary created:</a:t>
            </a:r>
            <a:endParaRPr b="1"/>
          </a:p>
          <a:p>
            <a:pPr indent="-228600" lvl="0" marL="228600" rtl="0" algn="l">
              <a:lnSpc>
                <a:spcPct val="90000"/>
              </a:lnSpc>
              <a:spcBef>
                <a:spcPts val="1000"/>
              </a:spcBef>
              <a:spcAft>
                <a:spcPts val="0"/>
              </a:spcAft>
              <a:buClr>
                <a:schemeClr val="dk1"/>
              </a:buClr>
              <a:buSzPct val="100000"/>
              <a:buNone/>
            </a:pPr>
            <a:r>
              <a:rPr lang="en-US"/>
              <a:t>[I, love, NLP, AI]</a:t>
            </a:r>
            <a:endParaRPr/>
          </a:p>
          <a:p>
            <a:pPr indent="-228600" lvl="0" marL="228600" rtl="0" algn="l">
              <a:lnSpc>
                <a:spcPct val="90000"/>
              </a:lnSpc>
              <a:spcBef>
                <a:spcPts val="1000"/>
              </a:spcBef>
              <a:spcAft>
                <a:spcPts val="0"/>
              </a:spcAft>
              <a:buClr>
                <a:schemeClr val="dk1"/>
              </a:buClr>
              <a:buSzPct val="100000"/>
              <a:buNone/>
            </a:pPr>
            <a:r>
              <a:rPr b="1" lang="en-US"/>
              <a:t>Vector representation:</a:t>
            </a:r>
            <a:endParaRPr b="1"/>
          </a:p>
          <a:p>
            <a:pPr indent="-228600" lvl="0" marL="228600" rtl="0" algn="l">
              <a:lnSpc>
                <a:spcPct val="90000"/>
              </a:lnSpc>
              <a:spcBef>
                <a:spcPts val="1000"/>
              </a:spcBef>
              <a:spcAft>
                <a:spcPts val="0"/>
              </a:spcAft>
              <a:buClr>
                <a:schemeClr val="dk1"/>
              </a:buClr>
              <a:buSzPct val="100000"/>
              <a:buNone/>
            </a:pPr>
            <a:r>
              <a:rPr b="1" lang="en-US"/>
              <a:t>Sentence 1 →</a:t>
            </a:r>
            <a:r>
              <a:rPr lang="en-US"/>
              <a:t> [1, 1, 1, 0]</a:t>
            </a:r>
            <a:endParaRPr/>
          </a:p>
          <a:p>
            <a:pPr indent="-228600" lvl="0" marL="228600" rtl="0" algn="l">
              <a:lnSpc>
                <a:spcPct val="90000"/>
              </a:lnSpc>
              <a:spcBef>
                <a:spcPts val="1000"/>
              </a:spcBef>
              <a:spcAft>
                <a:spcPts val="0"/>
              </a:spcAft>
              <a:buClr>
                <a:schemeClr val="dk1"/>
              </a:buClr>
              <a:buSzPct val="100000"/>
              <a:buNone/>
            </a:pPr>
            <a:r>
              <a:rPr b="1" lang="en-US"/>
              <a:t>Sentence 2 → </a:t>
            </a:r>
            <a:r>
              <a:rPr lang="en-US"/>
              <a:t>[1, 1, 0, 1]</a:t>
            </a:r>
            <a:endParaRPr/>
          </a:p>
          <a:p>
            <a:pPr indent="-228600" lvl="0" marL="228600" rtl="0" algn="just">
              <a:lnSpc>
                <a:spcPct val="90000"/>
              </a:lnSpc>
              <a:spcBef>
                <a:spcPts val="1000"/>
              </a:spcBef>
              <a:spcAft>
                <a:spcPts val="0"/>
              </a:spcAft>
              <a:buClr>
                <a:schemeClr val="dk1"/>
              </a:buClr>
              <a:buSzPct val="100000"/>
              <a:buChar char="•"/>
            </a:pPr>
            <a:r>
              <a:rPr lang="en-US"/>
              <a:t>Each position in the vector corresponds to a word in the vocabulary.</a:t>
            </a:r>
            <a:endParaRPr/>
          </a:p>
          <a:p>
            <a:pPr indent="-228600" lvl="0" marL="228600" rtl="0" algn="just">
              <a:lnSpc>
                <a:spcPct val="90000"/>
              </a:lnSpc>
              <a:spcBef>
                <a:spcPts val="1000"/>
              </a:spcBef>
              <a:spcAft>
                <a:spcPts val="0"/>
              </a:spcAft>
              <a:buClr>
                <a:schemeClr val="dk1"/>
              </a:buClr>
              <a:buSzPct val="100000"/>
              <a:buChar char="•"/>
            </a:pPr>
            <a:r>
              <a:rPr lang="en-US"/>
              <a:t>Bag of Words provides a numerical representation of text that can be directly used by machine learning algorithms.</a:t>
            </a:r>
            <a:endParaRPr/>
          </a:p>
          <a:p>
            <a:pPr indent="-22860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197" name="Google Shape;197;p1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How Bag of Words Works</a:t>
            </a:r>
            <a:endParaRPr b="1"/>
          </a:p>
        </p:txBody>
      </p:sp>
      <p:sp>
        <p:nvSpPr>
          <p:cNvPr id="203" name="Google Shape;20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The Bag of Words model follows a simple multi-step process to convert text into numerical vectors:</a:t>
            </a:r>
            <a:endParaRPr/>
          </a:p>
          <a:p>
            <a:pPr indent="-228600" lvl="0" marL="228600" rtl="0" algn="just">
              <a:lnSpc>
                <a:spcPct val="90000"/>
              </a:lnSpc>
              <a:spcBef>
                <a:spcPts val="1000"/>
              </a:spcBef>
              <a:spcAft>
                <a:spcPts val="0"/>
              </a:spcAft>
              <a:buClr>
                <a:schemeClr val="dk1"/>
              </a:buClr>
              <a:buSzPts val="2800"/>
              <a:buNone/>
            </a:pPr>
            <a:r>
              <a:rPr b="1" lang="en-US"/>
              <a:t>Step 1:</a:t>
            </a:r>
            <a:r>
              <a:rPr lang="en-US"/>
              <a:t> </a:t>
            </a:r>
            <a:r>
              <a:rPr b="1" lang="en-US"/>
              <a:t>Collect Documents</a:t>
            </a:r>
            <a:endParaRPr/>
          </a:p>
          <a:p>
            <a:pPr indent="-228600" lvl="0" marL="228600" rtl="0" algn="just">
              <a:lnSpc>
                <a:spcPct val="90000"/>
              </a:lnSpc>
              <a:spcBef>
                <a:spcPts val="1000"/>
              </a:spcBef>
              <a:spcAft>
                <a:spcPts val="0"/>
              </a:spcAft>
              <a:buClr>
                <a:schemeClr val="dk1"/>
              </a:buClr>
              <a:buSzPts val="2800"/>
              <a:buNone/>
            </a:pPr>
            <a:r>
              <a:rPr lang="en-US"/>
              <a:t>Gather all text documents (sentences, reviews, tweets, etc.).</a:t>
            </a:r>
            <a:endParaRPr/>
          </a:p>
          <a:p>
            <a:pPr indent="-228600" lvl="0" marL="228600" rtl="0" algn="just">
              <a:lnSpc>
                <a:spcPct val="90000"/>
              </a:lnSpc>
              <a:spcBef>
                <a:spcPts val="1000"/>
              </a:spcBef>
              <a:spcAft>
                <a:spcPts val="0"/>
              </a:spcAft>
              <a:buClr>
                <a:schemeClr val="dk1"/>
              </a:buClr>
              <a:buSzPts val="2800"/>
              <a:buNone/>
            </a:pPr>
            <a:r>
              <a:rPr b="1" lang="en-US"/>
              <a:t>Step 2: Tokenization</a:t>
            </a:r>
            <a:endParaRPr/>
          </a:p>
          <a:p>
            <a:pPr indent="-228600" lvl="0" marL="228600" rtl="0" algn="just">
              <a:lnSpc>
                <a:spcPct val="90000"/>
              </a:lnSpc>
              <a:spcBef>
                <a:spcPts val="1000"/>
              </a:spcBef>
              <a:spcAft>
                <a:spcPts val="0"/>
              </a:spcAft>
              <a:buClr>
                <a:schemeClr val="dk1"/>
              </a:buClr>
              <a:buSzPts val="2800"/>
              <a:buNone/>
            </a:pPr>
            <a:r>
              <a:rPr lang="en-US"/>
              <a:t>Split each document into individual words (tokens).</a:t>
            </a:r>
            <a:endParaRPr/>
          </a:p>
          <a:p>
            <a:pPr indent="-228600" lvl="0" marL="228600" rtl="0" algn="just">
              <a:lnSpc>
                <a:spcPct val="90000"/>
              </a:lnSpc>
              <a:spcBef>
                <a:spcPts val="1000"/>
              </a:spcBef>
              <a:spcAft>
                <a:spcPts val="0"/>
              </a:spcAft>
              <a:buClr>
                <a:schemeClr val="dk1"/>
              </a:buClr>
              <a:buSzPts val="2800"/>
              <a:buNone/>
            </a:pPr>
            <a:r>
              <a:rPr b="1" lang="en-US"/>
              <a:t>Example:</a:t>
            </a:r>
            <a:endParaRPr/>
          </a:p>
          <a:p>
            <a:pPr indent="-228600" lvl="0" marL="228600" rtl="0" algn="just">
              <a:lnSpc>
                <a:spcPct val="90000"/>
              </a:lnSpc>
              <a:spcBef>
                <a:spcPts val="1000"/>
              </a:spcBef>
              <a:spcAft>
                <a:spcPts val="0"/>
              </a:spcAft>
              <a:buClr>
                <a:schemeClr val="dk1"/>
              </a:buClr>
              <a:buSzPts val="2800"/>
              <a:buNone/>
            </a:pPr>
            <a:r>
              <a:rPr lang="en-US"/>
              <a:t>“I love NLP” → [“I”, “love”, “NLP”]</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04" name="Google Shape;204;p1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How Bag of Words Works</a:t>
            </a:r>
            <a:endParaRPr/>
          </a:p>
          <a:p>
            <a:pPr indent="0" lvl="0" marL="0" rtl="0" algn="l">
              <a:lnSpc>
                <a:spcPct val="90000"/>
              </a:lnSpc>
              <a:spcBef>
                <a:spcPts val="0"/>
              </a:spcBef>
              <a:spcAft>
                <a:spcPts val="0"/>
              </a:spcAft>
              <a:buClr>
                <a:schemeClr val="dk1"/>
              </a:buClr>
              <a:buSzPts val="4400"/>
              <a:buFont typeface="Play"/>
              <a:buNone/>
            </a:pPr>
            <a:r>
              <a:t/>
            </a:r>
            <a:endParaRPr/>
          </a:p>
        </p:txBody>
      </p:sp>
      <p:sp>
        <p:nvSpPr>
          <p:cNvPr id="210" name="Google Shape;210;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None/>
            </a:pPr>
            <a:r>
              <a:rPr b="1" lang="en-US"/>
              <a:t>Step 3: Build Vocabulary</a:t>
            </a:r>
            <a:endParaRPr/>
          </a:p>
          <a:p>
            <a:pPr indent="-228600" lvl="0" marL="228600" rtl="0" algn="just">
              <a:lnSpc>
                <a:spcPct val="90000"/>
              </a:lnSpc>
              <a:spcBef>
                <a:spcPts val="1000"/>
              </a:spcBef>
              <a:spcAft>
                <a:spcPts val="0"/>
              </a:spcAft>
              <a:buClr>
                <a:schemeClr val="dk1"/>
              </a:buClr>
              <a:buSzPct val="100000"/>
              <a:buNone/>
            </a:pPr>
            <a:r>
              <a:rPr lang="en-US"/>
              <a:t>Create a list of all unique words across the entire dataset.</a:t>
            </a:r>
            <a:endParaRPr/>
          </a:p>
          <a:p>
            <a:pPr indent="-228600" lvl="0" marL="228600" rtl="0" algn="just">
              <a:lnSpc>
                <a:spcPct val="90000"/>
              </a:lnSpc>
              <a:spcBef>
                <a:spcPts val="1000"/>
              </a:spcBef>
              <a:spcAft>
                <a:spcPts val="0"/>
              </a:spcAft>
              <a:buClr>
                <a:schemeClr val="dk1"/>
              </a:buClr>
              <a:buSzPct val="100000"/>
              <a:buNone/>
            </a:pPr>
            <a:r>
              <a:rPr b="1" lang="en-US"/>
              <a:t>Example vocabulary:</a:t>
            </a:r>
            <a:endParaRPr/>
          </a:p>
          <a:p>
            <a:pPr indent="-228600" lvl="0" marL="228600" rtl="0" algn="just">
              <a:lnSpc>
                <a:spcPct val="90000"/>
              </a:lnSpc>
              <a:spcBef>
                <a:spcPts val="1000"/>
              </a:spcBef>
              <a:spcAft>
                <a:spcPts val="0"/>
              </a:spcAft>
              <a:buClr>
                <a:schemeClr val="dk1"/>
              </a:buClr>
              <a:buSzPct val="100000"/>
              <a:buNone/>
            </a:pPr>
            <a:r>
              <a:rPr lang="en-US"/>
              <a:t>[I, love, NLP, AI]</a:t>
            </a:r>
            <a:endParaRPr/>
          </a:p>
          <a:p>
            <a:pPr indent="-228600" lvl="0" marL="228600" rtl="0" algn="just">
              <a:lnSpc>
                <a:spcPct val="90000"/>
              </a:lnSpc>
              <a:spcBef>
                <a:spcPts val="1000"/>
              </a:spcBef>
              <a:spcAft>
                <a:spcPts val="0"/>
              </a:spcAft>
              <a:buClr>
                <a:schemeClr val="dk1"/>
              </a:buClr>
              <a:buSzPct val="100000"/>
              <a:buNone/>
            </a:pPr>
            <a:r>
              <a:rPr b="1" lang="en-US"/>
              <a:t>Step 4: Vectorization</a:t>
            </a:r>
            <a:endParaRPr/>
          </a:p>
          <a:p>
            <a:pPr indent="0" lvl="0" marL="0" rtl="0" algn="just">
              <a:lnSpc>
                <a:spcPct val="90000"/>
              </a:lnSpc>
              <a:spcBef>
                <a:spcPts val="1000"/>
              </a:spcBef>
              <a:spcAft>
                <a:spcPts val="0"/>
              </a:spcAft>
              <a:buClr>
                <a:schemeClr val="dk1"/>
              </a:buClr>
              <a:buSzPct val="100000"/>
              <a:buNone/>
            </a:pPr>
            <a:r>
              <a:rPr lang="en-US"/>
              <a:t>For each document, count how many times each vocabulary word appears.</a:t>
            </a:r>
            <a:endParaRPr/>
          </a:p>
          <a:p>
            <a:pPr indent="-228600" lvl="0" marL="228600" rtl="0" algn="just">
              <a:lnSpc>
                <a:spcPct val="90000"/>
              </a:lnSpc>
              <a:spcBef>
                <a:spcPts val="1000"/>
              </a:spcBef>
              <a:spcAft>
                <a:spcPts val="0"/>
              </a:spcAft>
              <a:buClr>
                <a:schemeClr val="dk1"/>
              </a:buClr>
              <a:buSzPct val="100000"/>
              <a:buNone/>
            </a:pPr>
            <a:r>
              <a:rPr b="1" lang="en-US"/>
              <a:t>Step 5: Create Feature Matrix</a:t>
            </a:r>
            <a:endParaRPr/>
          </a:p>
          <a:p>
            <a:pPr indent="0" lvl="0" marL="0" rtl="0" algn="just">
              <a:lnSpc>
                <a:spcPct val="90000"/>
              </a:lnSpc>
              <a:spcBef>
                <a:spcPts val="1000"/>
              </a:spcBef>
              <a:spcAft>
                <a:spcPts val="0"/>
              </a:spcAft>
              <a:buClr>
                <a:schemeClr val="dk1"/>
              </a:buClr>
              <a:buSzPct val="100000"/>
              <a:buNone/>
            </a:pPr>
            <a:r>
              <a:rPr lang="en-US"/>
              <a:t>Each document becomes a row, each word becomes a column, and the values represent word counts. This final matrix is called the </a:t>
            </a:r>
            <a:r>
              <a:rPr b="1" lang="en-US"/>
              <a:t>Document-Term Matrix</a:t>
            </a:r>
            <a:r>
              <a:rPr lang="en-US"/>
              <a:t>, which is used as input to machine learning models.</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211" name="Google Shape;211;p1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Bag of Words – Advantages and Limitations</a:t>
            </a:r>
            <a:endParaRPr b="1"/>
          </a:p>
        </p:txBody>
      </p:sp>
      <p:sp>
        <p:nvSpPr>
          <p:cNvPr id="217" name="Google Shape;21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Although Bag of Words is simple and easy to implement, it has several strengths and weaknesses.</a:t>
            </a:r>
            <a:endParaRPr/>
          </a:p>
          <a:p>
            <a:pPr indent="-228600" lvl="0" marL="228600" rtl="0" algn="just">
              <a:lnSpc>
                <a:spcPct val="90000"/>
              </a:lnSpc>
              <a:spcBef>
                <a:spcPts val="1000"/>
              </a:spcBef>
              <a:spcAft>
                <a:spcPts val="0"/>
              </a:spcAft>
              <a:buClr>
                <a:schemeClr val="dk1"/>
              </a:buClr>
              <a:buSzPts val="2800"/>
              <a:buNone/>
            </a:pPr>
            <a:r>
              <a:rPr b="1" lang="en-US"/>
              <a:t>Advantages:</a:t>
            </a:r>
            <a:endParaRPr/>
          </a:p>
          <a:p>
            <a:pPr indent="-228600" lvl="0" marL="228600" rtl="0" algn="just">
              <a:lnSpc>
                <a:spcPct val="90000"/>
              </a:lnSpc>
              <a:spcBef>
                <a:spcPts val="1000"/>
              </a:spcBef>
              <a:spcAft>
                <a:spcPts val="0"/>
              </a:spcAft>
              <a:buClr>
                <a:schemeClr val="dk1"/>
              </a:buClr>
              <a:buSzPts val="2800"/>
              <a:buChar char="•"/>
            </a:pPr>
            <a:r>
              <a:rPr lang="en-US"/>
              <a:t>Very simple to understand and implement</a:t>
            </a:r>
            <a:endParaRPr/>
          </a:p>
          <a:p>
            <a:pPr indent="-228600" lvl="0" marL="228600" rtl="0" algn="just">
              <a:lnSpc>
                <a:spcPct val="90000"/>
              </a:lnSpc>
              <a:spcBef>
                <a:spcPts val="1000"/>
              </a:spcBef>
              <a:spcAft>
                <a:spcPts val="0"/>
              </a:spcAft>
              <a:buClr>
                <a:schemeClr val="dk1"/>
              </a:buClr>
              <a:buSzPts val="2800"/>
              <a:buChar char="•"/>
            </a:pPr>
            <a:r>
              <a:rPr lang="en-US"/>
              <a:t>Works well for basic text classification tasks</a:t>
            </a:r>
            <a:endParaRPr/>
          </a:p>
          <a:p>
            <a:pPr indent="-228600" lvl="0" marL="228600" rtl="0" algn="just">
              <a:lnSpc>
                <a:spcPct val="90000"/>
              </a:lnSpc>
              <a:spcBef>
                <a:spcPts val="1000"/>
              </a:spcBef>
              <a:spcAft>
                <a:spcPts val="0"/>
              </a:spcAft>
              <a:buClr>
                <a:schemeClr val="dk1"/>
              </a:buClr>
              <a:buSzPts val="2800"/>
              <a:buChar char="•"/>
            </a:pPr>
            <a:r>
              <a:rPr lang="en-US"/>
              <a:t>Fast computation compared to advanced models</a:t>
            </a:r>
            <a:endParaRPr/>
          </a:p>
          <a:p>
            <a:pPr indent="-228600" lvl="0" marL="228600" rtl="0" algn="just">
              <a:lnSpc>
                <a:spcPct val="90000"/>
              </a:lnSpc>
              <a:spcBef>
                <a:spcPts val="1000"/>
              </a:spcBef>
              <a:spcAft>
                <a:spcPts val="0"/>
              </a:spcAft>
              <a:buClr>
                <a:schemeClr val="dk1"/>
              </a:buClr>
              <a:buSzPts val="2800"/>
              <a:buChar char="•"/>
            </a:pPr>
            <a:r>
              <a:rPr lang="en-US"/>
              <a:t>Effective when dataset is small or medium-sized</a:t>
            </a:r>
            <a:endParaRPr/>
          </a:p>
          <a:p>
            <a:pPr indent="-228600" lvl="0" marL="228600" rtl="0" algn="just">
              <a:lnSpc>
                <a:spcPct val="90000"/>
              </a:lnSpc>
              <a:spcBef>
                <a:spcPts val="1000"/>
              </a:spcBef>
              <a:spcAft>
                <a:spcPts val="0"/>
              </a:spcAft>
              <a:buClr>
                <a:schemeClr val="dk1"/>
              </a:buClr>
              <a:buSzPts val="2800"/>
              <a:buChar char="•"/>
            </a:pPr>
            <a:r>
              <a:rPr lang="en-US"/>
              <a:t>Often performs surprisingly well for spam detection and sentiment analysis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18" name="Google Shape;218;p2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Bag of Words – Advantages and Limitations</a:t>
            </a:r>
            <a:endParaRPr/>
          </a:p>
        </p:txBody>
      </p:sp>
      <p:sp>
        <p:nvSpPr>
          <p:cNvPr id="224" name="Google Shape;224;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Limitations:</a:t>
            </a:r>
            <a:endParaRPr b="1"/>
          </a:p>
          <a:p>
            <a:pPr indent="-228600" lvl="0" marL="228600" rtl="0" algn="just">
              <a:lnSpc>
                <a:spcPct val="90000"/>
              </a:lnSpc>
              <a:spcBef>
                <a:spcPts val="1000"/>
              </a:spcBef>
              <a:spcAft>
                <a:spcPts val="0"/>
              </a:spcAft>
              <a:buClr>
                <a:schemeClr val="dk1"/>
              </a:buClr>
              <a:buSzPts val="2800"/>
              <a:buChar char="•"/>
            </a:pPr>
            <a:r>
              <a:rPr lang="en-US"/>
              <a:t>Ignores word order and sentence structure</a:t>
            </a:r>
            <a:endParaRPr/>
          </a:p>
          <a:p>
            <a:pPr indent="-228600" lvl="0" marL="228600" rtl="0" algn="just">
              <a:lnSpc>
                <a:spcPct val="90000"/>
              </a:lnSpc>
              <a:spcBef>
                <a:spcPts val="1000"/>
              </a:spcBef>
              <a:spcAft>
                <a:spcPts val="0"/>
              </a:spcAft>
              <a:buClr>
                <a:schemeClr val="dk1"/>
              </a:buClr>
              <a:buSzPts val="2800"/>
              <a:buChar char="•"/>
            </a:pPr>
            <a:r>
              <a:rPr lang="en-US"/>
              <a:t>Does not capture semantic meaning</a:t>
            </a:r>
            <a:endParaRPr/>
          </a:p>
          <a:p>
            <a:pPr indent="-228600" lvl="0" marL="228600" rtl="0" algn="just">
              <a:lnSpc>
                <a:spcPct val="90000"/>
              </a:lnSpc>
              <a:spcBef>
                <a:spcPts val="1000"/>
              </a:spcBef>
              <a:spcAft>
                <a:spcPts val="0"/>
              </a:spcAft>
              <a:buClr>
                <a:schemeClr val="dk1"/>
              </a:buClr>
              <a:buSzPts val="2800"/>
              <a:buChar char="•"/>
            </a:pPr>
            <a:r>
              <a:rPr lang="en-US"/>
              <a:t>Treats related words as completely different (e.g., “good” and “excellent”)</a:t>
            </a:r>
            <a:endParaRPr/>
          </a:p>
          <a:p>
            <a:pPr indent="-228600" lvl="0" marL="228600" rtl="0" algn="just">
              <a:lnSpc>
                <a:spcPct val="90000"/>
              </a:lnSpc>
              <a:spcBef>
                <a:spcPts val="1000"/>
              </a:spcBef>
              <a:spcAft>
                <a:spcPts val="0"/>
              </a:spcAft>
              <a:buClr>
                <a:schemeClr val="dk1"/>
              </a:buClr>
              <a:buSzPts val="2800"/>
              <a:buChar char="•"/>
            </a:pPr>
            <a:r>
              <a:rPr lang="en-US"/>
              <a:t>Produces high-dimensional sparse vectors</a:t>
            </a:r>
            <a:endParaRPr/>
          </a:p>
          <a:p>
            <a:pPr indent="-228600" lvl="0" marL="228600" rtl="0" algn="just">
              <a:lnSpc>
                <a:spcPct val="90000"/>
              </a:lnSpc>
              <a:spcBef>
                <a:spcPts val="1000"/>
              </a:spcBef>
              <a:spcAft>
                <a:spcPts val="0"/>
              </a:spcAft>
              <a:buClr>
                <a:schemeClr val="dk1"/>
              </a:buClr>
              <a:buSzPts val="2800"/>
              <a:buChar char="•"/>
            </a:pPr>
            <a:r>
              <a:rPr lang="en-US"/>
              <a:t>Cannot understand context or sarcasm</a:t>
            </a:r>
            <a:endParaRPr/>
          </a:p>
          <a:p>
            <a:pPr indent="0" lvl="0" marL="0" rtl="0" algn="just">
              <a:lnSpc>
                <a:spcPct val="90000"/>
              </a:lnSpc>
              <a:spcBef>
                <a:spcPts val="1000"/>
              </a:spcBef>
              <a:spcAft>
                <a:spcPts val="0"/>
              </a:spcAft>
              <a:buClr>
                <a:schemeClr val="dk1"/>
              </a:buClr>
              <a:buSzPts val="2800"/>
              <a:buNone/>
            </a:pPr>
            <a:r>
              <a:rPr lang="en-US"/>
              <a:t>Because of these limitations, Bag of Words is mainly used as a baseline model or for simple NLP tasks.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25" name="Google Shape;225;p2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Implementing Bag of Words Using Python</a:t>
            </a:r>
            <a:endParaRPr b="1"/>
          </a:p>
        </p:txBody>
      </p:sp>
      <p:sp>
        <p:nvSpPr>
          <p:cNvPr id="231" name="Google Shape;23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90000"/>
              </a:lnSpc>
              <a:spcBef>
                <a:spcPts val="0"/>
              </a:spcBef>
              <a:spcAft>
                <a:spcPts val="0"/>
              </a:spcAft>
              <a:buClr>
                <a:schemeClr val="dk1"/>
              </a:buClr>
              <a:buSzPct val="100000"/>
              <a:buNone/>
            </a:pPr>
            <a:r>
              <a:rPr lang="en-US"/>
              <a:t>Bag of Words can be implemented easily in Python using the </a:t>
            </a:r>
            <a:r>
              <a:rPr lang="en-US">
                <a:latin typeface="Consolas"/>
                <a:ea typeface="Consolas"/>
                <a:cs typeface="Consolas"/>
                <a:sym typeface="Consolas"/>
              </a:rPr>
              <a:t>CountVectorizer</a:t>
            </a:r>
            <a:r>
              <a:rPr lang="en-US"/>
              <a:t> class from the scikit-learn library.</a:t>
            </a:r>
            <a:endParaRPr/>
          </a:p>
          <a:p>
            <a:pPr indent="-228600" lvl="0" marL="228600" rtl="0" algn="just">
              <a:lnSpc>
                <a:spcPct val="90000"/>
              </a:lnSpc>
              <a:spcBef>
                <a:spcPts val="1000"/>
              </a:spcBef>
              <a:spcAft>
                <a:spcPts val="0"/>
              </a:spcAft>
              <a:buClr>
                <a:schemeClr val="dk1"/>
              </a:buClr>
              <a:buSzPct val="100000"/>
              <a:buNone/>
            </a:pPr>
            <a:r>
              <a:rPr lang="en-US"/>
              <a:t>from sklearn.feature_extraction.text import CountVectorizer</a:t>
            </a:r>
            <a:endParaRPr/>
          </a:p>
          <a:p>
            <a:pPr indent="-228600"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None/>
            </a:pPr>
            <a:r>
              <a:rPr lang="en-US"/>
              <a:t>documents = [</a:t>
            </a:r>
            <a:endParaRPr/>
          </a:p>
          <a:p>
            <a:pPr indent="-228600" lvl="0" marL="228600" rtl="0" algn="just">
              <a:lnSpc>
                <a:spcPct val="90000"/>
              </a:lnSpc>
              <a:spcBef>
                <a:spcPts val="1000"/>
              </a:spcBef>
              <a:spcAft>
                <a:spcPts val="0"/>
              </a:spcAft>
              <a:buClr>
                <a:schemeClr val="dk1"/>
              </a:buClr>
              <a:buSzPct val="100000"/>
              <a:buNone/>
            </a:pPr>
            <a:r>
              <a:rPr lang="en-US"/>
              <a:t>    "I love NLP",</a:t>
            </a:r>
            <a:endParaRPr/>
          </a:p>
          <a:p>
            <a:pPr indent="-228600" lvl="0" marL="228600" rtl="0" algn="just">
              <a:lnSpc>
                <a:spcPct val="90000"/>
              </a:lnSpc>
              <a:spcBef>
                <a:spcPts val="1000"/>
              </a:spcBef>
              <a:spcAft>
                <a:spcPts val="0"/>
              </a:spcAft>
              <a:buClr>
                <a:schemeClr val="dk1"/>
              </a:buClr>
              <a:buSzPct val="100000"/>
              <a:buNone/>
            </a:pPr>
            <a:r>
              <a:rPr lang="en-US"/>
              <a:t>    "I love AI",</a:t>
            </a:r>
            <a:endParaRPr/>
          </a:p>
          <a:p>
            <a:pPr indent="-228600" lvl="0" marL="228600" rtl="0" algn="just">
              <a:lnSpc>
                <a:spcPct val="90000"/>
              </a:lnSpc>
              <a:spcBef>
                <a:spcPts val="1000"/>
              </a:spcBef>
              <a:spcAft>
                <a:spcPts val="0"/>
              </a:spcAft>
              <a:buClr>
                <a:schemeClr val="dk1"/>
              </a:buClr>
              <a:buSzPct val="100000"/>
              <a:buNone/>
            </a:pPr>
            <a:r>
              <a:rPr lang="en-US"/>
              <a:t>    "NLP is interesting"</a:t>
            </a:r>
            <a:endParaRPr/>
          </a:p>
          <a:p>
            <a:pPr indent="-228600" lvl="0" marL="228600" rtl="0" algn="just">
              <a:lnSpc>
                <a:spcPct val="90000"/>
              </a:lnSpc>
              <a:spcBef>
                <a:spcPts val="1000"/>
              </a:spcBef>
              <a:spcAft>
                <a:spcPts val="0"/>
              </a:spcAft>
              <a:buClr>
                <a:schemeClr val="dk1"/>
              </a:buClr>
              <a:buSzPct val="100000"/>
              <a:buNone/>
            </a:pPr>
            <a:r>
              <a:rPr lang="en-US"/>
              <a:t>]</a:t>
            </a:r>
            <a:endParaRPr/>
          </a:p>
          <a:p>
            <a:pPr indent="-228600"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None/>
            </a:pPr>
            <a:r>
              <a:rPr lang="en-US"/>
              <a:t>vectorizer = CountVectorizer()</a:t>
            </a:r>
            <a:endParaRPr/>
          </a:p>
          <a:p>
            <a:pPr indent="0" lvl="0" marL="0" rtl="0" algn="just">
              <a:lnSpc>
                <a:spcPct val="90000"/>
              </a:lnSpc>
              <a:spcBef>
                <a:spcPts val="1000"/>
              </a:spcBef>
              <a:spcAft>
                <a:spcPts val="0"/>
              </a:spcAft>
              <a:buClr>
                <a:schemeClr val="dk1"/>
              </a:buClr>
              <a:buSzPct val="100000"/>
              <a:buNone/>
            </a:pPr>
            <a:r>
              <a:rPr lang="en-US"/>
              <a:t>X = vectorizer.fit_transform(documents)</a:t>
            </a:r>
            <a:endParaRPr/>
          </a:p>
        </p:txBody>
      </p:sp>
      <p:pic>
        <p:nvPicPr>
          <p:cNvPr descr="A blue and white logo&#10;&#10;AI-generated content may be incorrect." id="232" name="Google Shape;232;p2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Implementing Bag of Words Using Python</a:t>
            </a:r>
            <a:endParaRPr b="1"/>
          </a:p>
        </p:txBody>
      </p:sp>
      <p:sp>
        <p:nvSpPr>
          <p:cNvPr id="238" name="Google Shape;238;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print("Vocabulary:")</a:t>
            </a:r>
            <a:endParaRPr/>
          </a:p>
          <a:p>
            <a:pPr indent="-228600" lvl="0" marL="228600" rtl="0" algn="l">
              <a:lnSpc>
                <a:spcPct val="90000"/>
              </a:lnSpc>
              <a:spcBef>
                <a:spcPts val="1000"/>
              </a:spcBef>
              <a:spcAft>
                <a:spcPts val="0"/>
              </a:spcAft>
              <a:buClr>
                <a:schemeClr val="dk1"/>
              </a:buClr>
              <a:buSzPts val="2800"/>
              <a:buNone/>
            </a:pPr>
            <a:r>
              <a:rPr lang="en-US"/>
              <a:t>print(vectorizer.get_feature_names_out())</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print("\nDocument-Term Matrix:")</a:t>
            </a:r>
            <a:endParaRPr/>
          </a:p>
          <a:p>
            <a:pPr indent="0" lvl="0" marL="0" rtl="0" algn="l">
              <a:lnSpc>
                <a:spcPct val="90000"/>
              </a:lnSpc>
              <a:spcBef>
                <a:spcPts val="1000"/>
              </a:spcBef>
              <a:spcAft>
                <a:spcPts val="0"/>
              </a:spcAft>
              <a:buClr>
                <a:schemeClr val="dk1"/>
              </a:buClr>
              <a:buSzPts val="2800"/>
              <a:buNone/>
            </a:pPr>
            <a:r>
              <a:rPr lang="en-US"/>
              <a:t>print(X.toarray())</a:t>
            </a:r>
            <a:endParaRPr/>
          </a:p>
        </p:txBody>
      </p:sp>
      <p:pic>
        <p:nvPicPr>
          <p:cNvPr descr="A blue and white logo&#10;&#10;AI-generated content may be incorrect." id="239" name="Google Shape;239;p2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Implementing Bag of Words Using Python</a:t>
            </a:r>
            <a:endParaRPr/>
          </a:p>
        </p:txBody>
      </p:sp>
      <p:sp>
        <p:nvSpPr>
          <p:cNvPr id="245" name="Google Shape;24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This code performs the following:</a:t>
            </a:r>
            <a:endParaRPr/>
          </a:p>
          <a:p>
            <a:pPr indent="-228600" lvl="0" marL="228600" rtl="0" algn="just">
              <a:lnSpc>
                <a:spcPct val="90000"/>
              </a:lnSpc>
              <a:spcBef>
                <a:spcPts val="1000"/>
              </a:spcBef>
              <a:spcAft>
                <a:spcPts val="0"/>
              </a:spcAft>
              <a:buClr>
                <a:schemeClr val="dk1"/>
              </a:buClr>
              <a:buSzPts val="2800"/>
              <a:buChar char="•"/>
            </a:pPr>
            <a:r>
              <a:rPr lang="en-US"/>
              <a:t>Converts text into tokens</a:t>
            </a:r>
            <a:endParaRPr/>
          </a:p>
          <a:p>
            <a:pPr indent="-228600" lvl="0" marL="228600" rtl="0" algn="just">
              <a:lnSpc>
                <a:spcPct val="90000"/>
              </a:lnSpc>
              <a:spcBef>
                <a:spcPts val="1000"/>
              </a:spcBef>
              <a:spcAft>
                <a:spcPts val="0"/>
              </a:spcAft>
              <a:buClr>
                <a:schemeClr val="dk1"/>
              </a:buClr>
              <a:buSzPts val="2800"/>
              <a:buChar char="•"/>
            </a:pPr>
            <a:r>
              <a:rPr lang="en-US"/>
              <a:t>Builds a vocabulary of unique words</a:t>
            </a:r>
            <a:endParaRPr/>
          </a:p>
          <a:p>
            <a:pPr indent="-228600" lvl="0" marL="228600" rtl="0" algn="just">
              <a:lnSpc>
                <a:spcPct val="90000"/>
              </a:lnSpc>
              <a:spcBef>
                <a:spcPts val="1000"/>
              </a:spcBef>
              <a:spcAft>
                <a:spcPts val="0"/>
              </a:spcAft>
              <a:buClr>
                <a:schemeClr val="dk1"/>
              </a:buClr>
              <a:buSzPts val="2800"/>
              <a:buChar char="•"/>
            </a:pPr>
            <a:r>
              <a:rPr lang="en-US"/>
              <a:t>Counts word frequency in each document</a:t>
            </a:r>
            <a:endParaRPr/>
          </a:p>
          <a:p>
            <a:pPr indent="-228600" lvl="0" marL="228600" rtl="0" algn="just">
              <a:lnSpc>
                <a:spcPct val="90000"/>
              </a:lnSpc>
              <a:spcBef>
                <a:spcPts val="1000"/>
              </a:spcBef>
              <a:spcAft>
                <a:spcPts val="0"/>
              </a:spcAft>
              <a:buClr>
                <a:schemeClr val="dk1"/>
              </a:buClr>
              <a:buSzPts val="2800"/>
              <a:buChar char="•"/>
            </a:pPr>
            <a:r>
              <a:rPr lang="en-US"/>
              <a:t>Generates a numerical matrix representation</a:t>
            </a:r>
            <a:endParaRPr/>
          </a:p>
          <a:p>
            <a:pPr indent="0" lvl="0" marL="0" rtl="0" algn="just">
              <a:lnSpc>
                <a:spcPct val="90000"/>
              </a:lnSpc>
              <a:spcBef>
                <a:spcPts val="1000"/>
              </a:spcBef>
              <a:spcAft>
                <a:spcPts val="0"/>
              </a:spcAft>
              <a:buClr>
                <a:schemeClr val="dk1"/>
              </a:buClr>
              <a:buSzPts val="2800"/>
              <a:buNone/>
            </a:pPr>
            <a:r>
              <a:rPr lang="en-US"/>
              <a:t>The output matrix can be directly used as input for machine learning models.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46" name="Google Shape;246;p2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Understanding Bag of Words Output</a:t>
            </a:r>
            <a:endParaRPr b="1"/>
          </a:p>
        </p:txBody>
      </p:sp>
      <p:sp>
        <p:nvSpPr>
          <p:cNvPr id="252" name="Google Shape;252;p25"/>
          <p:cNvSpPr txBox="1"/>
          <p:nvPr>
            <p:ph idx="1" type="body"/>
          </p:nvPr>
        </p:nvSpPr>
        <p:spPr>
          <a:xfrm>
            <a:off x="879953" y="1710804"/>
            <a:ext cx="10452971" cy="446615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After applying Bag of Words, the text is converted into a </a:t>
            </a:r>
            <a:r>
              <a:rPr b="1" lang="en-US"/>
              <a:t>Document–Term Matrix</a:t>
            </a:r>
            <a:r>
              <a:rPr lang="en-US"/>
              <a:t>.</a:t>
            </a:r>
            <a:endParaRPr/>
          </a:p>
          <a:p>
            <a:pPr indent="-228600" lvl="0" marL="228600" rtl="0" algn="l">
              <a:lnSpc>
                <a:spcPct val="90000"/>
              </a:lnSpc>
              <a:spcBef>
                <a:spcPts val="1000"/>
              </a:spcBef>
              <a:spcAft>
                <a:spcPts val="0"/>
              </a:spcAft>
              <a:buClr>
                <a:schemeClr val="dk1"/>
              </a:buClr>
              <a:buSzPts val="2800"/>
              <a:buNone/>
            </a:pPr>
            <a:r>
              <a:rPr b="1" lang="en-US"/>
              <a:t>Example Output:</a:t>
            </a:r>
            <a:endParaRPr b="1"/>
          </a:p>
          <a:p>
            <a:pPr indent="-228600" lvl="0" marL="228600" rtl="0" algn="l">
              <a:lnSpc>
                <a:spcPct val="90000"/>
              </a:lnSpc>
              <a:spcBef>
                <a:spcPts val="1000"/>
              </a:spcBef>
              <a:spcAft>
                <a:spcPts val="0"/>
              </a:spcAft>
              <a:buClr>
                <a:schemeClr val="dk1"/>
              </a:buClr>
              <a:buSzPts val="2800"/>
              <a:buNone/>
            </a:pPr>
            <a:r>
              <a:rPr b="1" lang="en-US"/>
              <a:t>Vocabulary: </a:t>
            </a:r>
            <a:r>
              <a:rPr lang="en-US"/>
              <a:t>['ai', 'interesting', 'is', 'love', 'nlp']</a:t>
            </a:r>
            <a:endParaRPr/>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253" name="Google Shape;253;p25"/>
          <p:cNvGraphicFramePr/>
          <p:nvPr/>
        </p:nvGraphicFramePr>
        <p:xfrm>
          <a:off x="876822" y="3809999"/>
          <a:ext cx="3000000" cy="3000000"/>
        </p:xfrm>
        <a:graphic>
          <a:graphicData uri="http://schemas.openxmlformats.org/drawingml/2006/table">
            <a:tbl>
              <a:tblPr bandRow="1" firstRow="1">
                <a:noFill/>
                <a:tableStyleId>{097C267D-501B-42CC-91B5-972FE712E406}</a:tableStyleId>
              </a:tblPr>
              <a:tblGrid>
                <a:gridCol w="1739825"/>
                <a:gridCol w="1739825"/>
                <a:gridCol w="1739825"/>
                <a:gridCol w="1739825"/>
                <a:gridCol w="1739825"/>
                <a:gridCol w="1739825"/>
              </a:tblGrid>
              <a:tr h="517100">
                <a:tc>
                  <a:txBody>
                    <a:bodyPr/>
                    <a:lstStyle/>
                    <a:p>
                      <a:pPr indent="0" lvl="0" marL="0" marR="0" rtl="0" algn="ctr">
                        <a:spcBef>
                          <a:spcPts val="0"/>
                        </a:spcBef>
                        <a:spcAft>
                          <a:spcPts val="0"/>
                        </a:spcAft>
                        <a:buNone/>
                      </a:pPr>
                      <a:r>
                        <a:rPr b="1" lang="en-US" sz="1800" u="none" cap="none" strike="noStrike"/>
                        <a:t>Document</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ai</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interesting</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is</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love</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nlp</a:t>
                      </a:r>
                      <a:endParaRPr/>
                    </a:p>
                  </a:txBody>
                  <a:tcPr marT="45725" marB="45725" marR="91450" marL="91450"/>
                </a:tc>
              </a:tr>
              <a:tr h="517100">
                <a:tc>
                  <a:txBody>
                    <a:bodyPr/>
                    <a:lstStyle/>
                    <a:p>
                      <a:pPr indent="0" lvl="0" marL="0" marR="0" rtl="0" algn="ctr">
                        <a:spcBef>
                          <a:spcPts val="0"/>
                        </a:spcBef>
                        <a:spcAft>
                          <a:spcPts val="0"/>
                        </a:spcAft>
                        <a:buNone/>
                      </a:pPr>
                      <a:r>
                        <a:rPr b="1" lang="en-US" sz="1800" u="none" cap="none" strike="noStrike"/>
                        <a:t>Doc 1 ("I love NLP")</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lang="en-US" sz="1800" u="none" cap="none" strike="noStrike"/>
                        <a:t>1</a:t>
                      </a:r>
                      <a:endParaRPr/>
                    </a:p>
                  </a:txBody>
                  <a:tcPr marT="45725" marB="45725" marR="91450" marL="91450"/>
                </a:tc>
              </a:tr>
              <a:tr h="517100">
                <a:tc>
                  <a:txBody>
                    <a:bodyPr/>
                    <a:lstStyle/>
                    <a:p>
                      <a:pPr indent="0" lvl="0" marL="0" marR="0" rtl="0" algn="ctr">
                        <a:spcBef>
                          <a:spcPts val="0"/>
                        </a:spcBef>
                        <a:spcAft>
                          <a:spcPts val="0"/>
                        </a:spcAft>
                        <a:buNone/>
                      </a:pPr>
                      <a:r>
                        <a:rPr b="1" lang="en-US" sz="1800" u="none" cap="none" strike="noStrike"/>
                        <a:t>Doc 2 ("I love AI")</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lang="en-US" sz="1800" u="none" cap="none" strike="noStrike"/>
                        <a:t>0</a:t>
                      </a:r>
                      <a:endParaRPr/>
                    </a:p>
                  </a:txBody>
                  <a:tcPr marT="45725" marB="45725" marR="91450" marL="91450"/>
                </a:tc>
              </a:tr>
              <a:tr h="517100">
                <a:tc>
                  <a:txBody>
                    <a:bodyPr/>
                    <a:lstStyle/>
                    <a:p>
                      <a:pPr indent="0" lvl="0" marL="0" marR="0" rtl="0" algn="ctr">
                        <a:spcBef>
                          <a:spcPts val="0"/>
                        </a:spcBef>
                        <a:spcAft>
                          <a:spcPts val="0"/>
                        </a:spcAft>
                        <a:buNone/>
                      </a:pPr>
                      <a:r>
                        <a:rPr b="1" lang="en-US" sz="1800" u="none" cap="none" strike="noStrike"/>
                        <a:t>Doc 3 ("NLP is interesting")</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r>
            </a:tbl>
          </a:graphicData>
        </a:graphic>
      </p:graphicFrame>
      <p:pic>
        <p:nvPicPr>
          <p:cNvPr descr="A blue and white logo&#10;&#10;AI-generated content may be incorrect." id="254" name="Google Shape;254;p2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Understanding Bag of Words Output</a:t>
            </a:r>
            <a:endParaRPr/>
          </a:p>
        </p:txBody>
      </p:sp>
      <p:sp>
        <p:nvSpPr>
          <p:cNvPr id="260" name="Google Shape;260;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Interpretation:</a:t>
            </a:r>
            <a:endParaRPr b="1"/>
          </a:p>
          <a:p>
            <a:pPr indent="-228600" lvl="0" marL="228600" rtl="0" algn="just">
              <a:lnSpc>
                <a:spcPct val="90000"/>
              </a:lnSpc>
              <a:spcBef>
                <a:spcPts val="1000"/>
              </a:spcBef>
              <a:spcAft>
                <a:spcPts val="0"/>
              </a:spcAft>
              <a:buClr>
                <a:schemeClr val="dk1"/>
              </a:buClr>
              <a:buSzPts val="2800"/>
              <a:buChar char="•"/>
            </a:pPr>
            <a:r>
              <a:rPr lang="en-US"/>
              <a:t>Each row represents one document</a:t>
            </a:r>
            <a:endParaRPr/>
          </a:p>
          <a:p>
            <a:pPr indent="-228600" lvl="0" marL="228600" rtl="0" algn="just">
              <a:lnSpc>
                <a:spcPct val="90000"/>
              </a:lnSpc>
              <a:spcBef>
                <a:spcPts val="1000"/>
              </a:spcBef>
              <a:spcAft>
                <a:spcPts val="0"/>
              </a:spcAft>
              <a:buClr>
                <a:schemeClr val="dk1"/>
              </a:buClr>
              <a:buSzPts val="2800"/>
              <a:buChar char="•"/>
            </a:pPr>
            <a:r>
              <a:rPr lang="en-US"/>
              <a:t>Each column represents one word from the vocabulary</a:t>
            </a:r>
            <a:endParaRPr/>
          </a:p>
          <a:p>
            <a:pPr indent="-228600" lvl="0" marL="228600" rtl="0" algn="just">
              <a:lnSpc>
                <a:spcPct val="90000"/>
              </a:lnSpc>
              <a:spcBef>
                <a:spcPts val="1000"/>
              </a:spcBef>
              <a:spcAft>
                <a:spcPts val="0"/>
              </a:spcAft>
              <a:buClr>
                <a:schemeClr val="dk1"/>
              </a:buClr>
              <a:buSzPts val="2800"/>
              <a:buChar char="•"/>
            </a:pPr>
            <a:r>
              <a:rPr lang="en-US"/>
              <a:t>Each value shows how many times the word appears in that document</a:t>
            </a:r>
            <a:endParaRPr/>
          </a:p>
          <a:p>
            <a:pPr indent="0" lvl="0" marL="0" rtl="0" algn="just">
              <a:lnSpc>
                <a:spcPct val="90000"/>
              </a:lnSpc>
              <a:spcBef>
                <a:spcPts val="1000"/>
              </a:spcBef>
              <a:spcAft>
                <a:spcPts val="0"/>
              </a:spcAft>
              <a:buClr>
                <a:schemeClr val="dk1"/>
              </a:buClr>
              <a:buSzPts val="2800"/>
              <a:buNone/>
            </a:pPr>
            <a:r>
              <a:rPr lang="en-US"/>
              <a:t>This matrix is the numerical representation of text used by machine learning models.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61" name="Google Shape;261;p2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Why Bag of Words Needs Preprocessing</a:t>
            </a:r>
            <a:endParaRPr b="1"/>
          </a:p>
        </p:txBody>
      </p:sp>
      <p:sp>
        <p:nvSpPr>
          <p:cNvPr id="267" name="Google Shape;26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Although Bag of Words converts text into numbers, raw text cannot be used directly. It must first be cleaned and standardized through preprocessing.</a:t>
            </a:r>
            <a:endParaRPr/>
          </a:p>
          <a:p>
            <a:pPr indent="-228600" lvl="0" marL="228600" rtl="0" algn="just">
              <a:lnSpc>
                <a:spcPct val="90000"/>
              </a:lnSpc>
              <a:spcBef>
                <a:spcPts val="1000"/>
              </a:spcBef>
              <a:spcAft>
                <a:spcPts val="0"/>
              </a:spcAft>
              <a:buClr>
                <a:schemeClr val="dk1"/>
              </a:buClr>
              <a:buSzPts val="2800"/>
              <a:buNone/>
            </a:pPr>
            <a:r>
              <a:rPr b="1" lang="en-US"/>
              <a:t>Common preprocessing steps include:</a:t>
            </a:r>
            <a:endParaRPr/>
          </a:p>
          <a:p>
            <a:pPr indent="-228600" lvl="0" marL="228600" rtl="0" algn="just">
              <a:lnSpc>
                <a:spcPct val="90000"/>
              </a:lnSpc>
              <a:spcBef>
                <a:spcPts val="1000"/>
              </a:spcBef>
              <a:spcAft>
                <a:spcPts val="0"/>
              </a:spcAft>
              <a:buClr>
                <a:schemeClr val="dk1"/>
              </a:buClr>
              <a:buSzPts val="2800"/>
              <a:buChar char="•"/>
            </a:pPr>
            <a:r>
              <a:rPr lang="en-US"/>
              <a:t>Converting all text to lowercase</a:t>
            </a:r>
            <a:endParaRPr/>
          </a:p>
          <a:p>
            <a:pPr indent="-228600" lvl="0" marL="228600" rtl="0" algn="just">
              <a:lnSpc>
                <a:spcPct val="90000"/>
              </a:lnSpc>
              <a:spcBef>
                <a:spcPts val="1000"/>
              </a:spcBef>
              <a:spcAft>
                <a:spcPts val="0"/>
              </a:spcAft>
              <a:buClr>
                <a:schemeClr val="dk1"/>
              </a:buClr>
              <a:buSzPts val="2800"/>
              <a:buChar char="•"/>
            </a:pPr>
            <a:r>
              <a:rPr lang="en-US"/>
              <a:t>Removing punctuation and special characters</a:t>
            </a:r>
            <a:endParaRPr/>
          </a:p>
          <a:p>
            <a:pPr indent="-228600" lvl="0" marL="228600" rtl="0" algn="just">
              <a:lnSpc>
                <a:spcPct val="90000"/>
              </a:lnSpc>
              <a:spcBef>
                <a:spcPts val="1000"/>
              </a:spcBef>
              <a:spcAft>
                <a:spcPts val="0"/>
              </a:spcAft>
              <a:buClr>
                <a:schemeClr val="dk1"/>
              </a:buClr>
              <a:buSzPts val="2800"/>
              <a:buChar char="•"/>
            </a:pPr>
            <a:r>
              <a:rPr lang="en-US"/>
              <a:t>Removing stopwords (e.g., “is”, “the”, “and”)</a:t>
            </a:r>
            <a:endParaRPr/>
          </a:p>
          <a:p>
            <a:pPr indent="-228600" lvl="0" marL="228600" rtl="0" algn="just">
              <a:lnSpc>
                <a:spcPct val="90000"/>
              </a:lnSpc>
              <a:spcBef>
                <a:spcPts val="1000"/>
              </a:spcBef>
              <a:spcAft>
                <a:spcPts val="0"/>
              </a:spcAft>
              <a:buClr>
                <a:schemeClr val="dk1"/>
              </a:buClr>
              <a:buSzPts val="2800"/>
              <a:buChar char="•"/>
            </a:pPr>
            <a:r>
              <a:rPr lang="en-US"/>
              <a:t>Tokenization (splitting into words)</a:t>
            </a:r>
            <a:endParaRPr/>
          </a:p>
          <a:p>
            <a:pPr indent="-228600" lvl="0" marL="228600" rtl="0" algn="just">
              <a:lnSpc>
                <a:spcPct val="90000"/>
              </a:lnSpc>
              <a:spcBef>
                <a:spcPts val="1000"/>
              </a:spcBef>
              <a:spcAft>
                <a:spcPts val="0"/>
              </a:spcAft>
              <a:buClr>
                <a:schemeClr val="dk1"/>
              </a:buClr>
              <a:buSzPts val="2800"/>
              <a:buChar char="•"/>
            </a:pPr>
            <a:r>
              <a:rPr lang="en-US"/>
              <a:t>Lemmatization or stemming (reducing words to base form)</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68" name="Google Shape;268;p2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Why Bag of Words Needs Preprocessing</a:t>
            </a:r>
            <a:endParaRPr/>
          </a:p>
        </p:txBody>
      </p:sp>
      <p:sp>
        <p:nvSpPr>
          <p:cNvPr id="274" name="Google Shape;274;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Without preprocessing, Bag of Words suffers from:</a:t>
            </a:r>
            <a:endParaRPr/>
          </a:p>
          <a:p>
            <a:pPr indent="-228600" lvl="0" marL="228600" rtl="0" algn="l">
              <a:lnSpc>
                <a:spcPct val="90000"/>
              </a:lnSpc>
              <a:spcBef>
                <a:spcPts val="1000"/>
              </a:spcBef>
              <a:spcAft>
                <a:spcPts val="0"/>
              </a:spcAft>
              <a:buClr>
                <a:schemeClr val="dk1"/>
              </a:buClr>
              <a:buSzPts val="2800"/>
              <a:buChar char="•"/>
            </a:pPr>
            <a:r>
              <a:rPr lang="en-US"/>
              <a:t>Large and noisy vocabularies</a:t>
            </a:r>
            <a:endParaRPr/>
          </a:p>
          <a:p>
            <a:pPr indent="-228600" lvl="0" marL="228600" rtl="0" algn="l">
              <a:lnSpc>
                <a:spcPct val="90000"/>
              </a:lnSpc>
              <a:spcBef>
                <a:spcPts val="1000"/>
              </a:spcBef>
              <a:spcAft>
                <a:spcPts val="0"/>
              </a:spcAft>
              <a:buClr>
                <a:schemeClr val="dk1"/>
              </a:buClr>
              <a:buSzPts val="2800"/>
              <a:buChar char="•"/>
            </a:pPr>
            <a:r>
              <a:rPr lang="en-US"/>
              <a:t>Duplicate features (“Love” and “love”)</a:t>
            </a:r>
            <a:endParaRPr/>
          </a:p>
          <a:p>
            <a:pPr indent="-228600" lvl="0" marL="228600" rtl="0" algn="l">
              <a:lnSpc>
                <a:spcPct val="90000"/>
              </a:lnSpc>
              <a:spcBef>
                <a:spcPts val="1000"/>
              </a:spcBef>
              <a:spcAft>
                <a:spcPts val="0"/>
              </a:spcAft>
              <a:buClr>
                <a:schemeClr val="dk1"/>
              </a:buClr>
              <a:buSzPts val="2800"/>
              <a:buChar char="•"/>
            </a:pPr>
            <a:r>
              <a:rPr lang="en-US"/>
              <a:t>High dimensionality</a:t>
            </a:r>
            <a:endParaRPr/>
          </a:p>
          <a:p>
            <a:pPr indent="-228600" lvl="0" marL="228600" rtl="0" algn="l">
              <a:lnSpc>
                <a:spcPct val="90000"/>
              </a:lnSpc>
              <a:spcBef>
                <a:spcPts val="1000"/>
              </a:spcBef>
              <a:spcAft>
                <a:spcPts val="0"/>
              </a:spcAft>
              <a:buClr>
                <a:schemeClr val="dk1"/>
              </a:buClr>
              <a:buSzPts val="2800"/>
              <a:buChar char="•"/>
            </a:pPr>
            <a:r>
              <a:rPr lang="en-US"/>
              <a:t>Reduced model accuracy</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75" name="Google Shape;275;p2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Why Bag of Words Needs Preprocessing</a:t>
            </a:r>
            <a:endParaRPr/>
          </a:p>
        </p:txBody>
      </p:sp>
      <p:sp>
        <p:nvSpPr>
          <p:cNvPr id="281" name="Google Shape;28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For example:</a:t>
            </a:r>
            <a:endParaRPr b="1"/>
          </a:p>
          <a:p>
            <a:pPr indent="-228600" lvl="0" marL="228600" rtl="0" algn="just">
              <a:lnSpc>
                <a:spcPct val="90000"/>
              </a:lnSpc>
              <a:spcBef>
                <a:spcPts val="1000"/>
              </a:spcBef>
              <a:spcAft>
                <a:spcPts val="0"/>
              </a:spcAft>
              <a:buClr>
                <a:schemeClr val="dk1"/>
              </a:buClr>
              <a:buSzPts val="2800"/>
              <a:buNone/>
            </a:pPr>
            <a:r>
              <a:rPr b="1" lang="en-US"/>
              <a:t>Without preprocessing:</a:t>
            </a:r>
            <a:endParaRPr/>
          </a:p>
          <a:p>
            <a:pPr indent="-228600" lvl="0" marL="228600" rtl="0" algn="just">
              <a:lnSpc>
                <a:spcPct val="90000"/>
              </a:lnSpc>
              <a:spcBef>
                <a:spcPts val="1000"/>
              </a:spcBef>
              <a:spcAft>
                <a:spcPts val="0"/>
              </a:spcAft>
              <a:buClr>
                <a:schemeClr val="dk1"/>
              </a:buClr>
              <a:buSzPts val="2800"/>
              <a:buNone/>
            </a:pPr>
            <a:r>
              <a:rPr lang="en-US"/>
              <a:t>“Love”, “love”, “loved” are treated as three different words.</a:t>
            </a:r>
            <a:endParaRPr/>
          </a:p>
          <a:p>
            <a:pPr indent="-228600" lvl="0" marL="228600" rtl="0" algn="just">
              <a:lnSpc>
                <a:spcPct val="90000"/>
              </a:lnSpc>
              <a:spcBef>
                <a:spcPts val="1000"/>
              </a:spcBef>
              <a:spcAft>
                <a:spcPts val="0"/>
              </a:spcAft>
              <a:buClr>
                <a:schemeClr val="dk1"/>
              </a:buClr>
              <a:buSzPts val="2800"/>
              <a:buNone/>
            </a:pPr>
            <a:r>
              <a:rPr b="1" lang="en-US"/>
              <a:t>With preprocessing:</a:t>
            </a:r>
            <a:endParaRPr/>
          </a:p>
          <a:p>
            <a:pPr indent="-228600" lvl="0" marL="228600" rtl="0" algn="just">
              <a:lnSpc>
                <a:spcPct val="90000"/>
              </a:lnSpc>
              <a:spcBef>
                <a:spcPts val="1000"/>
              </a:spcBef>
              <a:spcAft>
                <a:spcPts val="0"/>
              </a:spcAft>
              <a:buClr>
                <a:schemeClr val="dk1"/>
              </a:buClr>
              <a:buSzPts val="2800"/>
              <a:buNone/>
            </a:pPr>
            <a:r>
              <a:rPr lang="en-US"/>
              <a:t>All become → “love”</a:t>
            </a:r>
            <a:endParaRPr/>
          </a:p>
          <a:p>
            <a:pPr indent="0" lvl="0" marL="0" rtl="0" algn="just">
              <a:lnSpc>
                <a:spcPct val="90000"/>
              </a:lnSpc>
              <a:spcBef>
                <a:spcPts val="1000"/>
              </a:spcBef>
              <a:spcAft>
                <a:spcPts val="0"/>
              </a:spcAft>
              <a:buClr>
                <a:schemeClr val="dk1"/>
              </a:buClr>
              <a:buSzPts val="2800"/>
              <a:buNone/>
            </a:pPr>
            <a:r>
              <a:rPr lang="en-US"/>
              <a:t>Proper preprocessing improves efficiency, reduces noise, and increases model performance.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82" name="Google Shape;282;p2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Fundamental Limitations of Bag of Words </a:t>
            </a:r>
            <a:endParaRPr b="1"/>
          </a:p>
        </p:txBody>
      </p:sp>
      <p:sp>
        <p:nvSpPr>
          <p:cNvPr id="288" name="Google Shape;28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Even after preprocessing, Bag of Words still suffers from major conceptual limitations.</a:t>
            </a:r>
            <a:endParaRPr/>
          </a:p>
          <a:p>
            <a:pPr indent="-228600" lvl="0" marL="228600" rtl="0" algn="l">
              <a:lnSpc>
                <a:spcPct val="90000"/>
              </a:lnSpc>
              <a:spcBef>
                <a:spcPts val="1000"/>
              </a:spcBef>
              <a:spcAft>
                <a:spcPts val="0"/>
              </a:spcAft>
              <a:buClr>
                <a:schemeClr val="dk1"/>
              </a:buClr>
              <a:buSzPts val="2800"/>
              <a:buNone/>
            </a:pPr>
            <a:r>
              <a:rPr b="1" lang="en-US"/>
              <a:t>1. All words are treated equally</a:t>
            </a:r>
            <a:endParaRPr/>
          </a:p>
          <a:p>
            <a:pPr indent="0" lvl="0" marL="0" rtl="0" algn="l">
              <a:lnSpc>
                <a:spcPct val="90000"/>
              </a:lnSpc>
              <a:spcBef>
                <a:spcPts val="1000"/>
              </a:spcBef>
              <a:spcAft>
                <a:spcPts val="0"/>
              </a:spcAft>
              <a:buClr>
                <a:schemeClr val="dk1"/>
              </a:buClr>
              <a:buSzPts val="2800"/>
              <a:buNone/>
            </a:pPr>
            <a:r>
              <a:rPr lang="en-US"/>
              <a:t>Bag of Words assigns the same importance to every word based only on frequency.</a:t>
            </a:r>
            <a:endParaRPr/>
          </a:p>
          <a:p>
            <a:pPr indent="-228600" lvl="0" marL="228600" rtl="0" algn="l">
              <a:lnSpc>
                <a:spcPct val="90000"/>
              </a:lnSpc>
              <a:spcBef>
                <a:spcPts val="1000"/>
              </a:spcBef>
              <a:spcAft>
                <a:spcPts val="0"/>
              </a:spcAft>
              <a:buClr>
                <a:schemeClr val="dk1"/>
              </a:buClr>
              <a:buSzPts val="2800"/>
              <a:buNone/>
            </a:pPr>
            <a:r>
              <a:rPr b="1" lang="en-US"/>
              <a:t>Example:</a:t>
            </a:r>
            <a:endParaRPr b="1"/>
          </a:p>
          <a:p>
            <a:pPr indent="-228600" lvl="0" marL="228600" rtl="0" algn="l">
              <a:lnSpc>
                <a:spcPct val="90000"/>
              </a:lnSpc>
              <a:spcBef>
                <a:spcPts val="1000"/>
              </a:spcBef>
              <a:spcAft>
                <a:spcPts val="0"/>
              </a:spcAft>
              <a:buClr>
                <a:schemeClr val="dk1"/>
              </a:buClr>
              <a:buSzPts val="2800"/>
              <a:buNone/>
            </a:pPr>
            <a:r>
              <a:rPr lang="en-US"/>
              <a:t>In the sentence</a:t>
            </a:r>
            <a:endParaRPr/>
          </a:p>
          <a:p>
            <a:pPr indent="-228600" lvl="0" marL="228600" rtl="0" algn="l">
              <a:lnSpc>
                <a:spcPct val="90000"/>
              </a:lnSpc>
              <a:spcBef>
                <a:spcPts val="1000"/>
              </a:spcBef>
              <a:spcAft>
                <a:spcPts val="0"/>
              </a:spcAft>
              <a:buClr>
                <a:schemeClr val="dk1"/>
              </a:buClr>
              <a:buSzPts val="2800"/>
              <a:buNone/>
            </a:pPr>
            <a:r>
              <a:rPr b="1" lang="en-US"/>
              <a:t>“This movie is very very good”</a:t>
            </a:r>
            <a:endParaRPr b="1"/>
          </a:p>
          <a:p>
            <a:pPr indent="0" lvl="0" marL="0" rtl="0" algn="l">
              <a:lnSpc>
                <a:spcPct val="90000"/>
              </a:lnSpc>
              <a:spcBef>
                <a:spcPts val="1000"/>
              </a:spcBef>
              <a:spcAft>
                <a:spcPts val="0"/>
              </a:spcAft>
              <a:buClr>
                <a:schemeClr val="dk1"/>
              </a:buClr>
              <a:buSzPts val="2800"/>
              <a:buNone/>
            </a:pPr>
            <a:r>
              <a:rPr lang="en-US"/>
              <a:t>The word </a:t>
            </a:r>
            <a:r>
              <a:rPr b="1" lang="en-US"/>
              <a:t>“very”</a:t>
            </a:r>
            <a:r>
              <a:rPr lang="en-US"/>
              <a:t> may receive higher importance than </a:t>
            </a:r>
            <a:r>
              <a:rPr b="1" lang="en-US"/>
              <a:t>“good”</a:t>
            </a:r>
            <a:r>
              <a:rPr lang="en-US"/>
              <a:t>, even though “good” carries more meaning.</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289" name="Google Shape;289;p3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Fundamental Limitations of Bag of Words </a:t>
            </a:r>
            <a:endParaRPr/>
          </a:p>
        </p:txBody>
      </p:sp>
      <p:sp>
        <p:nvSpPr>
          <p:cNvPr id="295" name="Google Shape;295;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None/>
            </a:pPr>
            <a:r>
              <a:rPr b="1" lang="en-US"/>
              <a:t>2. Common words dominate the representation</a:t>
            </a:r>
            <a:endParaRPr/>
          </a:p>
          <a:p>
            <a:pPr indent="0" lvl="0" marL="0" rtl="0" algn="just">
              <a:lnSpc>
                <a:spcPct val="90000"/>
              </a:lnSpc>
              <a:spcBef>
                <a:spcPts val="1000"/>
              </a:spcBef>
              <a:spcAft>
                <a:spcPts val="0"/>
              </a:spcAft>
              <a:buClr>
                <a:schemeClr val="dk1"/>
              </a:buClr>
              <a:buSzPct val="100000"/>
              <a:buNone/>
            </a:pPr>
            <a:r>
              <a:rPr lang="en-US"/>
              <a:t>Words that appear frequently across documents (such as “movie”, “product”, “people”) can overshadow more meaningful words.</a:t>
            </a:r>
            <a:endParaRPr/>
          </a:p>
          <a:p>
            <a:pPr indent="-228600" lvl="0" marL="228600" rtl="0" algn="just">
              <a:lnSpc>
                <a:spcPct val="90000"/>
              </a:lnSpc>
              <a:spcBef>
                <a:spcPts val="1000"/>
              </a:spcBef>
              <a:spcAft>
                <a:spcPts val="0"/>
              </a:spcAft>
              <a:buClr>
                <a:schemeClr val="dk1"/>
              </a:buClr>
              <a:buSzPct val="100000"/>
              <a:buNone/>
            </a:pPr>
            <a:r>
              <a:rPr b="1" lang="en-US"/>
              <a:t>3. No understanding of word importance across documents</a:t>
            </a:r>
            <a:endParaRPr/>
          </a:p>
          <a:p>
            <a:pPr indent="0" lvl="0" marL="0" rtl="0" algn="just">
              <a:lnSpc>
                <a:spcPct val="90000"/>
              </a:lnSpc>
              <a:spcBef>
                <a:spcPts val="1000"/>
              </a:spcBef>
              <a:spcAft>
                <a:spcPts val="0"/>
              </a:spcAft>
              <a:buClr>
                <a:schemeClr val="dk1"/>
              </a:buClr>
              <a:buSzPct val="100000"/>
              <a:buNone/>
            </a:pPr>
            <a:r>
              <a:rPr lang="en-US"/>
              <a:t>Bag of Words does not consider whether a word is rare or common across the entire dataset.</a:t>
            </a:r>
            <a:endParaRPr/>
          </a:p>
          <a:p>
            <a:pPr indent="-228600" lvl="0" marL="228600" rtl="0" algn="just">
              <a:lnSpc>
                <a:spcPct val="90000"/>
              </a:lnSpc>
              <a:spcBef>
                <a:spcPts val="1000"/>
              </a:spcBef>
              <a:spcAft>
                <a:spcPts val="0"/>
              </a:spcAft>
              <a:buClr>
                <a:schemeClr val="dk1"/>
              </a:buClr>
              <a:buSzPct val="100000"/>
              <a:buNone/>
            </a:pPr>
            <a:r>
              <a:rPr b="1" lang="en-US"/>
              <a:t>4. No semantic understanding</a:t>
            </a:r>
            <a:endParaRPr/>
          </a:p>
          <a:p>
            <a:pPr indent="-228600" lvl="0" marL="228600" rtl="0" algn="just">
              <a:lnSpc>
                <a:spcPct val="90000"/>
              </a:lnSpc>
              <a:spcBef>
                <a:spcPts val="1000"/>
              </a:spcBef>
              <a:spcAft>
                <a:spcPts val="0"/>
              </a:spcAft>
              <a:buClr>
                <a:schemeClr val="dk1"/>
              </a:buClr>
              <a:buSzPct val="100000"/>
              <a:buNone/>
            </a:pPr>
            <a:r>
              <a:rPr lang="en-US"/>
              <a:t>Words with similar meanings are treated as completely unrelated.</a:t>
            </a:r>
            <a:endParaRPr/>
          </a:p>
          <a:p>
            <a:pPr indent="0" lvl="0" marL="0" rtl="0" algn="just">
              <a:lnSpc>
                <a:spcPct val="90000"/>
              </a:lnSpc>
              <a:spcBef>
                <a:spcPts val="1000"/>
              </a:spcBef>
              <a:spcAft>
                <a:spcPts val="0"/>
              </a:spcAft>
              <a:buClr>
                <a:schemeClr val="dk1"/>
              </a:buClr>
              <a:buSzPct val="100000"/>
              <a:buNone/>
            </a:pPr>
            <a:r>
              <a:rPr lang="en-US"/>
              <a:t>Because of these issues, Bag of Words often produces noisy feature vectors. To overcome this, a weighted representation called </a:t>
            </a:r>
            <a:r>
              <a:rPr b="1" lang="en-US"/>
              <a:t>TF-IDF</a:t>
            </a:r>
            <a:r>
              <a:rPr lang="en-US"/>
              <a:t> is used.</a:t>
            </a:r>
            <a:endParaRPr/>
          </a:p>
          <a:p>
            <a:pPr indent="-22860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296" name="Google Shape;296;p3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TF–IDF</a:t>
            </a:r>
            <a:endParaRPr b="1"/>
          </a:p>
        </p:txBody>
      </p:sp>
      <p:sp>
        <p:nvSpPr>
          <p:cNvPr id="302" name="Google Shape;302;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TF–IDF is an advanced text representation technique that improves upon Bag of Words by assigning </a:t>
            </a:r>
            <a:r>
              <a:rPr b="1" lang="en-US"/>
              <a:t>weights</a:t>
            </a:r>
            <a:r>
              <a:rPr lang="en-US"/>
              <a:t> to words based on their importance. Instead of simply counting how often a word appears, TF–IDF considers two factors:</a:t>
            </a:r>
            <a:endParaRPr/>
          </a:p>
          <a:p>
            <a:pPr indent="-514350" lvl="0" marL="514350" rtl="0" algn="just">
              <a:lnSpc>
                <a:spcPct val="90000"/>
              </a:lnSpc>
              <a:spcBef>
                <a:spcPts val="1000"/>
              </a:spcBef>
              <a:spcAft>
                <a:spcPts val="0"/>
              </a:spcAft>
              <a:buClr>
                <a:schemeClr val="dk1"/>
              </a:buClr>
              <a:buSzPts val="2800"/>
              <a:buAutoNum type="arabicPeriod"/>
            </a:pPr>
            <a:r>
              <a:rPr b="1" lang="en-US"/>
              <a:t>Term Frequency (TF)</a:t>
            </a:r>
            <a:endParaRPr/>
          </a:p>
          <a:p>
            <a:pPr indent="-228600" lvl="0" marL="228600" rtl="0" algn="just">
              <a:lnSpc>
                <a:spcPct val="90000"/>
              </a:lnSpc>
              <a:spcBef>
                <a:spcPts val="1000"/>
              </a:spcBef>
              <a:spcAft>
                <a:spcPts val="0"/>
              </a:spcAft>
              <a:buClr>
                <a:schemeClr val="dk1"/>
              </a:buClr>
              <a:buSzPts val="2800"/>
              <a:buNone/>
            </a:pPr>
            <a:r>
              <a:rPr lang="en-US"/>
              <a:t>Measures how frequently a word appears in a document.</a:t>
            </a:r>
            <a:endParaRPr/>
          </a:p>
          <a:p>
            <a:pPr indent="0" lvl="0" marL="0" rtl="0" algn="just">
              <a:lnSpc>
                <a:spcPct val="90000"/>
              </a:lnSpc>
              <a:spcBef>
                <a:spcPts val="1000"/>
              </a:spcBef>
              <a:spcAft>
                <a:spcPts val="0"/>
              </a:spcAft>
              <a:buClr>
                <a:schemeClr val="dk1"/>
              </a:buClr>
              <a:buSzPts val="2800"/>
              <a:buNone/>
            </a:pPr>
            <a:r>
              <a:rPr b="1" lang="en-US"/>
              <a:t>2. Inverse Document Frequency (IDF)</a:t>
            </a:r>
            <a:endParaRPr/>
          </a:p>
          <a:p>
            <a:pPr indent="-228600" lvl="0" marL="228600" rtl="0" algn="just">
              <a:lnSpc>
                <a:spcPct val="90000"/>
              </a:lnSpc>
              <a:spcBef>
                <a:spcPts val="1000"/>
              </a:spcBef>
              <a:spcAft>
                <a:spcPts val="0"/>
              </a:spcAft>
              <a:buClr>
                <a:schemeClr val="dk1"/>
              </a:buClr>
              <a:buSzPts val="2800"/>
              <a:buNone/>
            </a:pPr>
            <a:r>
              <a:rPr lang="en-US"/>
              <a:t>Measures how rare or common a word is across all documents.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03" name="Google Shape;303;p3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TF–IDF</a:t>
            </a:r>
            <a:endParaRPr/>
          </a:p>
        </p:txBody>
      </p:sp>
      <p:sp>
        <p:nvSpPr>
          <p:cNvPr id="309" name="Google Shape;309;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The core idea of TF–IDF is:</a:t>
            </a:r>
            <a:endParaRPr/>
          </a:p>
          <a:p>
            <a:pPr indent="-342900" lvl="0" marL="342900" rtl="0" algn="just">
              <a:lnSpc>
                <a:spcPct val="90000"/>
              </a:lnSpc>
              <a:spcBef>
                <a:spcPts val="1000"/>
              </a:spcBef>
              <a:spcAft>
                <a:spcPts val="0"/>
              </a:spcAft>
              <a:buClr>
                <a:schemeClr val="dk1"/>
              </a:buClr>
              <a:buSzPts val="2800"/>
              <a:buAutoNum type="arabicPeriod"/>
            </a:pPr>
            <a:r>
              <a:rPr lang="en-US"/>
              <a:t>Words that appear frequently in a document are important</a:t>
            </a:r>
            <a:endParaRPr/>
          </a:p>
          <a:p>
            <a:pPr indent="-342900" lvl="0" marL="342900" rtl="0" algn="just">
              <a:lnSpc>
                <a:spcPct val="90000"/>
              </a:lnSpc>
              <a:spcBef>
                <a:spcPts val="1000"/>
              </a:spcBef>
              <a:spcAft>
                <a:spcPts val="0"/>
              </a:spcAft>
              <a:buClr>
                <a:schemeClr val="dk1"/>
              </a:buClr>
              <a:buSzPts val="2800"/>
              <a:buAutoNum type="arabicPeriod"/>
            </a:pPr>
            <a:r>
              <a:rPr lang="en-US"/>
              <a:t>Words that appear in many documents are less informative</a:t>
            </a:r>
            <a:endParaRPr/>
          </a:p>
          <a:p>
            <a:pPr indent="-342900" lvl="0" marL="342900" rtl="0" algn="just">
              <a:lnSpc>
                <a:spcPct val="90000"/>
              </a:lnSpc>
              <a:spcBef>
                <a:spcPts val="1000"/>
              </a:spcBef>
              <a:spcAft>
                <a:spcPts val="0"/>
              </a:spcAft>
              <a:buClr>
                <a:schemeClr val="dk1"/>
              </a:buClr>
              <a:buSzPts val="2800"/>
              <a:buAutoNum type="arabicPeriod"/>
            </a:pPr>
            <a:r>
              <a:rPr lang="en-US"/>
              <a:t>Rare but frequent-in-a-document words carry more meaning</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rPr lang="en-US"/>
              <a:t>TF–IDF combines these two ideas to give higher weight to meaningful words and lower weight to common words. This helps reduce noise and improves model performance in tasks such as sentiment analysis, spam detection, and topic classification.</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10" name="Google Shape;310;p3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Term Frequency (TF) and Inverse </a:t>
            </a:r>
            <a:br>
              <a:rPr b="1" lang="en-US"/>
            </a:br>
            <a:r>
              <a:rPr b="1" lang="en-US"/>
              <a:t>Document Frequency (IDF)</a:t>
            </a:r>
            <a:endParaRPr b="1"/>
          </a:p>
        </p:txBody>
      </p:sp>
      <p:sp>
        <p:nvSpPr>
          <p:cNvPr id="316" name="Google Shape;316;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None/>
            </a:pPr>
            <a:r>
              <a:rPr lang="en-US"/>
              <a:t>TF–IDF is calculated by multiplying two values:</a:t>
            </a:r>
            <a:endParaRPr/>
          </a:p>
          <a:p>
            <a:pPr indent="-228600" lvl="0" marL="228600" rtl="0" algn="just">
              <a:lnSpc>
                <a:spcPct val="90000"/>
              </a:lnSpc>
              <a:spcBef>
                <a:spcPts val="1000"/>
              </a:spcBef>
              <a:spcAft>
                <a:spcPts val="0"/>
              </a:spcAft>
              <a:buClr>
                <a:schemeClr val="dk1"/>
              </a:buClr>
              <a:buSzPts val="2800"/>
              <a:buNone/>
            </a:pPr>
            <a:r>
              <a:rPr b="1" lang="en-US"/>
              <a:t>Term Frequency (TF)</a:t>
            </a:r>
            <a:endParaRPr/>
          </a:p>
          <a:p>
            <a:pPr indent="0" lvl="0" marL="0" rtl="0" algn="just">
              <a:lnSpc>
                <a:spcPct val="90000"/>
              </a:lnSpc>
              <a:spcBef>
                <a:spcPts val="1000"/>
              </a:spcBef>
              <a:spcAft>
                <a:spcPts val="0"/>
              </a:spcAft>
              <a:buClr>
                <a:schemeClr val="dk1"/>
              </a:buClr>
              <a:buSzPts val="2800"/>
              <a:buNone/>
            </a:pPr>
            <a:r>
              <a:rPr lang="en-US"/>
              <a:t>Term Frequency measures how often a word appears in a document.</a:t>
            </a:r>
            <a:endParaRPr/>
          </a:p>
          <a:p>
            <a:pPr indent="-228600" lvl="0" marL="228600" rtl="0" algn="l">
              <a:lnSpc>
                <a:spcPct val="90000"/>
              </a:lnSpc>
              <a:spcBef>
                <a:spcPts val="1000"/>
              </a:spcBef>
              <a:spcAft>
                <a:spcPts val="0"/>
              </a:spcAft>
              <a:buClr>
                <a:schemeClr val="dk1"/>
              </a:buClr>
              <a:buSzPts val="2800"/>
              <a:buNone/>
            </a:pPr>
            <a:r>
              <a:rPr b="1" lang="en-US"/>
              <a:t>Formula:</a:t>
            </a:r>
            <a:endParaRPr b="1"/>
          </a:p>
          <a:p>
            <a:pPr indent="-228600" lvl="0" marL="228600" rtl="0" algn="l">
              <a:lnSpc>
                <a:spcPct val="90000"/>
              </a:lnSpc>
              <a:spcBef>
                <a:spcPts val="1000"/>
              </a:spcBef>
              <a:spcAft>
                <a:spcPts val="0"/>
              </a:spcAft>
              <a:buClr>
                <a:schemeClr val="dk1"/>
              </a:buClr>
              <a:buSzPts val="2800"/>
              <a:buNone/>
            </a:pPr>
            <a:r>
              <a:rPr b="1" lang="en-US"/>
              <a:t>TF(word) =</a:t>
            </a:r>
            <a:br>
              <a:rPr lang="en-US"/>
            </a:br>
            <a:r>
              <a:rPr lang="en-US"/>
              <a:t>            (Number of times the word appears in the document)</a:t>
            </a:r>
            <a:br>
              <a:rPr lang="en-US"/>
            </a:br>
            <a:r>
              <a:rPr lang="en-US"/>
              <a:t> —————————————————————————————</a:t>
            </a:r>
            <a:br>
              <a:rPr lang="en-US"/>
            </a:br>
            <a:r>
              <a:rPr lang="en-US"/>
              <a:t>                     (Total number of words in the document)</a:t>
            </a:r>
            <a:endParaRPr/>
          </a:p>
          <a:p>
            <a:pPr indent="-228600" lvl="0" marL="228600" rtl="0" algn="l">
              <a:lnSpc>
                <a:spcPct val="90000"/>
              </a:lnSpc>
              <a:spcBef>
                <a:spcPts val="1000"/>
              </a:spcBef>
              <a:spcAft>
                <a:spcPts val="0"/>
              </a:spcAft>
              <a:buClr>
                <a:schemeClr val="dk1"/>
              </a:buClr>
              <a:buSzPts val="2800"/>
              <a:buNone/>
            </a:pPr>
            <a:r>
              <a:rPr lang="en-US"/>
              <a:t>TF captures the importance of a word within a single document.</a:t>
            </a:r>
            <a:endParaRPr/>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17" name="Google Shape;317;p3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Term Frequency (TF) and Inverse </a:t>
            </a:r>
            <a:br>
              <a:rPr b="1" lang="en-US"/>
            </a:br>
            <a:r>
              <a:rPr b="1" lang="en-US"/>
              <a:t>Document Frequency (IDF)</a:t>
            </a:r>
            <a:endParaRPr/>
          </a:p>
        </p:txBody>
      </p:sp>
      <p:sp>
        <p:nvSpPr>
          <p:cNvPr id="323" name="Google Shape;323;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Inverse Document Frequency (IDF)</a:t>
            </a:r>
            <a:endParaRPr/>
          </a:p>
          <a:p>
            <a:pPr indent="0" lvl="0" marL="0" rtl="0" algn="just">
              <a:lnSpc>
                <a:spcPct val="90000"/>
              </a:lnSpc>
              <a:spcBef>
                <a:spcPts val="1000"/>
              </a:spcBef>
              <a:spcAft>
                <a:spcPts val="0"/>
              </a:spcAft>
              <a:buClr>
                <a:schemeClr val="dk1"/>
              </a:buClr>
              <a:buSzPts val="2800"/>
              <a:buNone/>
            </a:pPr>
            <a:r>
              <a:rPr lang="en-US"/>
              <a:t>Inverse Document Frequency measures how rare a word is across all documents.</a:t>
            </a:r>
            <a:endParaRPr/>
          </a:p>
          <a:p>
            <a:pPr indent="-228600" lvl="0" marL="228600" rtl="0" algn="l">
              <a:lnSpc>
                <a:spcPct val="90000"/>
              </a:lnSpc>
              <a:spcBef>
                <a:spcPts val="1000"/>
              </a:spcBef>
              <a:spcAft>
                <a:spcPts val="0"/>
              </a:spcAft>
              <a:buClr>
                <a:schemeClr val="dk1"/>
              </a:buClr>
              <a:buSzPts val="2800"/>
              <a:buNone/>
            </a:pPr>
            <a:r>
              <a:rPr b="1" lang="en-US"/>
              <a:t>Formula:</a:t>
            </a:r>
            <a:endParaRPr b="1"/>
          </a:p>
          <a:p>
            <a:pPr indent="-228600" lvl="0" marL="228600" rtl="0" algn="just">
              <a:lnSpc>
                <a:spcPct val="90000"/>
              </a:lnSpc>
              <a:spcBef>
                <a:spcPts val="1000"/>
              </a:spcBef>
              <a:spcAft>
                <a:spcPts val="0"/>
              </a:spcAft>
              <a:buClr>
                <a:schemeClr val="dk1"/>
              </a:buClr>
              <a:buSzPts val="2800"/>
              <a:buNone/>
            </a:pPr>
            <a:r>
              <a:rPr b="1" lang="en-US"/>
              <a:t>IDF(word) = </a:t>
            </a:r>
            <a:r>
              <a:rPr lang="en-US"/>
              <a:t>log( </a:t>
            </a:r>
            <a:r>
              <a:rPr lang="en-US" sz="2600"/>
              <a:t>Total number of documents / </a:t>
            </a:r>
            <a:r>
              <a:rPr lang="en-US"/>
              <a:t>Number of documents containing the word)</a:t>
            </a:r>
            <a:endParaRPr/>
          </a:p>
          <a:p>
            <a:pPr indent="0" lvl="0" marL="0" rtl="0" algn="just">
              <a:lnSpc>
                <a:spcPct val="90000"/>
              </a:lnSpc>
              <a:spcBef>
                <a:spcPts val="1000"/>
              </a:spcBef>
              <a:spcAft>
                <a:spcPts val="0"/>
              </a:spcAft>
              <a:buClr>
                <a:schemeClr val="dk1"/>
              </a:buClr>
              <a:buSzPts val="2800"/>
              <a:buNone/>
            </a:pPr>
            <a:r>
              <a:rPr lang="en-US"/>
              <a:t>IDF reduces the weight of common words and increases the weight of rare words.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24" name="Google Shape;324;p3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Term Frequency (TF) and Inverse </a:t>
            </a:r>
            <a:br>
              <a:rPr b="1" lang="en-US"/>
            </a:br>
            <a:r>
              <a:rPr b="1" lang="en-US"/>
              <a:t>Document Frequency (IDF)</a:t>
            </a:r>
            <a:endParaRPr/>
          </a:p>
        </p:txBody>
      </p:sp>
      <p:sp>
        <p:nvSpPr>
          <p:cNvPr id="330" name="Google Shape;330;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TF–IDF</a:t>
            </a:r>
            <a:endParaRPr/>
          </a:p>
          <a:p>
            <a:pPr indent="-228600" lvl="0" marL="228600" rtl="0" algn="l">
              <a:lnSpc>
                <a:spcPct val="90000"/>
              </a:lnSpc>
              <a:spcBef>
                <a:spcPts val="1000"/>
              </a:spcBef>
              <a:spcAft>
                <a:spcPts val="0"/>
              </a:spcAft>
              <a:buClr>
                <a:schemeClr val="dk1"/>
              </a:buClr>
              <a:buSzPts val="2800"/>
              <a:buNone/>
            </a:pPr>
            <a:r>
              <a:rPr lang="en-US"/>
              <a:t>TF–IDF = TF × IDF</a:t>
            </a:r>
            <a:endParaRPr/>
          </a:p>
          <a:p>
            <a:pPr indent="0" lvl="0" marL="0" rtl="0" algn="just">
              <a:lnSpc>
                <a:spcPct val="90000"/>
              </a:lnSpc>
              <a:spcBef>
                <a:spcPts val="1000"/>
              </a:spcBef>
              <a:spcAft>
                <a:spcPts val="0"/>
              </a:spcAft>
              <a:buClr>
                <a:schemeClr val="dk1"/>
              </a:buClr>
              <a:buSzPts val="2800"/>
              <a:buNone/>
            </a:pPr>
            <a:r>
              <a:rPr lang="en-US"/>
              <a:t>Words with high TF–IDF scores are considered more important for that document.</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31" name="Google Shape;331;p3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TF–IDF Using Python</a:t>
            </a:r>
            <a:endParaRPr b="1"/>
          </a:p>
        </p:txBody>
      </p:sp>
      <p:sp>
        <p:nvSpPr>
          <p:cNvPr id="337" name="Google Shape;337;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lnSpc>
                <a:spcPct val="90000"/>
              </a:lnSpc>
              <a:spcBef>
                <a:spcPts val="0"/>
              </a:spcBef>
              <a:spcAft>
                <a:spcPts val="0"/>
              </a:spcAft>
              <a:buClr>
                <a:schemeClr val="dk1"/>
              </a:buClr>
              <a:buSzPct val="100000"/>
              <a:buNone/>
            </a:pPr>
            <a:r>
              <a:rPr lang="en-US"/>
              <a:t>TF–IDF can be implemented in Python using </a:t>
            </a:r>
            <a:r>
              <a:rPr lang="en-US">
                <a:latin typeface="Consolas"/>
                <a:ea typeface="Consolas"/>
                <a:cs typeface="Consolas"/>
                <a:sym typeface="Consolas"/>
              </a:rPr>
              <a:t>TfidfVectorizer</a:t>
            </a:r>
            <a:r>
              <a:rPr lang="en-US"/>
              <a:t> from the scikit-learn library.</a:t>
            </a:r>
            <a:endParaRPr/>
          </a:p>
          <a:p>
            <a:pPr indent="-228600" lvl="0" marL="228600" rtl="0" algn="l">
              <a:lnSpc>
                <a:spcPct val="90000"/>
              </a:lnSpc>
              <a:spcBef>
                <a:spcPts val="1000"/>
              </a:spcBef>
              <a:spcAft>
                <a:spcPts val="0"/>
              </a:spcAft>
              <a:buClr>
                <a:schemeClr val="dk1"/>
              </a:buClr>
              <a:buSzPct val="100000"/>
              <a:buNone/>
            </a:pPr>
            <a:r>
              <a:rPr lang="en-US"/>
              <a:t>from sklearn.feature_extraction.text import TfidfVectorizer</a:t>
            </a:r>
            <a:endParaRPr/>
          </a:p>
          <a:p>
            <a:pPr indent="-228600" lvl="0" marL="228600" rtl="0" algn="l">
              <a:lnSpc>
                <a:spcPct val="90000"/>
              </a:lnSpc>
              <a:spcBef>
                <a:spcPts val="1000"/>
              </a:spcBef>
              <a:spcAft>
                <a:spcPts val="0"/>
              </a:spcAft>
              <a:buClr>
                <a:schemeClr val="dk1"/>
              </a:buClr>
              <a:buSzPct val="100000"/>
              <a:buNone/>
            </a:pPr>
            <a:r>
              <a:rPr lang="en-US"/>
              <a:t>documents = [</a:t>
            </a:r>
            <a:endParaRPr/>
          </a:p>
          <a:p>
            <a:pPr indent="-228600" lvl="0" marL="228600" rtl="0" algn="l">
              <a:lnSpc>
                <a:spcPct val="90000"/>
              </a:lnSpc>
              <a:spcBef>
                <a:spcPts val="1000"/>
              </a:spcBef>
              <a:spcAft>
                <a:spcPts val="0"/>
              </a:spcAft>
              <a:buClr>
                <a:schemeClr val="dk1"/>
              </a:buClr>
              <a:buSzPct val="100000"/>
              <a:buNone/>
            </a:pPr>
            <a:r>
              <a:rPr lang="en-US"/>
              <a:t>    "I love NLP",</a:t>
            </a:r>
            <a:endParaRPr/>
          </a:p>
          <a:p>
            <a:pPr indent="-228600" lvl="0" marL="228600" rtl="0" algn="l">
              <a:lnSpc>
                <a:spcPct val="90000"/>
              </a:lnSpc>
              <a:spcBef>
                <a:spcPts val="1000"/>
              </a:spcBef>
              <a:spcAft>
                <a:spcPts val="0"/>
              </a:spcAft>
              <a:buClr>
                <a:schemeClr val="dk1"/>
              </a:buClr>
              <a:buSzPct val="100000"/>
              <a:buNone/>
            </a:pPr>
            <a:r>
              <a:rPr lang="en-US"/>
              <a:t>    "I love AI",</a:t>
            </a:r>
            <a:endParaRPr/>
          </a:p>
          <a:p>
            <a:pPr indent="-228600" lvl="0" marL="228600" rtl="0" algn="l">
              <a:lnSpc>
                <a:spcPct val="90000"/>
              </a:lnSpc>
              <a:spcBef>
                <a:spcPts val="1000"/>
              </a:spcBef>
              <a:spcAft>
                <a:spcPts val="0"/>
              </a:spcAft>
              <a:buClr>
                <a:schemeClr val="dk1"/>
              </a:buClr>
              <a:buSzPct val="100000"/>
              <a:buNone/>
            </a:pPr>
            <a:r>
              <a:rPr lang="en-US"/>
              <a:t>    "NLP is interesting"</a:t>
            </a:r>
            <a:endParaRPr/>
          </a:p>
          <a:p>
            <a:pPr indent="-228600" lvl="0" marL="228600" rtl="0" algn="l">
              <a:lnSpc>
                <a:spcPct val="90000"/>
              </a:lnSpc>
              <a:spcBef>
                <a:spcPts val="1000"/>
              </a:spcBef>
              <a:spcAft>
                <a:spcPts val="0"/>
              </a:spcAft>
              <a:buClr>
                <a:schemeClr val="dk1"/>
              </a:buClr>
              <a:buSzPct val="100000"/>
              <a:buNone/>
            </a:pPr>
            <a:r>
              <a:rPr lang="en-US"/>
              <a:t>]</a:t>
            </a:r>
            <a:endParaRPr/>
          </a:p>
          <a:p>
            <a:pPr indent="-22860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None/>
            </a:pPr>
            <a:r>
              <a:rPr lang="en-US"/>
              <a:t>tfidf = TfidfVectorizer()</a:t>
            </a:r>
            <a:endParaRPr/>
          </a:p>
          <a:p>
            <a:pPr indent="0" lvl="0" marL="0" rtl="0" algn="l">
              <a:lnSpc>
                <a:spcPct val="90000"/>
              </a:lnSpc>
              <a:spcBef>
                <a:spcPts val="1000"/>
              </a:spcBef>
              <a:spcAft>
                <a:spcPts val="0"/>
              </a:spcAft>
              <a:buClr>
                <a:schemeClr val="dk1"/>
              </a:buClr>
              <a:buSzPct val="100000"/>
              <a:buNone/>
            </a:pPr>
            <a:r>
              <a:rPr lang="en-US"/>
              <a:t>X = tfidf.fit_transform(documents)</a:t>
            </a:r>
            <a:endParaRPr/>
          </a:p>
        </p:txBody>
      </p:sp>
      <p:pic>
        <p:nvPicPr>
          <p:cNvPr descr="A blue and white logo&#10;&#10;AI-generated content may be incorrect." id="338" name="Google Shape;338;p3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TF–IDF Using Python</a:t>
            </a:r>
            <a:endParaRPr/>
          </a:p>
        </p:txBody>
      </p:sp>
      <p:sp>
        <p:nvSpPr>
          <p:cNvPr id="344" name="Google Shape;344;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print("Vocabulary:")</a:t>
            </a:r>
            <a:endParaRPr/>
          </a:p>
          <a:p>
            <a:pPr indent="-228600" lvl="0" marL="228600" rtl="0" algn="l">
              <a:lnSpc>
                <a:spcPct val="90000"/>
              </a:lnSpc>
              <a:spcBef>
                <a:spcPts val="1000"/>
              </a:spcBef>
              <a:spcAft>
                <a:spcPts val="0"/>
              </a:spcAft>
              <a:buClr>
                <a:schemeClr val="dk1"/>
              </a:buClr>
              <a:buSzPts val="2800"/>
              <a:buNone/>
            </a:pPr>
            <a:r>
              <a:rPr lang="en-US"/>
              <a:t>print(tfidf.get_feature_names_out())</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print("\nTF-IDF Matrix:")</a:t>
            </a:r>
            <a:endParaRPr/>
          </a:p>
          <a:p>
            <a:pPr indent="0" lvl="0" marL="0" rtl="0" algn="l">
              <a:lnSpc>
                <a:spcPct val="90000"/>
              </a:lnSpc>
              <a:spcBef>
                <a:spcPts val="1000"/>
              </a:spcBef>
              <a:spcAft>
                <a:spcPts val="0"/>
              </a:spcAft>
              <a:buClr>
                <a:schemeClr val="dk1"/>
              </a:buClr>
              <a:buSzPts val="2800"/>
              <a:buNone/>
            </a:pPr>
            <a:r>
              <a:rPr lang="en-US"/>
              <a:t>print(X.toarray())</a:t>
            </a:r>
            <a:endParaRPr/>
          </a:p>
        </p:txBody>
      </p:sp>
      <p:pic>
        <p:nvPicPr>
          <p:cNvPr descr="A blue and white logo&#10;&#10;AI-generated content may be incorrect." id="345" name="Google Shape;345;p3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TF–IDF Using Python</a:t>
            </a:r>
            <a:endParaRPr/>
          </a:p>
        </p:txBody>
      </p:sp>
      <p:sp>
        <p:nvSpPr>
          <p:cNvPr id="351" name="Google Shape;351;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This code:</a:t>
            </a:r>
            <a:endParaRPr/>
          </a:p>
          <a:p>
            <a:pPr indent="-228600" lvl="0" marL="228600" rtl="0" algn="just">
              <a:lnSpc>
                <a:spcPct val="90000"/>
              </a:lnSpc>
              <a:spcBef>
                <a:spcPts val="1000"/>
              </a:spcBef>
              <a:spcAft>
                <a:spcPts val="0"/>
              </a:spcAft>
              <a:buClr>
                <a:schemeClr val="dk1"/>
              </a:buClr>
              <a:buSzPts val="2800"/>
              <a:buChar char="•"/>
            </a:pPr>
            <a:r>
              <a:rPr lang="en-US"/>
              <a:t>Tokenizes the text</a:t>
            </a:r>
            <a:endParaRPr/>
          </a:p>
          <a:p>
            <a:pPr indent="-228600" lvl="0" marL="228600" rtl="0" algn="just">
              <a:lnSpc>
                <a:spcPct val="90000"/>
              </a:lnSpc>
              <a:spcBef>
                <a:spcPts val="1000"/>
              </a:spcBef>
              <a:spcAft>
                <a:spcPts val="0"/>
              </a:spcAft>
              <a:buClr>
                <a:schemeClr val="dk1"/>
              </a:buClr>
              <a:buSzPts val="2800"/>
              <a:buChar char="•"/>
            </a:pPr>
            <a:r>
              <a:rPr lang="en-US"/>
              <a:t>Builds vocabulary</a:t>
            </a:r>
            <a:endParaRPr/>
          </a:p>
          <a:p>
            <a:pPr indent="-228600" lvl="0" marL="228600" rtl="0" algn="just">
              <a:lnSpc>
                <a:spcPct val="90000"/>
              </a:lnSpc>
              <a:spcBef>
                <a:spcPts val="1000"/>
              </a:spcBef>
              <a:spcAft>
                <a:spcPts val="0"/>
              </a:spcAft>
              <a:buClr>
                <a:schemeClr val="dk1"/>
              </a:buClr>
              <a:buSzPts val="2800"/>
              <a:buChar char="•"/>
            </a:pPr>
            <a:r>
              <a:rPr lang="en-US"/>
              <a:t>Computes TF and IDF values</a:t>
            </a:r>
            <a:endParaRPr/>
          </a:p>
          <a:p>
            <a:pPr indent="-228600" lvl="0" marL="228600" rtl="0" algn="just">
              <a:lnSpc>
                <a:spcPct val="90000"/>
              </a:lnSpc>
              <a:spcBef>
                <a:spcPts val="1000"/>
              </a:spcBef>
              <a:spcAft>
                <a:spcPts val="0"/>
              </a:spcAft>
              <a:buClr>
                <a:schemeClr val="dk1"/>
              </a:buClr>
              <a:buSzPts val="2800"/>
              <a:buChar char="•"/>
            </a:pPr>
            <a:r>
              <a:rPr lang="en-US"/>
              <a:t>Generates TF–IDF weighted vectors</a:t>
            </a:r>
            <a:endParaRPr/>
          </a:p>
          <a:p>
            <a:pPr indent="0" lvl="0" marL="0" rtl="0" algn="just">
              <a:lnSpc>
                <a:spcPct val="90000"/>
              </a:lnSpc>
              <a:spcBef>
                <a:spcPts val="1000"/>
              </a:spcBef>
              <a:spcAft>
                <a:spcPts val="0"/>
              </a:spcAft>
              <a:buClr>
                <a:schemeClr val="dk1"/>
              </a:buClr>
              <a:buSzPts val="2800"/>
              <a:buNone/>
            </a:pPr>
            <a:r>
              <a:rPr lang="en-US"/>
              <a:t>The resulting matrix represents each document numerically, with higher values assigned to more meaningful words.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52" name="Google Shape;352;p3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Interpreting TF–IDF Output and </a:t>
            </a:r>
            <a:br>
              <a:rPr b="1" lang="en-US"/>
            </a:br>
            <a:r>
              <a:rPr b="1" lang="en-US"/>
              <a:t>Comparing with Bag of Words</a:t>
            </a:r>
            <a:endParaRPr b="1"/>
          </a:p>
        </p:txBody>
      </p:sp>
      <p:sp>
        <p:nvSpPr>
          <p:cNvPr id="358" name="Google Shape;358;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After applying TF–IDF, the output matrix contains </a:t>
            </a:r>
            <a:r>
              <a:rPr b="1" lang="en-US"/>
              <a:t>weighted values</a:t>
            </a:r>
            <a:r>
              <a:rPr lang="en-US"/>
              <a:t> instead of raw word counts.</a:t>
            </a:r>
            <a:endParaRPr/>
          </a:p>
          <a:p>
            <a:pPr indent="0" lvl="0" marL="0" rtl="0" algn="l">
              <a:lnSpc>
                <a:spcPct val="90000"/>
              </a:lnSpc>
              <a:spcBef>
                <a:spcPts val="1000"/>
              </a:spcBef>
              <a:spcAft>
                <a:spcPts val="0"/>
              </a:spcAft>
              <a:buClr>
                <a:schemeClr val="dk1"/>
              </a:buClr>
              <a:buSzPts val="2800"/>
              <a:buNone/>
            </a:pPr>
            <a:r>
              <a:rPr lang="en-US"/>
              <a:t>0.58</a:t>
            </a:r>
            <a:endParaRPr/>
          </a:p>
        </p:txBody>
      </p:sp>
      <p:graphicFrame>
        <p:nvGraphicFramePr>
          <p:cNvPr id="359" name="Google Shape;359;p40"/>
          <p:cNvGraphicFramePr/>
          <p:nvPr/>
        </p:nvGraphicFramePr>
        <p:xfrm>
          <a:off x="970767" y="2807917"/>
          <a:ext cx="3000000" cy="3000000"/>
        </p:xfrm>
        <a:graphic>
          <a:graphicData uri="http://schemas.openxmlformats.org/drawingml/2006/table">
            <a:tbl>
              <a:tblPr bandRow="1" firstRow="1">
                <a:noFill/>
                <a:tableStyleId>{097C267D-501B-42CC-91B5-972FE712E406}</a:tableStyleId>
              </a:tblPr>
              <a:tblGrid>
                <a:gridCol w="1690775"/>
                <a:gridCol w="1690775"/>
                <a:gridCol w="1690775"/>
                <a:gridCol w="1690775"/>
                <a:gridCol w="1690775"/>
                <a:gridCol w="1690775"/>
              </a:tblGrid>
              <a:tr h="745050">
                <a:tc>
                  <a:txBody>
                    <a:bodyPr/>
                    <a:lstStyle/>
                    <a:p>
                      <a:pPr indent="0" lvl="0" marL="0" marR="0" rtl="0" algn="ctr">
                        <a:spcBef>
                          <a:spcPts val="0"/>
                        </a:spcBef>
                        <a:spcAft>
                          <a:spcPts val="0"/>
                        </a:spcAft>
                        <a:buNone/>
                      </a:pPr>
                      <a:r>
                        <a:rPr lang="en-US" sz="1800" u="none" cap="none" strike="noStrike"/>
                        <a:t>Dcoument</a:t>
                      </a:r>
                      <a:endParaRPr sz="1800" u="none" cap="none" strike="noStrike"/>
                    </a:p>
                  </a:txBody>
                  <a:tcPr marT="45725" marB="45725" marR="91450" marL="91450"/>
                </a:tc>
                <a:tc>
                  <a:txBody>
                    <a:bodyPr/>
                    <a:lstStyle/>
                    <a:p>
                      <a:pPr indent="0" lvl="0" marL="0" marR="0" rtl="0" algn="ctr">
                        <a:spcBef>
                          <a:spcPts val="0"/>
                        </a:spcBef>
                        <a:spcAft>
                          <a:spcPts val="0"/>
                        </a:spcAft>
                        <a:buNone/>
                      </a:pPr>
                      <a:r>
                        <a:rPr lang="en-US" sz="1800" u="none" cap="none" strike="noStrike"/>
                        <a:t>ai</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interesting</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Is </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love</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nlp</a:t>
                      </a:r>
                      <a:endParaRPr sz="1800" u="none" cap="none" strike="noStrike"/>
                    </a:p>
                  </a:txBody>
                  <a:tcPr marT="45725" marB="45725" marR="91450" marL="91450"/>
                </a:tc>
              </a:tr>
              <a:tr h="745050">
                <a:tc>
                  <a:txBody>
                    <a:bodyPr/>
                    <a:lstStyle/>
                    <a:p>
                      <a:pPr indent="0" lvl="0" marL="0" marR="0" rtl="0" algn="ctr">
                        <a:spcBef>
                          <a:spcPts val="0"/>
                        </a:spcBef>
                        <a:spcAft>
                          <a:spcPts val="0"/>
                        </a:spcAft>
                        <a:buNone/>
                      </a:pPr>
                      <a:r>
                        <a:rPr b="1" lang="en-US" sz="1800" u="none" cap="none" strike="noStrike"/>
                        <a:t>Doc 1</a:t>
                      </a:r>
                      <a:endParaRPr/>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0.71</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0.71</a:t>
                      </a:r>
                      <a:endParaRPr sz="1800" u="none" cap="none" strike="noStrike"/>
                    </a:p>
                  </a:txBody>
                  <a:tcPr marT="45725" marB="45725" marR="91450" marL="91450"/>
                </a:tc>
              </a:tr>
              <a:tr h="745050">
                <a:tc>
                  <a:txBody>
                    <a:bodyPr/>
                    <a:lstStyle/>
                    <a:p>
                      <a:pPr indent="0" lvl="0" marL="0" marR="0" rtl="0" algn="ctr">
                        <a:spcBef>
                          <a:spcPts val="0"/>
                        </a:spcBef>
                        <a:spcAft>
                          <a:spcPts val="0"/>
                        </a:spcAft>
                        <a:buNone/>
                      </a:pPr>
                      <a:r>
                        <a:rPr b="1" lang="en-US" sz="1800" u="none" cap="none" strike="noStrike"/>
                        <a:t>Doc 2</a:t>
                      </a:r>
                      <a:endParaRPr/>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0.71</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0.71</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0.00</a:t>
                      </a:r>
                      <a:endParaRPr sz="1800" u="none" cap="none" strike="noStrike"/>
                    </a:p>
                  </a:txBody>
                  <a:tcPr marT="45725" marB="45725" marR="91450" marL="91450"/>
                </a:tc>
              </a:tr>
              <a:tr h="745050">
                <a:tc>
                  <a:txBody>
                    <a:bodyPr/>
                    <a:lstStyle/>
                    <a:p>
                      <a:pPr indent="0" lvl="0" marL="0" marR="0" rtl="0" algn="ctr">
                        <a:spcBef>
                          <a:spcPts val="0"/>
                        </a:spcBef>
                        <a:spcAft>
                          <a:spcPts val="0"/>
                        </a:spcAft>
                        <a:buNone/>
                      </a:pPr>
                      <a:r>
                        <a:rPr b="1" lang="en-US" sz="1800" u="none" cap="none" strike="noStrike"/>
                        <a:t>Doc 3</a:t>
                      </a:r>
                      <a:endParaRPr/>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0.58</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0.58</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Arial"/>
                        <a:buNone/>
                      </a:pPr>
                      <a:r>
                        <a:rPr b="0" i="0" lang="en-US" sz="1800" u="none" cap="none" strike="noStrike">
                          <a:latin typeface="Arial"/>
                          <a:ea typeface="Arial"/>
                          <a:cs typeface="Arial"/>
                          <a:sym typeface="Arial"/>
                        </a:rPr>
                        <a:t>0.58</a:t>
                      </a:r>
                      <a:endParaRPr sz="1800" u="none" cap="none" strike="noStrike"/>
                    </a:p>
                  </a:txBody>
                  <a:tcPr marT="45725" marB="45725" marR="91450" marL="91450"/>
                </a:tc>
              </a:tr>
            </a:tbl>
          </a:graphicData>
        </a:graphic>
      </p:graphicFrame>
      <p:pic>
        <p:nvPicPr>
          <p:cNvPr descr="A blue and white logo&#10;&#10;AI-generated content may be incorrect." id="360" name="Google Shape;360;p4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Interpreting TF–IDF Output and </a:t>
            </a:r>
            <a:br>
              <a:rPr b="1" lang="en-US"/>
            </a:br>
            <a:r>
              <a:rPr b="1" lang="en-US"/>
              <a:t>Comparing with Bag of Words</a:t>
            </a:r>
            <a:endParaRPr/>
          </a:p>
        </p:txBody>
      </p:sp>
      <p:sp>
        <p:nvSpPr>
          <p:cNvPr id="366" name="Google Shape;366;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just">
              <a:lnSpc>
                <a:spcPct val="90000"/>
              </a:lnSpc>
              <a:spcBef>
                <a:spcPts val="0"/>
              </a:spcBef>
              <a:spcAft>
                <a:spcPts val="0"/>
              </a:spcAft>
              <a:buClr>
                <a:schemeClr val="dk1"/>
              </a:buClr>
              <a:buSzPct val="100000"/>
              <a:buNone/>
            </a:pPr>
            <a:r>
              <a:rPr b="1" lang="en-US"/>
              <a:t>Key observations:</a:t>
            </a:r>
            <a:endParaRPr/>
          </a:p>
          <a:p>
            <a:pPr indent="-228600" lvl="0" marL="228600" rtl="0" algn="just">
              <a:lnSpc>
                <a:spcPct val="90000"/>
              </a:lnSpc>
              <a:spcBef>
                <a:spcPts val="1000"/>
              </a:spcBef>
              <a:spcAft>
                <a:spcPts val="0"/>
              </a:spcAft>
              <a:buClr>
                <a:schemeClr val="dk1"/>
              </a:buClr>
              <a:buSzPct val="100000"/>
              <a:buChar char="•"/>
            </a:pPr>
            <a:r>
              <a:rPr lang="en-US"/>
              <a:t>Values are decimal weights, not counts</a:t>
            </a:r>
            <a:endParaRPr/>
          </a:p>
          <a:p>
            <a:pPr indent="-228600" lvl="0" marL="228600" rtl="0" algn="just">
              <a:lnSpc>
                <a:spcPct val="90000"/>
              </a:lnSpc>
              <a:spcBef>
                <a:spcPts val="1000"/>
              </a:spcBef>
              <a:spcAft>
                <a:spcPts val="0"/>
              </a:spcAft>
              <a:buClr>
                <a:schemeClr val="dk1"/>
              </a:buClr>
              <a:buSzPct val="100000"/>
              <a:buChar char="•"/>
            </a:pPr>
            <a:r>
              <a:rPr lang="en-US"/>
              <a:t>Important words receive higher scores</a:t>
            </a:r>
            <a:endParaRPr/>
          </a:p>
          <a:p>
            <a:pPr indent="-228600" lvl="0" marL="228600" rtl="0" algn="just">
              <a:lnSpc>
                <a:spcPct val="90000"/>
              </a:lnSpc>
              <a:spcBef>
                <a:spcPts val="1000"/>
              </a:spcBef>
              <a:spcAft>
                <a:spcPts val="0"/>
              </a:spcAft>
              <a:buClr>
                <a:schemeClr val="dk1"/>
              </a:buClr>
              <a:buSzPct val="100000"/>
              <a:buChar char="•"/>
            </a:pPr>
            <a:r>
              <a:rPr lang="en-US"/>
              <a:t>Common words receive lower scores</a:t>
            </a:r>
            <a:endParaRPr/>
          </a:p>
          <a:p>
            <a:pPr indent="-228600" lvl="0" marL="228600" rtl="0" algn="just">
              <a:lnSpc>
                <a:spcPct val="90000"/>
              </a:lnSpc>
              <a:spcBef>
                <a:spcPts val="1000"/>
              </a:spcBef>
              <a:spcAft>
                <a:spcPts val="0"/>
              </a:spcAft>
              <a:buClr>
                <a:schemeClr val="dk1"/>
              </a:buClr>
              <a:buSzPct val="100000"/>
              <a:buChar char="•"/>
            </a:pPr>
            <a:r>
              <a:rPr lang="en-US"/>
              <a:t>Each document is normalized</a:t>
            </a:r>
            <a:endParaRPr/>
          </a:p>
          <a:p>
            <a:pPr indent="-228600" lvl="0" marL="228600" rtl="0" algn="just">
              <a:lnSpc>
                <a:spcPct val="90000"/>
              </a:lnSpc>
              <a:spcBef>
                <a:spcPts val="1000"/>
              </a:spcBef>
              <a:spcAft>
                <a:spcPts val="0"/>
              </a:spcAft>
              <a:buClr>
                <a:schemeClr val="dk1"/>
              </a:buClr>
              <a:buSzPct val="100000"/>
              <a:buNone/>
            </a:pPr>
            <a:r>
              <a:rPr b="1" lang="en-US"/>
              <a:t>Comparison:</a:t>
            </a:r>
            <a:endParaRPr b="1"/>
          </a:p>
          <a:p>
            <a:pPr indent="-228600" lvl="0" marL="228600" rtl="0" algn="just">
              <a:lnSpc>
                <a:spcPct val="90000"/>
              </a:lnSpc>
              <a:spcBef>
                <a:spcPts val="1000"/>
              </a:spcBef>
              <a:spcAft>
                <a:spcPts val="0"/>
              </a:spcAft>
              <a:buClr>
                <a:schemeClr val="dk1"/>
              </a:buClr>
              <a:buSzPct val="100000"/>
              <a:buNone/>
            </a:pPr>
            <a:r>
              <a:rPr b="1" lang="en-US"/>
              <a:t>Bag of Words →</a:t>
            </a:r>
            <a:r>
              <a:rPr lang="en-US"/>
              <a:t> counts word frequency</a:t>
            </a:r>
            <a:endParaRPr/>
          </a:p>
          <a:p>
            <a:pPr indent="-228600" lvl="0" marL="228600" rtl="0" algn="just">
              <a:lnSpc>
                <a:spcPct val="90000"/>
              </a:lnSpc>
              <a:spcBef>
                <a:spcPts val="1000"/>
              </a:spcBef>
              <a:spcAft>
                <a:spcPts val="0"/>
              </a:spcAft>
              <a:buClr>
                <a:schemeClr val="dk1"/>
              </a:buClr>
              <a:buSzPct val="100000"/>
              <a:buNone/>
            </a:pPr>
            <a:r>
              <a:rPr b="1" lang="en-US"/>
              <a:t>TF–IDF →</a:t>
            </a:r>
            <a:r>
              <a:rPr lang="en-US"/>
              <a:t> measures word importance</a:t>
            </a:r>
            <a:endParaRPr/>
          </a:p>
          <a:p>
            <a:pPr indent="-228600" lvl="0" marL="228600" rtl="0" algn="just">
              <a:lnSpc>
                <a:spcPct val="90000"/>
              </a:lnSpc>
              <a:spcBef>
                <a:spcPts val="1000"/>
              </a:spcBef>
              <a:spcAft>
                <a:spcPts val="0"/>
              </a:spcAft>
              <a:buClr>
                <a:schemeClr val="dk1"/>
              </a:buClr>
              <a:buSzPct val="100000"/>
              <a:buNone/>
            </a:pPr>
            <a:r>
              <a:rPr lang="en-US"/>
              <a:t>TF–IDF reduces noise and improves performance for most NLP tasks.</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367" name="Google Shape;367;p4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Word Embeddings</a:t>
            </a:r>
            <a:endParaRPr b="1"/>
          </a:p>
        </p:txBody>
      </p:sp>
      <p:sp>
        <p:nvSpPr>
          <p:cNvPr id="373" name="Google Shape;373;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Bag of Words and TF–IDF represent text based on word frequency and importance, but they do </a:t>
            </a:r>
            <a:r>
              <a:rPr b="1" lang="en-US"/>
              <a:t>not capture semantic meaning</a:t>
            </a:r>
            <a:r>
              <a:rPr lang="en-US"/>
              <a:t>. Word Embeddings are advanced text representation techniques that map words into dense numerical vectors in such a way that:</a:t>
            </a:r>
            <a:endParaRPr/>
          </a:p>
          <a:p>
            <a:pPr indent="-457200" lvl="0" marL="457200" rtl="0" algn="just">
              <a:lnSpc>
                <a:spcPct val="90000"/>
              </a:lnSpc>
              <a:spcBef>
                <a:spcPts val="1000"/>
              </a:spcBef>
              <a:spcAft>
                <a:spcPts val="0"/>
              </a:spcAft>
              <a:buClr>
                <a:schemeClr val="dk1"/>
              </a:buClr>
              <a:buSzPts val="2800"/>
              <a:buChar char="•"/>
            </a:pPr>
            <a:r>
              <a:rPr lang="en-US"/>
              <a:t>Similar words have similar vectors</a:t>
            </a:r>
            <a:endParaRPr/>
          </a:p>
          <a:p>
            <a:pPr indent="-457200" lvl="0" marL="457200" rtl="0" algn="just">
              <a:lnSpc>
                <a:spcPct val="90000"/>
              </a:lnSpc>
              <a:spcBef>
                <a:spcPts val="1000"/>
              </a:spcBef>
              <a:spcAft>
                <a:spcPts val="0"/>
              </a:spcAft>
              <a:buClr>
                <a:schemeClr val="dk1"/>
              </a:buClr>
              <a:buSzPts val="2800"/>
              <a:buChar char="•"/>
            </a:pPr>
            <a:r>
              <a:rPr lang="en-US"/>
              <a:t>Semantic relationships are preserved</a:t>
            </a:r>
            <a:endParaRPr/>
          </a:p>
          <a:p>
            <a:pPr indent="-457200" lvl="0" marL="457200" rtl="0" algn="just">
              <a:lnSpc>
                <a:spcPct val="90000"/>
              </a:lnSpc>
              <a:spcBef>
                <a:spcPts val="1000"/>
              </a:spcBef>
              <a:spcAft>
                <a:spcPts val="0"/>
              </a:spcAft>
              <a:buClr>
                <a:schemeClr val="dk1"/>
              </a:buClr>
              <a:buSzPts val="2800"/>
              <a:buChar char="•"/>
            </a:pPr>
            <a:r>
              <a:rPr lang="en-US"/>
              <a:t>Contextual meaning is partially captured</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74" name="Google Shape;374;p4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Word Embeddings</a:t>
            </a:r>
            <a:endParaRPr/>
          </a:p>
        </p:txBody>
      </p:sp>
      <p:sp>
        <p:nvSpPr>
          <p:cNvPr id="380" name="Google Shape;380;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90000"/>
              </a:lnSpc>
              <a:spcBef>
                <a:spcPts val="0"/>
              </a:spcBef>
              <a:spcAft>
                <a:spcPts val="0"/>
              </a:spcAft>
              <a:buClr>
                <a:schemeClr val="dk1"/>
              </a:buClr>
              <a:buSzPct val="100000"/>
              <a:buNone/>
            </a:pPr>
            <a:r>
              <a:rPr lang="en-US"/>
              <a:t>In Word Embeddings, each word is represented as a fixed-length vector (for example, 50, 100, or 300 dimensions). Unlike Bag of Words and TF–IDF:</a:t>
            </a:r>
            <a:endParaRPr/>
          </a:p>
          <a:p>
            <a:pPr indent="-457200" lvl="0" marL="457200" rtl="0" algn="just">
              <a:lnSpc>
                <a:spcPct val="90000"/>
              </a:lnSpc>
              <a:spcBef>
                <a:spcPts val="1000"/>
              </a:spcBef>
              <a:spcAft>
                <a:spcPts val="0"/>
              </a:spcAft>
              <a:buClr>
                <a:schemeClr val="dk1"/>
              </a:buClr>
              <a:buSzPct val="100000"/>
              <a:buChar char="•"/>
            </a:pPr>
            <a:r>
              <a:rPr lang="en-US"/>
              <a:t>Word order and context matter</a:t>
            </a:r>
            <a:endParaRPr/>
          </a:p>
          <a:p>
            <a:pPr indent="-457200" lvl="0" marL="457200" rtl="0" algn="just">
              <a:lnSpc>
                <a:spcPct val="90000"/>
              </a:lnSpc>
              <a:spcBef>
                <a:spcPts val="1000"/>
              </a:spcBef>
              <a:spcAft>
                <a:spcPts val="0"/>
              </a:spcAft>
              <a:buClr>
                <a:schemeClr val="dk1"/>
              </a:buClr>
              <a:buSzPct val="100000"/>
              <a:buChar char="•"/>
            </a:pPr>
            <a:r>
              <a:rPr lang="en-US"/>
              <a:t>Similar words are placed close together in vector space</a:t>
            </a:r>
            <a:endParaRPr/>
          </a:p>
          <a:p>
            <a:pPr indent="-457200" lvl="0" marL="457200" rtl="0" algn="just">
              <a:lnSpc>
                <a:spcPct val="90000"/>
              </a:lnSpc>
              <a:spcBef>
                <a:spcPts val="1000"/>
              </a:spcBef>
              <a:spcAft>
                <a:spcPts val="0"/>
              </a:spcAft>
              <a:buClr>
                <a:schemeClr val="dk1"/>
              </a:buClr>
              <a:buSzPct val="100000"/>
              <a:buChar char="•"/>
            </a:pPr>
            <a:r>
              <a:rPr lang="en-US"/>
              <a:t>Relationships between words can be learned</a:t>
            </a:r>
            <a:endParaRPr/>
          </a:p>
          <a:p>
            <a:pPr indent="-228600" lvl="0" marL="228600" rtl="0" algn="just">
              <a:lnSpc>
                <a:spcPct val="90000"/>
              </a:lnSpc>
              <a:spcBef>
                <a:spcPts val="1000"/>
              </a:spcBef>
              <a:spcAft>
                <a:spcPts val="0"/>
              </a:spcAft>
              <a:buClr>
                <a:schemeClr val="dk1"/>
              </a:buClr>
              <a:buSzPct val="100000"/>
              <a:buNone/>
            </a:pPr>
            <a:r>
              <a:rPr lang="en-US"/>
              <a:t>Popular word embedding models include:</a:t>
            </a:r>
            <a:endParaRPr/>
          </a:p>
          <a:p>
            <a:pPr indent="-228600" lvl="0" marL="228600" rtl="0" algn="just">
              <a:lnSpc>
                <a:spcPct val="90000"/>
              </a:lnSpc>
              <a:spcBef>
                <a:spcPts val="1000"/>
              </a:spcBef>
              <a:spcAft>
                <a:spcPts val="0"/>
              </a:spcAft>
              <a:buClr>
                <a:schemeClr val="dk1"/>
              </a:buClr>
              <a:buSzPct val="100000"/>
              <a:buChar char="•"/>
            </a:pPr>
            <a:r>
              <a:rPr lang="en-US"/>
              <a:t>Word2Vec</a:t>
            </a:r>
            <a:endParaRPr/>
          </a:p>
          <a:p>
            <a:pPr indent="-228600" lvl="0" marL="228600" rtl="0" algn="just">
              <a:lnSpc>
                <a:spcPct val="90000"/>
              </a:lnSpc>
              <a:spcBef>
                <a:spcPts val="1000"/>
              </a:spcBef>
              <a:spcAft>
                <a:spcPts val="0"/>
              </a:spcAft>
              <a:buClr>
                <a:schemeClr val="dk1"/>
              </a:buClr>
              <a:buSzPct val="100000"/>
              <a:buChar char="•"/>
            </a:pPr>
            <a:r>
              <a:rPr lang="en-US"/>
              <a:t>GloVe</a:t>
            </a:r>
            <a:endParaRPr/>
          </a:p>
          <a:p>
            <a:pPr indent="0" lvl="0" marL="0" rtl="0" algn="just">
              <a:lnSpc>
                <a:spcPct val="90000"/>
              </a:lnSpc>
              <a:spcBef>
                <a:spcPts val="1000"/>
              </a:spcBef>
              <a:spcAft>
                <a:spcPts val="0"/>
              </a:spcAft>
              <a:buClr>
                <a:schemeClr val="dk1"/>
              </a:buClr>
              <a:buSzPct val="100000"/>
              <a:buNone/>
            </a:pPr>
            <a:r>
              <a:rPr lang="en-US"/>
              <a:t>Word embeddings form the foundation of modern NLP systems and deep learning models.</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381" name="Google Shape;381;p4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Why Word Embeddings Are Better </a:t>
            </a:r>
            <a:br>
              <a:rPr b="1" lang="en-US"/>
            </a:br>
            <a:r>
              <a:rPr b="1" lang="en-US"/>
              <a:t>Than TF–IDF</a:t>
            </a:r>
            <a:endParaRPr/>
          </a:p>
        </p:txBody>
      </p:sp>
      <p:sp>
        <p:nvSpPr>
          <p:cNvPr id="387" name="Google Shape;387;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TF–IDF represents words based on frequency and rarity, but it does not understand semantic meaning or relationships between words. Word Embeddings overcome these limitations by learning word representations from context.</a:t>
            </a:r>
            <a:endParaRPr/>
          </a:p>
          <a:p>
            <a:pPr indent="-228600" lvl="0" marL="228600" rtl="0" algn="just">
              <a:lnSpc>
                <a:spcPct val="90000"/>
              </a:lnSpc>
              <a:spcBef>
                <a:spcPts val="1000"/>
              </a:spcBef>
              <a:spcAft>
                <a:spcPts val="0"/>
              </a:spcAft>
              <a:buClr>
                <a:schemeClr val="dk1"/>
              </a:buClr>
              <a:buSzPts val="2800"/>
              <a:buNone/>
            </a:pPr>
            <a:r>
              <a:rPr lang="en-US"/>
              <a:t>Key advantages of Word Embeddings:</a:t>
            </a:r>
            <a:endParaRPr/>
          </a:p>
          <a:p>
            <a:pPr indent="-228600" lvl="0" marL="228600" rtl="0" algn="just">
              <a:lnSpc>
                <a:spcPct val="90000"/>
              </a:lnSpc>
              <a:spcBef>
                <a:spcPts val="1000"/>
              </a:spcBef>
              <a:spcAft>
                <a:spcPts val="0"/>
              </a:spcAft>
              <a:buClr>
                <a:schemeClr val="dk1"/>
              </a:buClr>
              <a:buSzPts val="2800"/>
              <a:buChar char="•"/>
            </a:pPr>
            <a:r>
              <a:rPr lang="en-US"/>
              <a:t>Capture semantic similarity between words</a:t>
            </a:r>
            <a:endParaRPr/>
          </a:p>
          <a:p>
            <a:pPr indent="-228600" lvl="0" marL="228600" rtl="0" algn="just">
              <a:lnSpc>
                <a:spcPct val="90000"/>
              </a:lnSpc>
              <a:spcBef>
                <a:spcPts val="1000"/>
              </a:spcBef>
              <a:spcAft>
                <a:spcPts val="0"/>
              </a:spcAft>
              <a:buClr>
                <a:schemeClr val="dk1"/>
              </a:buClr>
              <a:buSzPts val="2800"/>
              <a:buChar char="•"/>
            </a:pPr>
            <a:r>
              <a:rPr lang="en-US"/>
              <a:t>Represent meaning in continuous vector space</a:t>
            </a:r>
            <a:endParaRPr/>
          </a:p>
          <a:p>
            <a:pPr indent="-228600" lvl="0" marL="228600" rtl="0" algn="just">
              <a:lnSpc>
                <a:spcPct val="90000"/>
              </a:lnSpc>
              <a:spcBef>
                <a:spcPts val="1000"/>
              </a:spcBef>
              <a:spcAft>
                <a:spcPts val="0"/>
              </a:spcAft>
              <a:buClr>
                <a:schemeClr val="dk1"/>
              </a:buClr>
              <a:buSzPts val="2800"/>
              <a:buChar char="•"/>
            </a:pPr>
            <a:r>
              <a:rPr lang="en-US"/>
              <a:t>Reduce dimensionality compared to Bag of Words and TF–IDF</a:t>
            </a:r>
            <a:endParaRPr/>
          </a:p>
          <a:p>
            <a:pPr indent="-228600" lvl="0" marL="228600" rtl="0" algn="just">
              <a:lnSpc>
                <a:spcPct val="90000"/>
              </a:lnSpc>
              <a:spcBef>
                <a:spcPts val="1000"/>
              </a:spcBef>
              <a:spcAft>
                <a:spcPts val="0"/>
              </a:spcAft>
              <a:buClr>
                <a:schemeClr val="dk1"/>
              </a:buClr>
              <a:buSzPts val="2800"/>
              <a:buChar char="•"/>
            </a:pPr>
            <a:r>
              <a:rPr lang="en-US"/>
              <a:t>Preserve relationships such as gender, tense, and category</a:t>
            </a:r>
            <a:endParaRPr/>
          </a:p>
          <a:p>
            <a:pPr indent="-228600" lvl="0" marL="228600" rtl="0" algn="just">
              <a:lnSpc>
                <a:spcPct val="90000"/>
              </a:lnSpc>
              <a:spcBef>
                <a:spcPts val="1000"/>
              </a:spcBef>
              <a:spcAft>
                <a:spcPts val="0"/>
              </a:spcAft>
              <a:buClr>
                <a:schemeClr val="dk1"/>
              </a:buClr>
              <a:buSzPts val="2800"/>
              <a:buChar char="•"/>
            </a:pPr>
            <a:r>
              <a:rPr lang="en-US"/>
              <a:t>Improve performance in downstream NLP tasks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88" name="Google Shape;388;p4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Why Word Embeddings Are Better </a:t>
            </a:r>
            <a:br>
              <a:rPr b="1" lang="en-US"/>
            </a:br>
            <a:r>
              <a:rPr b="1" lang="en-US"/>
              <a:t>Than TF–IDF</a:t>
            </a:r>
            <a:endParaRPr/>
          </a:p>
        </p:txBody>
      </p:sp>
      <p:sp>
        <p:nvSpPr>
          <p:cNvPr id="394" name="Google Shape;394;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For example:</a:t>
            </a:r>
            <a:endParaRPr b="1"/>
          </a:p>
          <a:p>
            <a:pPr indent="0" lvl="0" marL="0" rtl="0" algn="just">
              <a:lnSpc>
                <a:spcPct val="90000"/>
              </a:lnSpc>
              <a:spcBef>
                <a:spcPts val="1000"/>
              </a:spcBef>
              <a:spcAft>
                <a:spcPts val="0"/>
              </a:spcAft>
              <a:buClr>
                <a:schemeClr val="dk1"/>
              </a:buClr>
              <a:buSzPts val="2800"/>
              <a:buNone/>
            </a:pPr>
            <a:r>
              <a:rPr lang="en-US"/>
              <a:t>TF–IDF treats “good” and “excellent” as completely unrelated.</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rPr lang="en-US"/>
              <a:t>Word embeddings place them close together in vector space because they appear in similar contexts. This ability to encode meaning makes embeddings especially powerful for sentiment analysis, topic classification, and deep learning models.</a:t>
            </a:r>
            <a:endParaRPr/>
          </a:p>
          <a:p>
            <a:pPr indent="0" lvl="0" marL="0" rtl="0" algn="just">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395" name="Google Shape;395;p4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Word2Vec Architecture: CBOW </a:t>
            </a:r>
            <a:br>
              <a:rPr b="1" lang="en-US"/>
            </a:br>
            <a:r>
              <a:rPr b="1" lang="en-US"/>
              <a:t>and Skip-Gram</a:t>
            </a:r>
            <a:endParaRPr b="1"/>
          </a:p>
        </p:txBody>
      </p:sp>
      <p:sp>
        <p:nvSpPr>
          <p:cNvPr id="401" name="Google Shape;40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Word2Vec is a neural network–based model used to learn word embeddings from large text corpora. It works by predicting relationships between words and their surrounding context. There are two main architectures in Word2Vec:</a:t>
            </a:r>
            <a:endParaRPr/>
          </a:p>
          <a:p>
            <a:pPr indent="-228600" lvl="0" marL="228600" rtl="0" algn="l">
              <a:lnSpc>
                <a:spcPct val="90000"/>
              </a:lnSpc>
              <a:spcBef>
                <a:spcPts val="1000"/>
              </a:spcBef>
              <a:spcAft>
                <a:spcPts val="0"/>
              </a:spcAft>
              <a:buClr>
                <a:schemeClr val="dk1"/>
              </a:buClr>
              <a:buSzPts val="2800"/>
              <a:buNone/>
            </a:pPr>
            <a:r>
              <a:rPr b="1" lang="en-US"/>
              <a:t>1. Continuous Bag of Words (CBOW)</a:t>
            </a:r>
            <a:endParaRPr/>
          </a:p>
          <a:p>
            <a:pPr indent="0" lvl="0" marL="0" rtl="0" algn="l">
              <a:lnSpc>
                <a:spcPct val="90000"/>
              </a:lnSpc>
              <a:spcBef>
                <a:spcPts val="1000"/>
              </a:spcBef>
              <a:spcAft>
                <a:spcPts val="0"/>
              </a:spcAft>
              <a:buClr>
                <a:schemeClr val="dk1"/>
              </a:buClr>
              <a:buSzPts val="2800"/>
              <a:buNone/>
            </a:pPr>
            <a:r>
              <a:rPr lang="en-US"/>
              <a:t>CBOW predicts the </a:t>
            </a:r>
            <a:r>
              <a:rPr b="1" lang="en-US"/>
              <a:t>target word</a:t>
            </a:r>
            <a:r>
              <a:rPr lang="en-US"/>
              <a:t> using its surrounding context words.</a:t>
            </a:r>
            <a:endParaRPr/>
          </a:p>
          <a:p>
            <a:pPr indent="-228600" lvl="0" marL="228600" rtl="0" algn="l">
              <a:lnSpc>
                <a:spcPct val="90000"/>
              </a:lnSpc>
              <a:spcBef>
                <a:spcPts val="1000"/>
              </a:spcBef>
              <a:spcAft>
                <a:spcPts val="0"/>
              </a:spcAft>
              <a:buClr>
                <a:schemeClr val="dk1"/>
              </a:buClr>
              <a:buSzPts val="2800"/>
              <a:buNone/>
            </a:pPr>
            <a:r>
              <a:rPr b="1" lang="en-US"/>
              <a:t>Example:</a:t>
            </a:r>
            <a:endParaRPr b="1"/>
          </a:p>
          <a:p>
            <a:pPr indent="-228600" lvl="0" marL="228600" rtl="0" algn="l">
              <a:lnSpc>
                <a:spcPct val="90000"/>
              </a:lnSpc>
              <a:spcBef>
                <a:spcPts val="1000"/>
              </a:spcBef>
              <a:spcAft>
                <a:spcPts val="0"/>
              </a:spcAft>
              <a:buClr>
                <a:schemeClr val="dk1"/>
              </a:buClr>
              <a:buSzPts val="2800"/>
              <a:buNone/>
            </a:pPr>
            <a:r>
              <a:rPr b="1" lang="en-US"/>
              <a:t>Context words:</a:t>
            </a:r>
            <a:r>
              <a:rPr lang="en-US"/>
              <a:t> “I ___ NLP”</a:t>
            </a:r>
            <a:endParaRPr/>
          </a:p>
          <a:p>
            <a:pPr indent="-228600" lvl="0" marL="228600" rtl="0" algn="l">
              <a:lnSpc>
                <a:spcPct val="90000"/>
              </a:lnSpc>
              <a:spcBef>
                <a:spcPts val="1000"/>
              </a:spcBef>
              <a:spcAft>
                <a:spcPts val="0"/>
              </a:spcAft>
              <a:buClr>
                <a:schemeClr val="dk1"/>
              </a:buClr>
              <a:buSzPts val="2800"/>
              <a:buNone/>
            </a:pPr>
            <a:r>
              <a:rPr b="1" lang="en-US"/>
              <a:t>Model predicts: </a:t>
            </a:r>
            <a:r>
              <a:rPr lang="en-US"/>
              <a:t> “love”</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02" name="Google Shape;402;p4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Word2Vec Architecture: CBOW </a:t>
            </a:r>
            <a:br>
              <a:rPr b="1" lang="en-US"/>
            </a:br>
            <a:r>
              <a:rPr b="1" lang="en-US"/>
              <a:t>and Skip-Gram</a:t>
            </a:r>
            <a:endParaRPr/>
          </a:p>
        </p:txBody>
      </p:sp>
      <p:sp>
        <p:nvSpPr>
          <p:cNvPr id="408" name="Google Shape;408;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In CBOW:</a:t>
            </a:r>
            <a:endParaRPr/>
          </a:p>
          <a:p>
            <a:pPr indent="-228600" lvl="0" marL="228600" rtl="0" algn="l">
              <a:lnSpc>
                <a:spcPct val="90000"/>
              </a:lnSpc>
              <a:spcBef>
                <a:spcPts val="1000"/>
              </a:spcBef>
              <a:spcAft>
                <a:spcPts val="0"/>
              </a:spcAft>
              <a:buClr>
                <a:schemeClr val="dk1"/>
              </a:buClr>
              <a:buSzPts val="2800"/>
              <a:buChar char="•"/>
            </a:pPr>
            <a:r>
              <a:rPr b="1" lang="en-US"/>
              <a:t>Input → </a:t>
            </a:r>
            <a:r>
              <a:rPr lang="en-US"/>
              <a:t>surrounding words</a:t>
            </a:r>
            <a:endParaRPr/>
          </a:p>
          <a:p>
            <a:pPr indent="-228600" lvl="0" marL="228600" rtl="0" algn="l">
              <a:lnSpc>
                <a:spcPct val="90000"/>
              </a:lnSpc>
              <a:spcBef>
                <a:spcPts val="1000"/>
              </a:spcBef>
              <a:spcAft>
                <a:spcPts val="0"/>
              </a:spcAft>
              <a:buClr>
                <a:schemeClr val="dk1"/>
              </a:buClr>
              <a:buSzPts val="2800"/>
              <a:buChar char="•"/>
            </a:pPr>
            <a:r>
              <a:rPr b="1" lang="en-US"/>
              <a:t>Output →</a:t>
            </a:r>
            <a:r>
              <a:rPr lang="en-US"/>
              <a:t> missing center word</a:t>
            </a:r>
            <a:endParaRPr/>
          </a:p>
          <a:p>
            <a:pPr indent="-228600" lvl="0" marL="228600" rtl="0" algn="l">
              <a:lnSpc>
                <a:spcPct val="90000"/>
              </a:lnSpc>
              <a:spcBef>
                <a:spcPts val="1000"/>
              </a:spcBef>
              <a:spcAft>
                <a:spcPts val="0"/>
              </a:spcAft>
              <a:buClr>
                <a:schemeClr val="dk1"/>
              </a:buClr>
              <a:buSzPts val="2800"/>
              <a:buNone/>
            </a:pPr>
            <a:r>
              <a:rPr lang="en-US"/>
              <a:t>CBOW is faster and works well on large datasets.</a:t>
            </a:r>
            <a:endParaRPr/>
          </a:p>
          <a:p>
            <a:pPr indent="-228600" lvl="0" marL="228600" rtl="0" algn="l">
              <a:lnSpc>
                <a:spcPct val="90000"/>
              </a:lnSpc>
              <a:spcBef>
                <a:spcPts val="100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09" name="Google Shape;409;p4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Word2Vec Architecture: CBOW </a:t>
            </a:r>
            <a:br>
              <a:rPr b="1" lang="en-US"/>
            </a:br>
            <a:r>
              <a:rPr b="1" lang="en-US"/>
              <a:t>and Skip-Gram</a:t>
            </a:r>
            <a:endParaRPr/>
          </a:p>
        </p:txBody>
      </p:sp>
      <p:sp>
        <p:nvSpPr>
          <p:cNvPr id="415" name="Google Shape;415;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2. Skip-Gram</a:t>
            </a:r>
            <a:endParaRPr/>
          </a:p>
          <a:p>
            <a:pPr indent="0" lvl="0" marL="0" rtl="0" algn="l">
              <a:lnSpc>
                <a:spcPct val="90000"/>
              </a:lnSpc>
              <a:spcBef>
                <a:spcPts val="1000"/>
              </a:spcBef>
              <a:spcAft>
                <a:spcPts val="0"/>
              </a:spcAft>
              <a:buClr>
                <a:schemeClr val="dk1"/>
              </a:buClr>
              <a:buSzPts val="2800"/>
              <a:buNone/>
            </a:pPr>
            <a:r>
              <a:rPr lang="en-US"/>
              <a:t>Skip-Gram does the opposite: it predicts </a:t>
            </a:r>
            <a:r>
              <a:rPr b="1" lang="en-US"/>
              <a:t>surrounding words</a:t>
            </a:r>
            <a:r>
              <a:rPr lang="en-US"/>
              <a:t> given a target word.</a:t>
            </a:r>
            <a:endParaRPr/>
          </a:p>
          <a:p>
            <a:pPr indent="-228600" lvl="0" marL="228600" rtl="0" algn="l">
              <a:lnSpc>
                <a:spcPct val="90000"/>
              </a:lnSpc>
              <a:spcBef>
                <a:spcPts val="1000"/>
              </a:spcBef>
              <a:spcAft>
                <a:spcPts val="0"/>
              </a:spcAft>
              <a:buClr>
                <a:schemeClr val="dk1"/>
              </a:buClr>
              <a:buSzPts val="2800"/>
              <a:buNone/>
            </a:pPr>
            <a:r>
              <a:rPr b="1" lang="en-US"/>
              <a:t>Example:</a:t>
            </a:r>
            <a:endParaRPr b="1"/>
          </a:p>
          <a:p>
            <a:pPr indent="-228600" lvl="0" marL="228600" rtl="0" algn="l">
              <a:lnSpc>
                <a:spcPct val="90000"/>
              </a:lnSpc>
              <a:spcBef>
                <a:spcPts val="1000"/>
              </a:spcBef>
              <a:spcAft>
                <a:spcPts val="0"/>
              </a:spcAft>
              <a:buClr>
                <a:schemeClr val="dk1"/>
              </a:buClr>
              <a:buSzPts val="2800"/>
              <a:buNone/>
            </a:pPr>
            <a:r>
              <a:rPr b="1" lang="en-US"/>
              <a:t>Target word:</a:t>
            </a:r>
            <a:r>
              <a:rPr lang="en-US"/>
              <a:t> “love”</a:t>
            </a:r>
            <a:endParaRPr/>
          </a:p>
          <a:p>
            <a:pPr indent="-228600" lvl="0" marL="228600" rtl="0" algn="l">
              <a:lnSpc>
                <a:spcPct val="90000"/>
              </a:lnSpc>
              <a:spcBef>
                <a:spcPts val="1000"/>
              </a:spcBef>
              <a:spcAft>
                <a:spcPts val="0"/>
              </a:spcAft>
              <a:buClr>
                <a:schemeClr val="dk1"/>
              </a:buClr>
              <a:buSzPts val="2800"/>
              <a:buNone/>
            </a:pPr>
            <a:r>
              <a:rPr b="1" lang="en-US"/>
              <a:t>Model predicts:</a:t>
            </a:r>
            <a:r>
              <a:rPr lang="en-US"/>
              <a:t>  “I”, “NLP”</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16" name="Google Shape;416;p4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Word2Vec Architecture: CBOW </a:t>
            </a:r>
            <a:br>
              <a:rPr b="1" lang="en-US"/>
            </a:br>
            <a:r>
              <a:rPr b="1" lang="en-US"/>
              <a:t>and Skip-Gram</a:t>
            </a:r>
            <a:endParaRPr/>
          </a:p>
        </p:txBody>
      </p:sp>
      <p:sp>
        <p:nvSpPr>
          <p:cNvPr id="422" name="Google Shape;422;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In Skip-Gram:</a:t>
            </a:r>
            <a:endParaRPr/>
          </a:p>
          <a:p>
            <a:pPr indent="0" lvl="0" marL="0" rtl="0" algn="just">
              <a:lnSpc>
                <a:spcPct val="90000"/>
              </a:lnSpc>
              <a:spcBef>
                <a:spcPts val="1000"/>
              </a:spcBef>
              <a:spcAft>
                <a:spcPts val="0"/>
              </a:spcAft>
              <a:buClr>
                <a:schemeClr val="dk1"/>
              </a:buClr>
              <a:buSzPts val="2800"/>
              <a:buNone/>
            </a:pPr>
            <a:r>
              <a:rPr b="1" lang="en-US"/>
              <a:t>Input →</a:t>
            </a:r>
            <a:r>
              <a:rPr lang="en-US"/>
              <a:t> center word</a:t>
            </a:r>
            <a:endParaRPr/>
          </a:p>
          <a:p>
            <a:pPr indent="0" lvl="0" marL="0" rtl="0" algn="just">
              <a:lnSpc>
                <a:spcPct val="90000"/>
              </a:lnSpc>
              <a:spcBef>
                <a:spcPts val="1000"/>
              </a:spcBef>
              <a:spcAft>
                <a:spcPts val="0"/>
              </a:spcAft>
              <a:buClr>
                <a:schemeClr val="dk1"/>
              </a:buClr>
              <a:buSzPts val="2800"/>
              <a:buNone/>
            </a:pPr>
            <a:r>
              <a:rPr b="1" lang="en-US"/>
              <a:t>Output →</a:t>
            </a:r>
            <a:r>
              <a:rPr lang="en-US"/>
              <a:t> surrounding context words</a:t>
            </a:r>
            <a:endParaRPr/>
          </a:p>
          <a:p>
            <a:pPr indent="-342900" lvl="0" marL="342900" rtl="0" algn="just">
              <a:lnSpc>
                <a:spcPct val="90000"/>
              </a:lnSpc>
              <a:spcBef>
                <a:spcPts val="1000"/>
              </a:spcBef>
              <a:spcAft>
                <a:spcPts val="0"/>
              </a:spcAft>
              <a:buClr>
                <a:schemeClr val="dk1"/>
              </a:buClr>
              <a:buSzPts val="2800"/>
              <a:buChar char="•"/>
            </a:pPr>
            <a:r>
              <a:rPr lang="en-US"/>
              <a:t>Skip-Gram performs better for rare words and small datasets.</a:t>
            </a:r>
            <a:endParaRPr/>
          </a:p>
          <a:p>
            <a:pPr indent="-342900" lvl="0" marL="342900" rtl="0" algn="just">
              <a:lnSpc>
                <a:spcPct val="90000"/>
              </a:lnSpc>
              <a:spcBef>
                <a:spcPts val="1000"/>
              </a:spcBef>
              <a:spcAft>
                <a:spcPts val="0"/>
              </a:spcAft>
              <a:buClr>
                <a:schemeClr val="dk1"/>
              </a:buClr>
              <a:buSzPts val="2800"/>
              <a:buChar char="•"/>
            </a:pPr>
            <a:r>
              <a:rPr lang="en-US"/>
              <a:t>Both models learn word vectors by observing how words appear together in sentences.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23" name="Google Shape;423;p4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Word2Vec Using Python</a:t>
            </a:r>
            <a:endParaRPr b="1"/>
          </a:p>
        </p:txBody>
      </p:sp>
      <p:sp>
        <p:nvSpPr>
          <p:cNvPr id="429" name="Google Shape;429;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None/>
            </a:pPr>
            <a:r>
              <a:rPr lang="en-US"/>
              <a:t>Word2Vec can be implemented in Python using the </a:t>
            </a:r>
            <a:r>
              <a:rPr lang="en-US">
                <a:latin typeface="Consolas"/>
                <a:ea typeface="Consolas"/>
                <a:cs typeface="Consolas"/>
                <a:sym typeface="Consolas"/>
              </a:rPr>
              <a:t>gensim</a:t>
            </a:r>
            <a:r>
              <a:rPr lang="en-US"/>
              <a:t> library.</a:t>
            </a:r>
            <a:endParaRPr/>
          </a:p>
          <a:p>
            <a:pPr indent="-228600" lvl="0" marL="228600" rtl="0" algn="l">
              <a:lnSpc>
                <a:spcPct val="90000"/>
              </a:lnSpc>
              <a:spcBef>
                <a:spcPts val="1000"/>
              </a:spcBef>
              <a:spcAft>
                <a:spcPts val="0"/>
              </a:spcAft>
              <a:buClr>
                <a:schemeClr val="dk1"/>
              </a:buClr>
              <a:buSzPct val="100000"/>
              <a:buNone/>
            </a:pPr>
            <a:r>
              <a:rPr b="1" lang="en-US"/>
              <a:t>Example Code:</a:t>
            </a:r>
            <a:endParaRPr/>
          </a:p>
          <a:p>
            <a:pPr indent="-228600" lvl="0" marL="228600" rtl="0" algn="l">
              <a:lnSpc>
                <a:spcPct val="90000"/>
              </a:lnSpc>
              <a:spcBef>
                <a:spcPts val="1000"/>
              </a:spcBef>
              <a:spcAft>
                <a:spcPts val="0"/>
              </a:spcAft>
              <a:buClr>
                <a:schemeClr val="dk1"/>
              </a:buClr>
              <a:buSzPct val="100000"/>
              <a:buNone/>
            </a:pPr>
            <a:r>
              <a:rPr lang="en-US"/>
              <a:t>from gensim.models import Word2Vec</a:t>
            </a:r>
            <a:endParaRPr/>
          </a:p>
          <a:p>
            <a:pPr indent="-228600" lvl="0" marL="228600" rtl="0" algn="l">
              <a:lnSpc>
                <a:spcPct val="90000"/>
              </a:lnSpc>
              <a:spcBef>
                <a:spcPts val="1000"/>
              </a:spcBef>
              <a:spcAft>
                <a:spcPts val="0"/>
              </a:spcAft>
              <a:buClr>
                <a:schemeClr val="dk1"/>
              </a:buClr>
              <a:buSzPct val="100000"/>
              <a:buNone/>
            </a:pPr>
            <a:r>
              <a:rPr lang="en-US"/>
              <a:t># Sample corpus</a:t>
            </a:r>
            <a:endParaRPr/>
          </a:p>
          <a:p>
            <a:pPr indent="-228600" lvl="0" marL="228600" rtl="0" algn="l">
              <a:lnSpc>
                <a:spcPct val="90000"/>
              </a:lnSpc>
              <a:spcBef>
                <a:spcPts val="1000"/>
              </a:spcBef>
              <a:spcAft>
                <a:spcPts val="0"/>
              </a:spcAft>
              <a:buClr>
                <a:schemeClr val="dk1"/>
              </a:buClr>
              <a:buSzPct val="100000"/>
              <a:buNone/>
            </a:pPr>
            <a:r>
              <a:rPr lang="en-US"/>
              <a:t>sentences = [</a:t>
            </a:r>
            <a:endParaRPr/>
          </a:p>
          <a:p>
            <a:pPr indent="-228600" lvl="0" marL="228600" rtl="0" algn="l">
              <a:lnSpc>
                <a:spcPct val="90000"/>
              </a:lnSpc>
              <a:spcBef>
                <a:spcPts val="1000"/>
              </a:spcBef>
              <a:spcAft>
                <a:spcPts val="0"/>
              </a:spcAft>
              <a:buClr>
                <a:schemeClr val="dk1"/>
              </a:buClr>
              <a:buSzPct val="100000"/>
              <a:buNone/>
            </a:pPr>
            <a:r>
              <a:rPr lang="en-US"/>
              <a:t>    ["i", "love", "nlp"],</a:t>
            </a:r>
            <a:endParaRPr/>
          </a:p>
          <a:p>
            <a:pPr indent="-228600" lvl="0" marL="228600" rtl="0" algn="l">
              <a:lnSpc>
                <a:spcPct val="90000"/>
              </a:lnSpc>
              <a:spcBef>
                <a:spcPts val="1000"/>
              </a:spcBef>
              <a:spcAft>
                <a:spcPts val="0"/>
              </a:spcAft>
              <a:buClr>
                <a:schemeClr val="dk1"/>
              </a:buClr>
              <a:buSzPct val="100000"/>
              <a:buNone/>
            </a:pPr>
            <a:r>
              <a:rPr lang="en-US"/>
              <a:t>    ["i", "love", "ai"],</a:t>
            </a:r>
            <a:endParaRPr/>
          </a:p>
          <a:p>
            <a:pPr indent="-228600" lvl="0" marL="228600" rtl="0" algn="l">
              <a:lnSpc>
                <a:spcPct val="90000"/>
              </a:lnSpc>
              <a:spcBef>
                <a:spcPts val="1000"/>
              </a:spcBef>
              <a:spcAft>
                <a:spcPts val="0"/>
              </a:spcAft>
              <a:buClr>
                <a:schemeClr val="dk1"/>
              </a:buClr>
              <a:buSzPct val="100000"/>
              <a:buNone/>
            </a:pPr>
            <a:r>
              <a:rPr lang="en-US"/>
              <a:t>    ["nlp", "is", "interesting"],</a:t>
            </a:r>
            <a:endParaRPr/>
          </a:p>
          <a:p>
            <a:pPr indent="-228600" lvl="0" marL="228600" rtl="0" algn="l">
              <a:lnSpc>
                <a:spcPct val="90000"/>
              </a:lnSpc>
              <a:spcBef>
                <a:spcPts val="1000"/>
              </a:spcBef>
              <a:spcAft>
                <a:spcPts val="0"/>
              </a:spcAft>
              <a:buClr>
                <a:schemeClr val="dk1"/>
              </a:buClr>
              <a:buSzPct val="100000"/>
              <a:buNone/>
            </a:pPr>
            <a:r>
              <a:rPr lang="en-US"/>
              <a:t>    ["ai", "is", "powerful"]</a:t>
            </a:r>
            <a:endParaRPr/>
          </a:p>
          <a:p>
            <a:pPr indent="0" lvl="0" marL="0" rtl="0" algn="l">
              <a:lnSpc>
                <a:spcPct val="90000"/>
              </a:lnSpc>
              <a:spcBef>
                <a:spcPts val="1000"/>
              </a:spcBef>
              <a:spcAft>
                <a:spcPts val="0"/>
              </a:spcAft>
              <a:buClr>
                <a:schemeClr val="dk1"/>
              </a:buClr>
              <a:buSzPct val="100000"/>
              <a:buNone/>
            </a:pPr>
            <a:r>
              <a:rPr lang="en-US"/>
              <a:t>]</a:t>
            </a:r>
            <a:br>
              <a:rPr lang="en-US">
                <a:latin typeface="Consolas"/>
                <a:ea typeface="Consolas"/>
                <a:cs typeface="Consolas"/>
                <a:sym typeface="Consolas"/>
              </a:rPr>
            </a:b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430" name="Google Shape;430;p5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Word2Vec Using Python</a:t>
            </a:r>
            <a:endParaRPr/>
          </a:p>
        </p:txBody>
      </p:sp>
      <p:sp>
        <p:nvSpPr>
          <p:cNvPr id="436" name="Google Shape;436;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None/>
            </a:pPr>
            <a:r>
              <a:rPr lang="en-US"/>
              <a:t># Train Word2Vec model</a:t>
            </a:r>
            <a:endParaRPr/>
          </a:p>
          <a:p>
            <a:pPr indent="-228600" lvl="0" marL="228600" rtl="0" algn="l">
              <a:lnSpc>
                <a:spcPct val="90000"/>
              </a:lnSpc>
              <a:spcBef>
                <a:spcPts val="1000"/>
              </a:spcBef>
              <a:spcAft>
                <a:spcPts val="0"/>
              </a:spcAft>
              <a:buClr>
                <a:schemeClr val="dk1"/>
              </a:buClr>
              <a:buSzPts val="2800"/>
              <a:buNone/>
            </a:pPr>
            <a:r>
              <a:rPr lang="en-US"/>
              <a:t>model = Word2Vec(sentences, vector_size=50, window=2, min_count=1, workers=4)</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 Get vector for a word</a:t>
            </a:r>
            <a:endParaRPr/>
          </a:p>
          <a:p>
            <a:pPr indent="-228600" lvl="0" marL="228600" rtl="0" algn="l">
              <a:lnSpc>
                <a:spcPct val="90000"/>
              </a:lnSpc>
              <a:spcBef>
                <a:spcPts val="1000"/>
              </a:spcBef>
              <a:spcAft>
                <a:spcPts val="0"/>
              </a:spcAft>
              <a:buClr>
                <a:schemeClr val="dk1"/>
              </a:buClr>
              <a:buSzPts val="2800"/>
              <a:buNone/>
            </a:pPr>
            <a:r>
              <a:rPr lang="en-US"/>
              <a:t>vector = model.wv["nlp"]</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print("Vector for 'nlp':")</a:t>
            </a:r>
            <a:endParaRPr/>
          </a:p>
          <a:p>
            <a:pPr indent="0" lvl="0" marL="0" rtl="0" algn="l">
              <a:lnSpc>
                <a:spcPct val="90000"/>
              </a:lnSpc>
              <a:spcBef>
                <a:spcPts val="1000"/>
              </a:spcBef>
              <a:spcAft>
                <a:spcPts val="0"/>
              </a:spcAft>
              <a:buClr>
                <a:schemeClr val="dk1"/>
              </a:buClr>
              <a:buSzPts val="2800"/>
              <a:buNone/>
            </a:pPr>
            <a:r>
              <a:rPr lang="en-US"/>
              <a:t>print(vector)</a:t>
            </a:r>
            <a:endParaRPr/>
          </a:p>
        </p:txBody>
      </p:sp>
      <p:pic>
        <p:nvPicPr>
          <p:cNvPr descr="A blue and white logo&#10;&#10;AI-generated content may be incorrect." id="437" name="Google Shape;437;p5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Word2Vec Using Python</a:t>
            </a:r>
            <a:endParaRPr/>
          </a:p>
        </p:txBody>
      </p:sp>
      <p:sp>
        <p:nvSpPr>
          <p:cNvPr id="443" name="Google Shape;443;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sentences  →</a:t>
            </a:r>
            <a:r>
              <a:rPr lang="en-US"/>
              <a:t> training text  </a:t>
            </a:r>
            <a:endParaRPr/>
          </a:p>
          <a:p>
            <a:pPr indent="-228600" lvl="0" marL="228600" rtl="0" algn="l">
              <a:lnSpc>
                <a:spcPct val="90000"/>
              </a:lnSpc>
              <a:spcBef>
                <a:spcPts val="1000"/>
              </a:spcBef>
              <a:spcAft>
                <a:spcPts val="0"/>
              </a:spcAft>
              <a:buClr>
                <a:schemeClr val="dk1"/>
              </a:buClr>
              <a:buSzPts val="2800"/>
              <a:buNone/>
            </a:pPr>
            <a:r>
              <a:rPr b="1" lang="en-US"/>
              <a:t>vector_size → </a:t>
            </a:r>
            <a:r>
              <a:rPr lang="en-US"/>
              <a:t>length of embedding vector  </a:t>
            </a:r>
            <a:endParaRPr/>
          </a:p>
          <a:p>
            <a:pPr indent="-228600" lvl="0" marL="228600" rtl="0" algn="l">
              <a:lnSpc>
                <a:spcPct val="90000"/>
              </a:lnSpc>
              <a:spcBef>
                <a:spcPts val="1000"/>
              </a:spcBef>
              <a:spcAft>
                <a:spcPts val="0"/>
              </a:spcAft>
              <a:buClr>
                <a:schemeClr val="dk1"/>
              </a:buClr>
              <a:buSzPts val="2800"/>
              <a:buNone/>
            </a:pPr>
            <a:r>
              <a:rPr b="1" lang="en-US"/>
              <a:t>window →</a:t>
            </a:r>
            <a:r>
              <a:rPr lang="en-US"/>
              <a:t> context size  </a:t>
            </a:r>
            <a:endParaRPr/>
          </a:p>
          <a:p>
            <a:pPr indent="-228600" lvl="0" marL="228600" rtl="0" algn="l">
              <a:lnSpc>
                <a:spcPct val="90000"/>
              </a:lnSpc>
              <a:spcBef>
                <a:spcPts val="1000"/>
              </a:spcBef>
              <a:spcAft>
                <a:spcPts val="0"/>
              </a:spcAft>
              <a:buClr>
                <a:schemeClr val="dk1"/>
              </a:buClr>
              <a:buSzPts val="2800"/>
              <a:buNone/>
            </a:pPr>
            <a:r>
              <a:rPr b="1" lang="en-US"/>
              <a:t>min_count →</a:t>
            </a:r>
            <a:r>
              <a:rPr lang="en-US"/>
              <a:t> minimum word frequency  </a:t>
            </a:r>
            <a:endParaRPr/>
          </a:p>
          <a:p>
            <a:pPr indent="-228600" lvl="0" marL="228600" rtl="0" algn="l">
              <a:lnSpc>
                <a:spcPct val="90000"/>
              </a:lnSpc>
              <a:spcBef>
                <a:spcPts val="1000"/>
              </a:spcBef>
              <a:spcAft>
                <a:spcPts val="0"/>
              </a:spcAft>
              <a:buClr>
                <a:schemeClr val="dk1"/>
              </a:buClr>
              <a:buSzPts val="2800"/>
              <a:buNone/>
            </a:pPr>
            <a:r>
              <a:rPr b="1" lang="en-US"/>
              <a:t>workers →</a:t>
            </a:r>
            <a:r>
              <a:rPr lang="en-US"/>
              <a:t> CPU threads  </a:t>
            </a:r>
            <a:endParaRPr/>
          </a:p>
          <a:p>
            <a:pPr indent="0" lvl="0" marL="0" rtl="0" algn="l">
              <a:lnSpc>
                <a:spcPct val="90000"/>
              </a:lnSpc>
              <a:spcBef>
                <a:spcPts val="1000"/>
              </a:spcBef>
              <a:spcAft>
                <a:spcPts val="0"/>
              </a:spcAft>
              <a:buClr>
                <a:schemeClr val="dk1"/>
              </a:buClr>
              <a:buSzPts val="2800"/>
              <a:buNone/>
            </a:pPr>
            <a:r>
              <a:rPr b="1" lang="en-US"/>
              <a:t>sg →</a:t>
            </a:r>
            <a:r>
              <a:rPr lang="en-US"/>
              <a:t> model type (0=CBOW, 1=Skip-Gram)</a:t>
            </a:r>
            <a:endParaRPr/>
          </a:p>
        </p:txBody>
      </p:sp>
      <p:pic>
        <p:nvPicPr>
          <p:cNvPr descr="A blue and white logo&#10;&#10;AI-generated content may be incorrect." id="444" name="Google Shape;444;p5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Word2Vec Using Python</a:t>
            </a:r>
            <a:endParaRPr/>
          </a:p>
        </p:txBody>
      </p:sp>
      <p:sp>
        <p:nvSpPr>
          <p:cNvPr id="450" name="Google Shape;450;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This code:</a:t>
            </a:r>
            <a:endParaRPr/>
          </a:p>
          <a:p>
            <a:pPr indent="-228600" lvl="0" marL="228600" rtl="0" algn="l">
              <a:lnSpc>
                <a:spcPct val="90000"/>
              </a:lnSpc>
              <a:spcBef>
                <a:spcPts val="1000"/>
              </a:spcBef>
              <a:spcAft>
                <a:spcPts val="0"/>
              </a:spcAft>
              <a:buClr>
                <a:schemeClr val="dk1"/>
              </a:buClr>
              <a:buSzPts val="2800"/>
              <a:buChar char="•"/>
            </a:pPr>
            <a:r>
              <a:rPr lang="en-US"/>
              <a:t>Takes tokenized sentences as input</a:t>
            </a:r>
            <a:endParaRPr/>
          </a:p>
          <a:p>
            <a:pPr indent="-228600" lvl="0" marL="228600" rtl="0" algn="l">
              <a:lnSpc>
                <a:spcPct val="90000"/>
              </a:lnSpc>
              <a:spcBef>
                <a:spcPts val="1000"/>
              </a:spcBef>
              <a:spcAft>
                <a:spcPts val="0"/>
              </a:spcAft>
              <a:buClr>
                <a:schemeClr val="dk1"/>
              </a:buClr>
              <a:buSzPts val="2800"/>
              <a:buChar char="•"/>
            </a:pPr>
            <a:r>
              <a:rPr lang="en-US"/>
              <a:t>Learns word embeddings using Word2Vec</a:t>
            </a:r>
            <a:endParaRPr/>
          </a:p>
          <a:p>
            <a:pPr indent="-228600" lvl="0" marL="228600" rtl="0" algn="l">
              <a:lnSpc>
                <a:spcPct val="90000"/>
              </a:lnSpc>
              <a:spcBef>
                <a:spcPts val="1000"/>
              </a:spcBef>
              <a:spcAft>
                <a:spcPts val="0"/>
              </a:spcAft>
              <a:buClr>
                <a:schemeClr val="dk1"/>
              </a:buClr>
              <a:buSzPts val="2800"/>
              <a:buChar char="•"/>
            </a:pPr>
            <a:r>
              <a:rPr lang="en-US"/>
              <a:t>Represents each word as a dense numerical vector</a:t>
            </a:r>
            <a:endParaRPr/>
          </a:p>
          <a:p>
            <a:pPr indent="-228600" lvl="0" marL="228600" rtl="0" algn="l">
              <a:lnSpc>
                <a:spcPct val="90000"/>
              </a:lnSpc>
              <a:spcBef>
                <a:spcPts val="1000"/>
              </a:spcBef>
              <a:spcAft>
                <a:spcPts val="0"/>
              </a:spcAft>
              <a:buClr>
                <a:schemeClr val="dk1"/>
              </a:buClr>
              <a:buSzPts val="2800"/>
              <a:buChar char="•"/>
            </a:pPr>
            <a:r>
              <a:rPr lang="en-US"/>
              <a:t>Allows extraction of vectors for any word</a:t>
            </a:r>
            <a:endParaRPr/>
          </a:p>
          <a:p>
            <a:pPr indent="0" lvl="0" marL="0" rtl="0" algn="l">
              <a:lnSpc>
                <a:spcPct val="90000"/>
              </a:lnSpc>
              <a:spcBef>
                <a:spcPts val="1000"/>
              </a:spcBef>
              <a:spcAft>
                <a:spcPts val="0"/>
              </a:spcAft>
              <a:buClr>
                <a:schemeClr val="dk1"/>
              </a:buClr>
              <a:buSzPts val="2800"/>
              <a:buNone/>
            </a:pPr>
            <a:r>
              <a:rPr lang="en-US"/>
              <a:t>Each word is converted into a 50-dimensional vector that captures semantic meaning based on surrounding words.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51" name="Google Shape;451;p5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Measuring Word Similarity Using </a:t>
            </a:r>
            <a:br>
              <a:rPr b="1" lang="en-US"/>
            </a:br>
            <a:r>
              <a:rPr b="1" lang="en-US"/>
              <a:t>Word Embeddings</a:t>
            </a:r>
            <a:endParaRPr b="1"/>
          </a:p>
        </p:txBody>
      </p:sp>
      <p:sp>
        <p:nvSpPr>
          <p:cNvPr id="457" name="Google Shape;457;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One powerful feature of Word Embeddings is the ability to measure </a:t>
            </a:r>
            <a:r>
              <a:rPr b="1" lang="en-US"/>
              <a:t>semantic similarity</a:t>
            </a:r>
            <a:r>
              <a:rPr lang="en-US"/>
              <a:t> between words. This is done using </a:t>
            </a:r>
            <a:r>
              <a:rPr b="1" lang="en-US"/>
              <a:t>cosine similarity</a:t>
            </a:r>
            <a:r>
              <a:rPr lang="en-US"/>
              <a:t>, which calculates how close two word vectors are in vector space.</a:t>
            </a:r>
            <a:endParaRPr/>
          </a:p>
          <a:p>
            <a:pPr indent="-228600" lvl="0" marL="228600" rtl="0" algn="l">
              <a:lnSpc>
                <a:spcPct val="90000"/>
              </a:lnSpc>
              <a:spcBef>
                <a:spcPts val="1000"/>
              </a:spcBef>
              <a:spcAft>
                <a:spcPts val="0"/>
              </a:spcAft>
              <a:buClr>
                <a:schemeClr val="dk1"/>
              </a:buClr>
              <a:buSzPts val="2800"/>
              <a:buNone/>
            </a:pPr>
            <a:r>
              <a:rPr b="1" lang="en-US"/>
              <a:t>Example Code:</a:t>
            </a:r>
            <a:endParaRPr/>
          </a:p>
          <a:p>
            <a:pPr indent="-228600" lvl="0" marL="228600" rtl="0" algn="l">
              <a:lnSpc>
                <a:spcPct val="90000"/>
              </a:lnSpc>
              <a:spcBef>
                <a:spcPts val="1000"/>
              </a:spcBef>
              <a:spcAft>
                <a:spcPts val="0"/>
              </a:spcAft>
              <a:buClr>
                <a:schemeClr val="dk1"/>
              </a:buClr>
              <a:buSzPts val="2800"/>
              <a:buNone/>
            </a:pPr>
            <a:r>
              <a:rPr lang="en-US">
                <a:latin typeface="Consolas"/>
                <a:ea typeface="Consolas"/>
                <a:cs typeface="Consolas"/>
                <a:sym typeface="Consolas"/>
              </a:rPr>
              <a:t># Similarity between two words</a:t>
            </a:r>
            <a:br>
              <a:rPr lang="en-US">
                <a:latin typeface="Consolas"/>
                <a:ea typeface="Consolas"/>
                <a:cs typeface="Consolas"/>
                <a:sym typeface="Consolas"/>
              </a:rPr>
            </a:br>
            <a:r>
              <a:rPr lang="en-US">
                <a:latin typeface="Consolas"/>
                <a:ea typeface="Consolas"/>
                <a:cs typeface="Consolas"/>
                <a:sym typeface="Consolas"/>
              </a:rPr>
              <a:t>similarity = model.wv.similarity("nlp", "ai")</a:t>
            </a:r>
            <a:br>
              <a:rPr lang="en-US">
                <a:latin typeface="Consolas"/>
                <a:ea typeface="Consolas"/>
                <a:cs typeface="Consolas"/>
                <a:sym typeface="Consolas"/>
              </a:rPr>
            </a:br>
            <a:r>
              <a:rPr lang="en-US">
                <a:latin typeface="Consolas"/>
                <a:ea typeface="Consolas"/>
                <a:cs typeface="Consolas"/>
                <a:sym typeface="Consolas"/>
              </a:rPr>
              <a:t>print("Similarity between 'nlp' and 'ai':", similarity)</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58" name="Google Shape;458;p5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Measuring Word Similarity Using </a:t>
            </a:r>
            <a:br>
              <a:rPr b="1" lang="en-US"/>
            </a:br>
            <a:r>
              <a:rPr b="1" lang="en-US"/>
              <a:t>Word Embeddings</a:t>
            </a:r>
            <a:endParaRPr/>
          </a:p>
        </p:txBody>
      </p:sp>
      <p:sp>
        <p:nvSpPr>
          <p:cNvPr id="464" name="Google Shape;464;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Cosine similarity returns a value between:</a:t>
            </a:r>
            <a:endParaRPr/>
          </a:p>
          <a:p>
            <a:pPr indent="-228600" lvl="0" marL="228600" rtl="0" algn="l">
              <a:lnSpc>
                <a:spcPct val="90000"/>
              </a:lnSpc>
              <a:spcBef>
                <a:spcPts val="1000"/>
              </a:spcBef>
              <a:spcAft>
                <a:spcPts val="0"/>
              </a:spcAft>
              <a:buClr>
                <a:schemeClr val="dk1"/>
              </a:buClr>
              <a:buSzPts val="2800"/>
              <a:buNone/>
            </a:pPr>
            <a:r>
              <a:rPr b="1" lang="en-US"/>
              <a:t>-1 →</a:t>
            </a:r>
            <a:r>
              <a:rPr lang="en-US"/>
              <a:t> completely opposite</a:t>
            </a:r>
            <a:endParaRPr/>
          </a:p>
          <a:p>
            <a:pPr indent="-228600" lvl="0" marL="228600" rtl="0" algn="l">
              <a:lnSpc>
                <a:spcPct val="90000"/>
              </a:lnSpc>
              <a:spcBef>
                <a:spcPts val="1000"/>
              </a:spcBef>
              <a:spcAft>
                <a:spcPts val="0"/>
              </a:spcAft>
              <a:buClr>
                <a:schemeClr val="dk1"/>
              </a:buClr>
              <a:buSzPts val="2800"/>
              <a:buNone/>
            </a:pPr>
            <a:r>
              <a:rPr b="1" lang="en-US"/>
              <a:t>0 → </a:t>
            </a:r>
            <a:r>
              <a:rPr lang="en-US"/>
              <a:t>unrelated</a:t>
            </a:r>
            <a:endParaRPr/>
          </a:p>
          <a:p>
            <a:pPr indent="-228600" lvl="0" marL="228600" rtl="0" algn="l">
              <a:lnSpc>
                <a:spcPct val="90000"/>
              </a:lnSpc>
              <a:spcBef>
                <a:spcPts val="1000"/>
              </a:spcBef>
              <a:spcAft>
                <a:spcPts val="0"/>
              </a:spcAft>
              <a:buClr>
                <a:schemeClr val="dk1"/>
              </a:buClr>
              <a:buSzPts val="2800"/>
              <a:buNone/>
            </a:pPr>
            <a:r>
              <a:rPr b="1" lang="en-US"/>
              <a:t>+1 → </a:t>
            </a:r>
            <a:r>
              <a:rPr lang="en-US"/>
              <a:t>very similar</a:t>
            </a:r>
            <a:endParaRPr/>
          </a:p>
          <a:p>
            <a:pPr indent="-228600" lvl="0" marL="228600" rtl="0" algn="l">
              <a:lnSpc>
                <a:spcPct val="90000"/>
              </a:lnSpc>
              <a:spcBef>
                <a:spcPts val="1000"/>
              </a:spcBef>
              <a:spcAft>
                <a:spcPts val="0"/>
              </a:spcAft>
              <a:buClr>
                <a:schemeClr val="dk1"/>
              </a:buClr>
              <a:buSzPts val="2800"/>
              <a:buNone/>
            </a:pPr>
            <a:r>
              <a:rPr lang="en-US"/>
              <a:t>Higher values indicate stronger semantic similarity.</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65" name="Google Shape;465;p5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Measuring Word Similarity Using </a:t>
            </a:r>
            <a:br>
              <a:rPr b="1" lang="en-US"/>
            </a:br>
            <a:r>
              <a:rPr b="1" lang="en-US"/>
              <a:t>Word Embeddings</a:t>
            </a:r>
            <a:endParaRPr/>
          </a:p>
        </p:txBody>
      </p:sp>
      <p:sp>
        <p:nvSpPr>
          <p:cNvPr id="471" name="Google Shape;471;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Word embeddings allow machines to understand relationships such as:</a:t>
            </a:r>
            <a:endParaRPr/>
          </a:p>
          <a:p>
            <a:pPr indent="-228600" lvl="0" marL="228600" rtl="0" algn="just">
              <a:lnSpc>
                <a:spcPct val="90000"/>
              </a:lnSpc>
              <a:spcBef>
                <a:spcPts val="1000"/>
              </a:spcBef>
              <a:spcAft>
                <a:spcPts val="0"/>
              </a:spcAft>
              <a:buClr>
                <a:schemeClr val="dk1"/>
              </a:buClr>
              <a:buSzPts val="2800"/>
              <a:buNone/>
            </a:pPr>
            <a:r>
              <a:rPr b="1" lang="en-US"/>
              <a:t>good ≈</a:t>
            </a:r>
            <a:r>
              <a:rPr lang="en-US"/>
              <a:t> excellent</a:t>
            </a:r>
            <a:endParaRPr/>
          </a:p>
          <a:p>
            <a:pPr indent="-228600" lvl="0" marL="228600" rtl="0" algn="just">
              <a:lnSpc>
                <a:spcPct val="90000"/>
              </a:lnSpc>
              <a:spcBef>
                <a:spcPts val="1000"/>
              </a:spcBef>
              <a:spcAft>
                <a:spcPts val="0"/>
              </a:spcAft>
              <a:buClr>
                <a:schemeClr val="dk1"/>
              </a:buClr>
              <a:buSzPts val="2800"/>
              <a:buNone/>
            </a:pPr>
            <a:r>
              <a:rPr b="1" lang="en-US"/>
              <a:t>cat ≈</a:t>
            </a:r>
            <a:r>
              <a:rPr lang="en-US"/>
              <a:t> dog</a:t>
            </a:r>
            <a:endParaRPr/>
          </a:p>
          <a:p>
            <a:pPr indent="-228600" lvl="0" marL="228600" rtl="0" algn="just">
              <a:lnSpc>
                <a:spcPct val="90000"/>
              </a:lnSpc>
              <a:spcBef>
                <a:spcPts val="1000"/>
              </a:spcBef>
              <a:spcAft>
                <a:spcPts val="0"/>
              </a:spcAft>
              <a:buClr>
                <a:schemeClr val="dk1"/>
              </a:buClr>
              <a:buSzPts val="2800"/>
              <a:buNone/>
            </a:pPr>
            <a:r>
              <a:rPr b="1" lang="en-US"/>
              <a:t>happy ≈</a:t>
            </a:r>
            <a:r>
              <a:rPr lang="en-US"/>
              <a:t> joyful</a:t>
            </a:r>
            <a:endParaRPr/>
          </a:p>
          <a:p>
            <a:pPr indent="-228600" lvl="0" marL="228600" rtl="0" algn="just">
              <a:lnSpc>
                <a:spcPct val="90000"/>
              </a:lnSpc>
              <a:spcBef>
                <a:spcPts val="1000"/>
              </a:spcBef>
              <a:spcAft>
                <a:spcPts val="0"/>
              </a:spcAft>
              <a:buClr>
                <a:schemeClr val="dk1"/>
              </a:buClr>
              <a:buSzPts val="2800"/>
              <a:buNone/>
            </a:pPr>
            <a:r>
              <a:rPr lang="en-US"/>
              <a:t>This capability is not possible with Bag of Words or TF–IDF.</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72" name="Google Shape;472;p5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GloVe Embeddings and Comparison </a:t>
            </a:r>
            <a:br>
              <a:rPr b="1" lang="en-US"/>
            </a:br>
            <a:r>
              <a:rPr b="1" lang="en-US"/>
              <a:t>with Word2Vec</a:t>
            </a:r>
            <a:endParaRPr b="1"/>
          </a:p>
        </p:txBody>
      </p:sp>
      <p:sp>
        <p:nvSpPr>
          <p:cNvPr id="478" name="Google Shape;478;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200" lvl="0" marL="457200" rtl="0" algn="just">
              <a:lnSpc>
                <a:spcPct val="90000"/>
              </a:lnSpc>
              <a:spcBef>
                <a:spcPts val="0"/>
              </a:spcBef>
              <a:spcAft>
                <a:spcPts val="0"/>
              </a:spcAft>
              <a:buClr>
                <a:schemeClr val="dk1"/>
              </a:buClr>
              <a:buSzPts val="2800"/>
              <a:buChar char="•"/>
            </a:pPr>
            <a:r>
              <a:rPr lang="en-US"/>
              <a:t>GloVe (Global Vectors for Word Representation) is another popular word embedding technique that learns word vectors using </a:t>
            </a:r>
            <a:r>
              <a:rPr b="1" lang="en-US"/>
              <a:t>global word co-occurrence statistics</a:t>
            </a:r>
            <a:r>
              <a:rPr lang="en-US"/>
              <a:t>.</a:t>
            </a:r>
            <a:endParaRPr/>
          </a:p>
          <a:p>
            <a:pPr indent="-457200" lvl="0" marL="457200" rtl="0" algn="just">
              <a:lnSpc>
                <a:spcPct val="90000"/>
              </a:lnSpc>
              <a:spcBef>
                <a:spcPts val="1000"/>
              </a:spcBef>
              <a:spcAft>
                <a:spcPts val="0"/>
              </a:spcAft>
              <a:buClr>
                <a:schemeClr val="dk1"/>
              </a:buClr>
              <a:buSzPts val="2800"/>
              <a:buChar char="•"/>
            </a:pPr>
            <a:r>
              <a:rPr lang="en-US"/>
              <a:t>While Word2Vec learns embeddings by predicting words from local context, GloVe builds embeddings by analyzing how frequently words appear together across the entire corpus.</a:t>
            </a:r>
            <a:endParaRPr/>
          </a:p>
          <a:p>
            <a:pPr indent="-228600" lvl="0" marL="228600" rtl="0" algn="just">
              <a:lnSpc>
                <a:spcPct val="90000"/>
              </a:lnSpc>
              <a:spcBef>
                <a:spcPts val="1000"/>
              </a:spcBef>
              <a:spcAft>
                <a:spcPts val="0"/>
              </a:spcAft>
              <a:buClr>
                <a:schemeClr val="dk1"/>
              </a:buClr>
              <a:buSzPts val="2800"/>
              <a:buNone/>
            </a:pPr>
            <a:r>
              <a:rPr b="1" lang="en-US"/>
              <a:t>Key idea of GloVe:</a:t>
            </a:r>
            <a:endParaRPr/>
          </a:p>
          <a:p>
            <a:pPr indent="-457200" lvl="0" marL="457200" rtl="0" algn="just">
              <a:lnSpc>
                <a:spcPct val="90000"/>
              </a:lnSpc>
              <a:spcBef>
                <a:spcPts val="1000"/>
              </a:spcBef>
              <a:spcAft>
                <a:spcPts val="0"/>
              </a:spcAft>
              <a:buClr>
                <a:schemeClr val="dk1"/>
              </a:buClr>
              <a:buSzPts val="2800"/>
              <a:buChar char="•"/>
            </a:pPr>
            <a:r>
              <a:rPr lang="en-US"/>
              <a:t>Words that frequently co-occur in similar contexts should have similar vector representations.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79" name="Google Shape;479;p5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latin typeface="Play"/>
                <a:ea typeface="Play"/>
                <a:cs typeface="Play"/>
                <a:sym typeface="Play"/>
              </a:rPr>
              <a:t>Word2Vec vs GloVe</a:t>
            </a:r>
            <a:endParaRPr b="1">
              <a:latin typeface="Play"/>
              <a:ea typeface="Play"/>
              <a:cs typeface="Play"/>
              <a:sym typeface="Play"/>
            </a:endParaRPr>
          </a:p>
        </p:txBody>
      </p:sp>
      <p:sp>
        <p:nvSpPr>
          <p:cNvPr id="485" name="Google Shape;485;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Word2Vec</a:t>
            </a:r>
            <a:endParaRPr/>
          </a:p>
          <a:p>
            <a:pPr indent="-228600" lvl="0" marL="228600" rtl="0" algn="l">
              <a:lnSpc>
                <a:spcPct val="90000"/>
              </a:lnSpc>
              <a:spcBef>
                <a:spcPts val="1000"/>
              </a:spcBef>
              <a:spcAft>
                <a:spcPts val="0"/>
              </a:spcAft>
              <a:buClr>
                <a:schemeClr val="dk1"/>
              </a:buClr>
              <a:buSzPts val="2800"/>
              <a:buChar char="•"/>
            </a:pPr>
            <a:r>
              <a:rPr lang="en-US"/>
              <a:t>Learns from local context windows</a:t>
            </a:r>
            <a:endParaRPr/>
          </a:p>
          <a:p>
            <a:pPr indent="-228600" lvl="0" marL="228600" rtl="0" algn="l">
              <a:lnSpc>
                <a:spcPct val="90000"/>
              </a:lnSpc>
              <a:spcBef>
                <a:spcPts val="1000"/>
              </a:spcBef>
              <a:spcAft>
                <a:spcPts val="0"/>
              </a:spcAft>
              <a:buClr>
                <a:schemeClr val="dk1"/>
              </a:buClr>
              <a:buSzPts val="2800"/>
              <a:buChar char="•"/>
            </a:pPr>
            <a:r>
              <a:rPr lang="en-US"/>
              <a:t>Uses neural networks</a:t>
            </a:r>
            <a:endParaRPr/>
          </a:p>
          <a:p>
            <a:pPr indent="-228600" lvl="0" marL="228600" rtl="0" algn="l">
              <a:lnSpc>
                <a:spcPct val="90000"/>
              </a:lnSpc>
              <a:spcBef>
                <a:spcPts val="1000"/>
              </a:spcBef>
              <a:spcAft>
                <a:spcPts val="0"/>
              </a:spcAft>
              <a:buClr>
                <a:schemeClr val="dk1"/>
              </a:buClr>
              <a:buSzPts val="2800"/>
              <a:buChar char="•"/>
            </a:pPr>
            <a:r>
              <a:rPr lang="en-US"/>
              <a:t>Predictive model (predicts words)</a:t>
            </a:r>
            <a:endParaRPr/>
          </a:p>
          <a:p>
            <a:pPr indent="-228600" lvl="0" marL="228600" rtl="0" algn="l">
              <a:lnSpc>
                <a:spcPct val="90000"/>
              </a:lnSpc>
              <a:spcBef>
                <a:spcPts val="1000"/>
              </a:spcBef>
              <a:spcAft>
                <a:spcPts val="0"/>
              </a:spcAft>
              <a:buClr>
                <a:schemeClr val="dk1"/>
              </a:buClr>
              <a:buSzPts val="2800"/>
              <a:buChar char="•"/>
            </a:pPr>
            <a:r>
              <a:rPr lang="en-US"/>
              <a:t>Works well with streaming data</a:t>
            </a:r>
            <a:endParaRPr/>
          </a:p>
          <a:p>
            <a:pPr indent="-228600" lvl="0" marL="228600" rtl="0" algn="l">
              <a:lnSpc>
                <a:spcPct val="90000"/>
              </a:lnSpc>
              <a:spcBef>
                <a:spcPts val="1000"/>
              </a:spcBef>
              <a:spcAft>
                <a:spcPts val="0"/>
              </a:spcAft>
              <a:buClr>
                <a:schemeClr val="dk1"/>
              </a:buClr>
              <a:buSzPts val="2800"/>
              <a:buNone/>
            </a:pPr>
            <a:r>
              <a:rPr b="1" lang="en-US"/>
              <a:t>GloVe</a:t>
            </a:r>
            <a:endParaRPr/>
          </a:p>
          <a:p>
            <a:pPr indent="-228600" lvl="0" marL="228600" rtl="0" algn="l">
              <a:lnSpc>
                <a:spcPct val="90000"/>
              </a:lnSpc>
              <a:spcBef>
                <a:spcPts val="1000"/>
              </a:spcBef>
              <a:spcAft>
                <a:spcPts val="0"/>
              </a:spcAft>
              <a:buClr>
                <a:schemeClr val="dk1"/>
              </a:buClr>
              <a:buSzPts val="2800"/>
              <a:buChar char="•"/>
            </a:pPr>
            <a:r>
              <a:rPr lang="en-US"/>
              <a:t>Learns from global co-occurrence matrix</a:t>
            </a:r>
            <a:endParaRPr/>
          </a:p>
          <a:p>
            <a:pPr indent="-228600" lvl="0" marL="228600" rtl="0" algn="l">
              <a:lnSpc>
                <a:spcPct val="90000"/>
              </a:lnSpc>
              <a:spcBef>
                <a:spcPts val="1000"/>
              </a:spcBef>
              <a:spcAft>
                <a:spcPts val="0"/>
              </a:spcAft>
              <a:buClr>
                <a:schemeClr val="dk1"/>
              </a:buClr>
              <a:buSzPts val="2800"/>
              <a:buChar char="•"/>
            </a:pPr>
            <a:r>
              <a:rPr lang="en-US"/>
              <a:t>Uses matrix factorization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486" name="Google Shape;486;p5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Word2Vec vs GloVe</a:t>
            </a:r>
            <a:endParaRPr b="1"/>
          </a:p>
        </p:txBody>
      </p:sp>
      <p:sp>
        <p:nvSpPr>
          <p:cNvPr id="492" name="Google Shape;492;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lang="en-US"/>
              <a:t>Count-based model</a:t>
            </a:r>
            <a:endParaRPr/>
          </a:p>
          <a:p>
            <a:pPr indent="-228600" lvl="0" marL="228600" rtl="0" algn="just">
              <a:lnSpc>
                <a:spcPct val="90000"/>
              </a:lnSpc>
              <a:spcBef>
                <a:spcPts val="1000"/>
              </a:spcBef>
              <a:spcAft>
                <a:spcPts val="0"/>
              </a:spcAft>
              <a:buClr>
                <a:schemeClr val="dk1"/>
              </a:buClr>
              <a:buSzPts val="2800"/>
              <a:buFont typeface="Arial"/>
              <a:buChar char="•"/>
            </a:pPr>
            <a:r>
              <a:rPr lang="en-US"/>
              <a:t>Captures broader corpus-level statistics</a:t>
            </a:r>
            <a:endParaRPr/>
          </a:p>
          <a:p>
            <a:pPr indent="0" lvl="0" marL="0" rtl="0" algn="just">
              <a:lnSpc>
                <a:spcPct val="90000"/>
              </a:lnSpc>
              <a:spcBef>
                <a:spcPts val="1000"/>
              </a:spcBef>
              <a:spcAft>
                <a:spcPts val="0"/>
              </a:spcAft>
              <a:buClr>
                <a:schemeClr val="dk1"/>
              </a:buClr>
              <a:buSzPts val="2800"/>
              <a:buNone/>
            </a:pPr>
            <a:r>
              <a:rPr lang="en-US"/>
              <a:t>Both methods produce dense vectors that capture semantic meaning and are widely used in NLP applications.</a:t>
            </a:r>
            <a:endParaRPr/>
          </a:p>
        </p:txBody>
      </p:sp>
      <p:pic>
        <p:nvPicPr>
          <p:cNvPr descr="A blue and white logo&#10;&#10;AI-generated content may be incorrect." id="493" name="Google Shape;493;p5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Topic Modeling</a:t>
            </a:r>
            <a:endParaRPr b="1"/>
          </a:p>
        </p:txBody>
      </p:sp>
      <p:sp>
        <p:nvSpPr>
          <p:cNvPr id="499" name="Google Shape;499;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Topic Modeling is an unsupervised Natural Language Processing technique used to automatically discover hidden themes or topics within a collection of documents.</a:t>
            </a:r>
            <a:endParaRPr/>
          </a:p>
          <a:p>
            <a:pPr indent="-228600" lvl="0" marL="228600" rtl="0" algn="just">
              <a:lnSpc>
                <a:spcPct val="90000"/>
              </a:lnSpc>
              <a:spcBef>
                <a:spcPts val="1000"/>
              </a:spcBef>
              <a:spcAft>
                <a:spcPts val="0"/>
              </a:spcAft>
              <a:buClr>
                <a:schemeClr val="dk1"/>
              </a:buClr>
              <a:buSzPts val="2800"/>
              <a:buChar char="•"/>
            </a:pPr>
            <a:r>
              <a:rPr lang="en-US"/>
              <a:t>Instead of manually labeling documents, topic modeling identifies patterns of words that frequently occur together and groups them into topics.</a:t>
            </a:r>
            <a:endParaRPr/>
          </a:p>
          <a:p>
            <a:pPr indent="-228600" lvl="0" marL="228600" rtl="0" algn="just">
              <a:lnSpc>
                <a:spcPct val="90000"/>
              </a:lnSpc>
              <a:spcBef>
                <a:spcPts val="1000"/>
              </a:spcBef>
              <a:spcAft>
                <a:spcPts val="0"/>
              </a:spcAft>
              <a:buClr>
                <a:schemeClr val="dk1"/>
              </a:buClr>
              <a:buSzPts val="2800"/>
              <a:buChar char="•"/>
            </a:pPr>
            <a:r>
              <a:rPr lang="en-US"/>
              <a:t>Each document is represented as a mixture of topics, and each topic is represented as a collection of important words.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00" name="Google Shape;500;p6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Topic Modeling</a:t>
            </a:r>
            <a:endParaRPr/>
          </a:p>
        </p:txBody>
      </p:sp>
      <p:sp>
        <p:nvSpPr>
          <p:cNvPr id="506" name="Google Shape;506;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For example, given thousands of news articles, topic modeling can automatically identify themes such as:</a:t>
            </a:r>
            <a:endParaRPr/>
          </a:p>
          <a:p>
            <a:pPr indent="-457200" lvl="0" marL="457200" rtl="0" algn="l">
              <a:lnSpc>
                <a:spcPct val="90000"/>
              </a:lnSpc>
              <a:spcBef>
                <a:spcPts val="1000"/>
              </a:spcBef>
              <a:spcAft>
                <a:spcPts val="0"/>
              </a:spcAft>
              <a:buClr>
                <a:schemeClr val="dk1"/>
              </a:buClr>
              <a:buSzPts val="2800"/>
              <a:buChar char="•"/>
            </a:pPr>
            <a:r>
              <a:rPr lang="en-US"/>
              <a:t>Politics</a:t>
            </a:r>
            <a:endParaRPr/>
          </a:p>
          <a:p>
            <a:pPr indent="-457200" lvl="0" marL="457200" rtl="0" algn="l">
              <a:lnSpc>
                <a:spcPct val="90000"/>
              </a:lnSpc>
              <a:spcBef>
                <a:spcPts val="1000"/>
              </a:spcBef>
              <a:spcAft>
                <a:spcPts val="0"/>
              </a:spcAft>
              <a:buClr>
                <a:schemeClr val="dk1"/>
              </a:buClr>
              <a:buSzPts val="2800"/>
              <a:buChar char="•"/>
            </a:pPr>
            <a:r>
              <a:rPr lang="en-US"/>
              <a:t>Sports</a:t>
            </a:r>
            <a:endParaRPr/>
          </a:p>
          <a:p>
            <a:pPr indent="-457200" lvl="0" marL="457200" rtl="0" algn="l">
              <a:lnSpc>
                <a:spcPct val="90000"/>
              </a:lnSpc>
              <a:spcBef>
                <a:spcPts val="1000"/>
              </a:spcBef>
              <a:spcAft>
                <a:spcPts val="0"/>
              </a:spcAft>
              <a:buClr>
                <a:schemeClr val="dk1"/>
              </a:buClr>
              <a:buSzPts val="2800"/>
              <a:buChar char="•"/>
            </a:pPr>
            <a:r>
              <a:rPr lang="en-US"/>
              <a:t>Technology</a:t>
            </a:r>
            <a:endParaRPr/>
          </a:p>
          <a:p>
            <a:pPr indent="-457200" lvl="0" marL="457200" rtl="0" algn="l">
              <a:lnSpc>
                <a:spcPct val="90000"/>
              </a:lnSpc>
              <a:spcBef>
                <a:spcPts val="1000"/>
              </a:spcBef>
              <a:spcAft>
                <a:spcPts val="0"/>
              </a:spcAft>
              <a:buClr>
                <a:schemeClr val="dk1"/>
              </a:buClr>
              <a:buSzPts val="2800"/>
              <a:buChar char="•"/>
            </a:pPr>
            <a:r>
              <a:rPr lang="en-US"/>
              <a:t>Health</a:t>
            </a:r>
            <a:endParaRPr/>
          </a:p>
          <a:p>
            <a:pPr indent="-228600" lvl="0" marL="228600" rtl="0" algn="l">
              <a:lnSpc>
                <a:spcPct val="90000"/>
              </a:lnSpc>
              <a:spcBef>
                <a:spcPts val="1000"/>
              </a:spcBef>
              <a:spcAft>
                <a:spcPts val="0"/>
              </a:spcAft>
              <a:buClr>
                <a:schemeClr val="dk1"/>
              </a:buClr>
              <a:buSzPts val="2800"/>
              <a:buNone/>
            </a:pPr>
            <a:r>
              <a:rPr lang="en-US"/>
              <a:t>without any prior labels.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07" name="Google Shape;507;p6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Topic Modeling</a:t>
            </a:r>
            <a:endParaRPr/>
          </a:p>
        </p:txBody>
      </p:sp>
      <p:sp>
        <p:nvSpPr>
          <p:cNvPr id="513" name="Google Shape;513;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Topic modeling is widely used in:</a:t>
            </a:r>
            <a:endParaRPr b="1"/>
          </a:p>
          <a:p>
            <a:pPr indent="-228600" lvl="0" marL="228600" rtl="0" algn="just">
              <a:lnSpc>
                <a:spcPct val="90000"/>
              </a:lnSpc>
              <a:spcBef>
                <a:spcPts val="1000"/>
              </a:spcBef>
              <a:spcAft>
                <a:spcPts val="0"/>
              </a:spcAft>
              <a:buClr>
                <a:schemeClr val="dk1"/>
              </a:buClr>
              <a:buSzPts val="2800"/>
              <a:buChar char="•"/>
            </a:pPr>
            <a:r>
              <a:rPr lang="en-US"/>
              <a:t>Social media trend analysis</a:t>
            </a:r>
            <a:endParaRPr/>
          </a:p>
          <a:p>
            <a:pPr indent="-228600" lvl="0" marL="228600" rtl="0" algn="just">
              <a:lnSpc>
                <a:spcPct val="90000"/>
              </a:lnSpc>
              <a:spcBef>
                <a:spcPts val="1000"/>
              </a:spcBef>
              <a:spcAft>
                <a:spcPts val="0"/>
              </a:spcAft>
              <a:buClr>
                <a:schemeClr val="dk1"/>
              </a:buClr>
              <a:buSzPts val="2800"/>
              <a:buChar char="•"/>
            </a:pPr>
            <a:r>
              <a:rPr lang="en-US"/>
              <a:t>News categorization</a:t>
            </a:r>
            <a:endParaRPr/>
          </a:p>
          <a:p>
            <a:pPr indent="-228600" lvl="0" marL="228600" rtl="0" algn="just">
              <a:lnSpc>
                <a:spcPct val="90000"/>
              </a:lnSpc>
              <a:spcBef>
                <a:spcPts val="1000"/>
              </a:spcBef>
              <a:spcAft>
                <a:spcPts val="0"/>
              </a:spcAft>
              <a:buClr>
                <a:schemeClr val="dk1"/>
              </a:buClr>
              <a:buSzPts val="2800"/>
              <a:buChar char="•"/>
            </a:pPr>
            <a:r>
              <a:rPr lang="en-US"/>
              <a:t>Customer feedback analysis</a:t>
            </a:r>
            <a:endParaRPr/>
          </a:p>
          <a:p>
            <a:pPr indent="-228600" lvl="0" marL="228600" rtl="0" algn="just">
              <a:lnSpc>
                <a:spcPct val="90000"/>
              </a:lnSpc>
              <a:spcBef>
                <a:spcPts val="1000"/>
              </a:spcBef>
              <a:spcAft>
                <a:spcPts val="0"/>
              </a:spcAft>
              <a:buClr>
                <a:schemeClr val="dk1"/>
              </a:buClr>
              <a:buSzPts val="2800"/>
              <a:buChar char="•"/>
            </a:pPr>
            <a:r>
              <a:rPr lang="en-US"/>
              <a:t>Research paper clustering</a:t>
            </a:r>
            <a:endParaRPr/>
          </a:p>
          <a:p>
            <a:pPr indent="-228600" lvl="0" marL="228600" rtl="0" algn="just">
              <a:lnSpc>
                <a:spcPct val="90000"/>
              </a:lnSpc>
              <a:spcBef>
                <a:spcPts val="1000"/>
              </a:spcBef>
              <a:spcAft>
                <a:spcPts val="0"/>
              </a:spcAft>
              <a:buClr>
                <a:schemeClr val="dk1"/>
              </a:buClr>
              <a:buSzPts val="2800"/>
              <a:buChar char="•"/>
            </a:pPr>
            <a:r>
              <a:rPr lang="en-US"/>
              <a:t>Recommendation systems</a:t>
            </a:r>
            <a:endParaRPr/>
          </a:p>
          <a:p>
            <a:pPr indent="0" lvl="0" marL="0" rtl="0" algn="just">
              <a:lnSpc>
                <a:spcPct val="90000"/>
              </a:lnSpc>
              <a:spcBef>
                <a:spcPts val="1000"/>
              </a:spcBef>
              <a:spcAft>
                <a:spcPts val="0"/>
              </a:spcAft>
              <a:buClr>
                <a:schemeClr val="dk1"/>
              </a:buClr>
              <a:buSzPts val="2800"/>
              <a:buNone/>
            </a:pPr>
            <a:r>
              <a:rPr lang="en-US"/>
              <a:t>One of the most popular topic modeling algorithms is </a:t>
            </a:r>
            <a:r>
              <a:rPr b="1" lang="en-US"/>
              <a:t>Latent Dirichlet Allocation (LDA)</a:t>
            </a:r>
            <a:r>
              <a:rPr lang="en-US"/>
              <a:t>.</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14" name="Google Shape;514;p6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Latent Dirichlet Allocation (LDA) </a:t>
            </a:r>
            <a:endParaRPr b="1"/>
          </a:p>
        </p:txBody>
      </p:sp>
      <p:sp>
        <p:nvSpPr>
          <p:cNvPr id="520" name="Google Shape;520;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Latent Dirichlet Allocation (LDA) is a probabilistic topic modeling algorithm used to discover hidden topics in a collection of documents. The word </a:t>
            </a:r>
            <a:r>
              <a:rPr i="1" lang="en-US"/>
              <a:t>latent</a:t>
            </a:r>
            <a:r>
              <a:rPr lang="en-US"/>
              <a:t> means hidden.</a:t>
            </a:r>
            <a:endParaRPr/>
          </a:p>
          <a:p>
            <a:pPr indent="-228600" lvl="0" marL="228600" rtl="0" algn="just">
              <a:lnSpc>
                <a:spcPct val="90000"/>
              </a:lnSpc>
              <a:spcBef>
                <a:spcPts val="1000"/>
              </a:spcBef>
              <a:spcAft>
                <a:spcPts val="0"/>
              </a:spcAft>
              <a:buClr>
                <a:schemeClr val="dk1"/>
              </a:buClr>
              <a:buSzPts val="2800"/>
              <a:buNone/>
            </a:pPr>
            <a:r>
              <a:rPr b="1" lang="en-US"/>
              <a:t>LDA assumes that:</a:t>
            </a:r>
            <a:endParaRPr/>
          </a:p>
          <a:p>
            <a:pPr indent="-228600" lvl="0" marL="228600" rtl="0" algn="just">
              <a:lnSpc>
                <a:spcPct val="90000"/>
              </a:lnSpc>
              <a:spcBef>
                <a:spcPts val="1000"/>
              </a:spcBef>
              <a:spcAft>
                <a:spcPts val="0"/>
              </a:spcAft>
              <a:buClr>
                <a:schemeClr val="dk1"/>
              </a:buClr>
              <a:buSzPts val="2800"/>
              <a:buChar char="•"/>
            </a:pPr>
            <a:r>
              <a:rPr lang="en-US"/>
              <a:t>Each document is a mixture of multiple topics</a:t>
            </a:r>
            <a:endParaRPr/>
          </a:p>
          <a:p>
            <a:pPr indent="-228600" lvl="0" marL="228600" rtl="0" algn="just">
              <a:lnSpc>
                <a:spcPct val="90000"/>
              </a:lnSpc>
              <a:spcBef>
                <a:spcPts val="1000"/>
              </a:spcBef>
              <a:spcAft>
                <a:spcPts val="0"/>
              </a:spcAft>
              <a:buClr>
                <a:schemeClr val="dk1"/>
              </a:buClr>
              <a:buSzPts val="2800"/>
              <a:buChar char="•"/>
            </a:pPr>
            <a:r>
              <a:rPr lang="en-US"/>
              <a:t>Each topic is a distribution over words</a:t>
            </a:r>
            <a:endParaRPr/>
          </a:p>
          <a:p>
            <a:pPr indent="-228600" lvl="0" marL="228600" rtl="0" algn="just">
              <a:lnSpc>
                <a:spcPct val="90000"/>
              </a:lnSpc>
              <a:spcBef>
                <a:spcPts val="1000"/>
              </a:spcBef>
              <a:spcAft>
                <a:spcPts val="0"/>
              </a:spcAft>
              <a:buClr>
                <a:schemeClr val="dk1"/>
              </a:buClr>
              <a:buSzPts val="2800"/>
              <a:buNone/>
            </a:pPr>
            <a:r>
              <a:rPr lang="en-US"/>
              <a:t>In other words:</a:t>
            </a:r>
            <a:endParaRPr/>
          </a:p>
          <a:p>
            <a:pPr indent="0" lvl="0" marL="0" rtl="0" algn="just">
              <a:lnSpc>
                <a:spcPct val="90000"/>
              </a:lnSpc>
              <a:spcBef>
                <a:spcPts val="1000"/>
              </a:spcBef>
              <a:spcAft>
                <a:spcPts val="0"/>
              </a:spcAft>
              <a:buClr>
                <a:schemeClr val="dk1"/>
              </a:buClr>
              <a:buSzPts val="2800"/>
              <a:buNone/>
            </a:pPr>
            <a:r>
              <a:rPr lang="en-US"/>
              <a:t>A document is not about just one topic. It contains several topics in different proportions.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21" name="Google Shape;521;p6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Latent Dirichlet Allocation (LDA) </a:t>
            </a:r>
            <a:endParaRPr/>
          </a:p>
        </p:txBody>
      </p:sp>
      <p:sp>
        <p:nvSpPr>
          <p:cNvPr id="527" name="Google Shape;527;p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For example:</a:t>
            </a:r>
            <a:endParaRPr b="1"/>
          </a:p>
          <a:p>
            <a:pPr indent="-228600" lvl="0" marL="228600" rtl="0" algn="just">
              <a:lnSpc>
                <a:spcPct val="90000"/>
              </a:lnSpc>
              <a:spcBef>
                <a:spcPts val="1000"/>
              </a:spcBef>
              <a:spcAft>
                <a:spcPts val="0"/>
              </a:spcAft>
              <a:buClr>
                <a:schemeClr val="dk1"/>
              </a:buClr>
              <a:buSzPts val="2800"/>
              <a:buNone/>
            </a:pPr>
            <a:r>
              <a:rPr lang="en-US"/>
              <a:t>A news article might be:</a:t>
            </a:r>
            <a:endParaRPr/>
          </a:p>
          <a:p>
            <a:pPr indent="-228600" lvl="0" marL="228600" rtl="0" algn="just">
              <a:lnSpc>
                <a:spcPct val="90000"/>
              </a:lnSpc>
              <a:spcBef>
                <a:spcPts val="1000"/>
              </a:spcBef>
              <a:spcAft>
                <a:spcPts val="0"/>
              </a:spcAft>
              <a:buClr>
                <a:schemeClr val="dk1"/>
              </a:buClr>
              <a:buSzPts val="2800"/>
              <a:buChar char="•"/>
            </a:pPr>
            <a:r>
              <a:rPr lang="en-US"/>
              <a:t>60% Politics</a:t>
            </a:r>
            <a:endParaRPr/>
          </a:p>
          <a:p>
            <a:pPr indent="-228600" lvl="0" marL="228600" rtl="0" algn="just">
              <a:lnSpc>
                <a:spcPct val="90000"/>
              </a:lnSpc>
              <a:spcBef>
                <a:spcPts val="1000"/>
              </a:spcBef>
              <a:spcAft>
                <a:spcPts val="0"/>
              </a:spcAft>
              <a:buClr>
                <a:schemeClr val="dk1"/>
              </a:buClr>
              <a:buSzPts val="2800"/>
              <a:buChar char="•"/>
            </a:pPr>
            <a:r>
              <a:rPr lang="en-US"/>
              <a:t>25% Economy</a:t>
            </a:r>
            <a:endParaRPr/>
          </a:p>
          <a:p>
            <a:pPr indent="-228600" lvl="0" marL="228600" rtl="0" algn="just">
              <a:lnSpc>
                <a:spcPct val="90000"/>
              </a:lnSpc>
              <a:spcBef>
                <a:spcPts val="1000"/>
              </a:spcBef>
              <a:spcAft>
                <a:spcPts val="0"/>
              </a:spcAft>
              <a:buClr>
                <a:schemeClr val="dk1"/>
              </a:buClr>
              <a:buSzPts val="2800"/>
              <a:buChar char="•"/>
            </a:pPr>
            <a:r>
              <a:rPr lang="en-US"/>
              <a:t>15% Technology</a:t>
            </a:r>
            <a:endParaRPr/>
          </a:p>
          <a:p>
            <a:pPr indent="0" lvl="0" marL="0" rtl="0" algn="just">
              <a:lnSpc>
                <a:spcPct val="90000"/>
              </a:lnSpc>
              <a:spcBef>
                <a:spcPts val="1000"/>
              </a:spcBef>
              <a:spcAft>
                <a:spcPts val="0"/>
              </a:spcAft>
              <a:buClr>
                <a:schemeClr val="dk1"/>
              </a:buClr>
              <a:buSzPts val="2800"/>
              <a:buNone/>
            </a:pPr>
            <a:r>
              <a:rPr lang="en-US"/>
              <a:t>Similarly, each topic contains many words with different probabilities.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28" name="Google Shape;528;p6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Latent Dirichlet Allocation (LDA) </a:t>
            </a:r>
            <a:endParaRPr/>
          </a:p>
        </p:txBody>
      </p:sp>
      <p:sp>
        <p:nvSpPr>
          <p:cNvPr id="534" name="Google Shape;534;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Example:</a:t>
            </a:r>
            <a:endParaRPr b="1"/>
          </a:p>
          <a:p>
            <a:pPr indent="-228600" lvl="0" marL="228600" rtl="0" algn="just">
              <a:lnSpc>
                <a:spcPct val="90000"/>
              </a:lnSpc>
              <a:spcBef>
                <a:spcPts val="1000"/>
              </a:spcBef>
              <a:spcAft>
                <a:spcPts val="0"/>
              </a:spcAft>
              <a:buClr>
                <a:schemeClr val="dk1"/>
              </a:buClr>
              <a:buSzPts val="2800"/>
              <a:buNone/>
            </a:pPr>
            <a:r>
              <a:rPr b="1" lang="en-US"/>
              <a:t>Topic: Sports</a:t>
            </a:r>
            <a:endParaRPr/>
          </a:p>
          <a:p>
            <a:pPr indent="-228600" lvl="0" marL="228600" rtl="0" algn="just">
              <a:lnSpc>
                <a:spcPct val="90000"/>
              </a:lnSpc>
              <a:spcBef>
                <a:spcPts val="1000"/>
              </a:spcBef>
              <a:spcAft>
                <a:spcPts val="0"/>
              </a:spcAft>
              <a:buClr>
                <a:schemeClr val="dk1"/>
              </a:buClr>
              <a:buSzPts val="2800"/>
              <a:buNone/>
            </a:pPr>
            <a:r>
              <a:rPr lang="en-US"/>
              <a:t>{match, team, goal, player, coach}</a:t>
            </a:r>
            <a:endParaRPr/>
          </a:p>
          <a:p>
            <a:pPr indent="-228600" lvl="0" marL="228600" rtl="0" algn="just">
              <a:lnSpc>
                <a:spcPct val="90000"/>
              </a:lnSpc>
              <a:spcBef>
                <a:spcPts val="1000"/>
              </a:spcBef>
              <a:spcAft>
                <a:spcPts val="0"/>
              </a:spcAft>
              <a:buClr>
                <a:schemeClr val="dk1"/>
              </a:buClr>
              <a:buSzPts val="2800"/>
              <a:buNone/>
            </a:pPr>
            <a:r>
              <a:rPr b="1" lang="en-US"/>
              <a:t>Topic: Technology</a:t>
            </a:r>
            <a:endParaRPr/>
          </a:p>
          <a:p>
            <a:pPr indent="-228600" lvl="0" marL="228600" rtl="0" algn="just">
              <a:lnSpc>
                <a:spcPct val="90000"/>
              </a:lnSpc>
              <a:spcBef>
                <a:spcPts val="1000"/>
              </a:spcBef>
              <a:spcAft>
                <a:spcPts val="0"/>
              </a:spcAft>
              <a:buClr>
                <a:schemeClr val="dk1"/>
              </a:buClr>
              <a:buSzPts val="2800"/>
              <a:buNone/>
            </a:pPr>
            <a:r>
              <a:rPr lang="en-US"/>
              <a:t>{AI, data, model, software, algorithm}</a:t>
            </a:r>
            <a:endParaRPr/>
          </a:p>
          <a:p>
            <a:pPr indent="0" lvl="0" marL="0" rtl="0" algn="just">
              <a:lnSpc>
                <a:spcPct val="90000"/>
              </a:lnSpc>
              <a:spcBef>
                <a:spcPts val="1000"/>
              </a:spcBef>
              <a:spcAft>
                <a:spcPts val="0"/>
              </a:spcAft>
              <a:buClr>
                <a:schemeClr val="dk1"/>
              </a:buClr>
              <a:buSzPts val="2800"/>
              <a:buNone/>
            </a:pPr>
            <a:r>
              <a:rPr lang="en-US"/>
              <a:t>LDA automatically learns these topic–word and document–topic distributions from data.</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35" name="Google Shape;535;p6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How LDA Works</a:t>
            </a:r>
            <a:endParaRPr b="1"/>
          </a:p>
        </p:txBody>
      </p:sp>
      <p:sp>
        <p:nvSpPr>
          <p:cNvPr id="541" name="Google Shape;541;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Latent Dirichlet Allocation (LDA) follows a probabilistic </a:t>
            </a:r>
            <a:r>
              <a:rPr i="1" lang="en-US"/>
              <a:t>generative process</a:t>
            </a:r>
            <a:r>
              <a:rPr lang="en-US"/>
              <a:t> to create documents.</a:t>
            </a:r>
            <a:endParaRPr/>
          </a:p>
          <a:p>
            <a:pPr indent="-228600" lvl="0" marL="228600" rtl="0" algn="just">
              <a:lnSpc>
                <a:spcPct val="90000"/>
              </a:lnSpc>
              <a:spcBef>
                <a:spcPts val="1000"/>
              </a:spcBef>
              <a:spcAft>
                <a:spcPts val="0"/>
              </a:spcAft>
              <a:buClr>
                <a:schemeClr val="dk1"/>
              </a:buClr>
              <a:buSzPts val="2800"/>
              <a:buChar char="•"/>
            </a:pPr>
            <a:r>
              <a:rPr lang="en-US"/>
              <a:t>Although we observe only the final documents, LDA assumes that each document was generated using the following hidden steps:</a:t>
            </a:r>
            <a:endParaRPr/>
          </a:p>
          <a:p>
            <a:pPr indent="-228600" lvl="0" marL="228600" rtl="0" algn="just">
              <a:lnSpc>
                <a:spcPct val="90000"/>
              </a:lnSpc>
              <a:spcBef>
                <a:spcPts val="1000"/>
              </a:spcBef>
              <a:spcAft>
                <a:spcPts val="0"/>
              </a:spcAft>
              <a:buClr>
                <a:schemeClr val="dk1"/>
              </a:buClr>
              <a:buSzPts val="2800"/>
              <a:buNone/>
            </a:pPr>
            <a:r>
              <a:rPr b="1" lang="en-US"/>
              <a:t>Step 1: Choose topic proportions for a document</a:t>
            </a:r>
            <a:endParaRPr/>
          </a:p>
          <a:p>
            <a:pPr indent="-228600" lvl="0" marL="228600" rtl="0" algn="just">
              <a:lnSpc>
                <a:spcPct val="90000"/>
              </a:lnSpc>
              <a:spcBef>
                <a:spcPts val="1000"/>
              </a:spcBef>
              <a:spcAft>
                <a:spcPts val="0"/>
              </a:spcAft>
              <a:buClr>
                <a:schemeClr val="dk1"/>
              </a:buClr>
              <a:buSzPts val="2800"/>
              <a:buChar char="•"/>
            </a:pPr>
            <a:r>
              <a:rPr lang="en-US"/>
              <a:t>Each document randomly selects how much it talks about each topic.</a:t>
            </a:r>
            <a:endParaRPr/>
          </a:p>
          <a:p>
            <a:pPr indent="-228600" lvl="0" marL="228600" rtl="0" algn="just">
              <a:lnSpc>
                <a:spcPct val="90000"/>
              </a:lnSpc>
              <a:spcBef>
                <a:spcPts val="1000"/>
              </a:spcBef>
              <a:spcAft>
                <a:spcPts val="0"/>
              </a:spcAft>
              <a:buClr>
                <a:schemeClr val="dk1"/>
              </a:buClr>
              <a:buSzPts val="2800"/>
              <a:buNone/>
            </a:pPr>
            <a:r>
              <a:rPr b="1" lang="en-US"/>
              <a:t>Example:</a:t>
            </a:r>
            <a:endParaRPr/>
          </a:p>
          <a:p>
            <a:pPr indent="-228600" lvl="0" marL="228600" rtl="0" algn="just">
              <a:lnSpc>
                <a:spcPct val="90000"/>
              </a:lnSpc>
              <a:spcBef>
                <a:spcPts val="1000"/>
              </a:spcBef>
              <a:spcAft>
                <a:spcPts val="0"/>
              </a:spcAft>
              <a:buClr>
                <a:schemeClr val="dk1"/>
              </a:buClr>
              <a:buSzPts val="2800"/>
              <a:buNone/>
            </a:pPr>
            <a:r>
              <a:rPr lang="en-US"/>
              <a:t>Document = 50% Topic A, 30% Topic B, 20% Topic C</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42" name="Google Shape;542;p6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How LDA Works</a:t>
            </a:r>
            <a:endParaRPr/>
          </a:p>
        </p:txBody>
      </p:sp>
      <p:sp>
        <p:nvSpPr>
          <p:cNvPr id="548" name="Google Shape;548;p6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None/>
            </a:pPr>
            <a:r>
              <a:rPr b="1" lang="en-US"/>
              <a:t>Step 2: Choose a topic for each word</a:t>
            </a:r>
            <a:endParaRPr/>
          </a:p>
          <a:p>
            <a:pPr indent="-228600" lvl="0" marL="228600" rtl="0" algn="just">
              <a:lnSpc>
                <a:spcPct val="90000"/>
              </a:lnSpc>
              <a:spcBef>
                <a:spcPts val="1000"/>
              </a:spcBef>
              <a:spcAft>
                <a:spcPts val="0"/>
              </a:spcAft>
              <a:buClr>
                <a:schemeClr val="dk1"/>
              </a:buClr>
              <a:buSzPct val="100000"/>
              <a:buChar char="•"/>
            </a:pPr>
            <a:r>
              <a:rPr lang="en-US"/>
              <a:t>For every word position in the document, a topic is chosen based on the document’s topic proportions.</a:t>
            </a:r>
            <a:endParaRPr/>
          </a:p>
          <a:p>
            <a:pPr indent="-228600" lvl="0" marL="228600" rtl="0" algn="just">
              <a:lnSpc>
                <a:spcPct val="90000"/>
              </a:lnSpc>
              <a:spcBef>
                <a:spcPts val="1000"/>
              </a:spcBef>
              <a:spcAft>
                <a:spcPts val="0"/>
              </a:spcAft>
              <a:buClr>
                <a:schemeClr val="dk1"/>
              </a:buClr>
              <a:buSzPct val="100000"/>
              <a:buNone/>
            </a:pPr>
            <a:r>
              <a:rPr b="1" lang="en-US"/>
              <a:t>Step 3: Choose a word from the selected topic</a:t>
            </a:r>
            <a:endParaRPr/>
          </a:p>
          <a:p>
            <a:pPr indent="-228600" lvl="0" marL="228600" rtl="0" algn="just">
              <a:lnSpc>
                <a:spcPct val="90000"/>
              </a:lnSpc>
              <a:spcBef>
                <a:spcPts val="1000"/>
              </a:spcBef>
              <a:spcAft>
                <a:spcPts val="0"/>
              </a:spcAft>
              <a:buClr>
                <a:schemeClr val="dk1"/>
              </a:buClr>
              <a:buSzPct val="100000"/>
              <a:buChar char="•"/>
            </a:pPr>
            <a:r>
              <a:rPr lang="en-US"/>
              <a:t>Once a topic is chosen, a word is sampled from that topic’s word distribution.</a:t>
            </a:r>
            <a:endParaRPr/>
          </a:p>
          <a:p>
            <a:pPr indent="-342900" lvl="0" marL="342900" rtl="0" algn="just">
              <a:lnSpc>
                <a:spcPct val="90000"/>
              </a:lnSpc>
              <a:spcBef>
                <a:spcPts val="1000"/>
              </a:spcBef>
              <a:spcAft>
                <a:spcPts val="0"/>
              </a:spcAft>
              <a:buClr>
                <a:schemeClr val="dk1"/>
              </a:buClr>
              <a:buSzPct val="100000"/>
              <a:buChar char="•"/>
            </a:pPr>
            <a:r>
              <a:rPr lang="en-US"/>
              <a:t>This process repeats for every word in every document.</a:t>
            </a:r>
            <a:endParaRPr/>
          </a:p>
          <a:p>
            <a:pPr indent="-228600" lvl="0" marL="228600" rtl="0" algn="just">
              <a:lnSpc>
                <a:spcPct val="90000"/>
              </a:lnSpc>
              <a:spcBef>
                <a:spcPts val="1000"/>
              </a:spcBef>
              <a:spcAft>
                <a:spcPts val="0"/>
              </a:spcAft>
              <a:buClr>
                <a:schemeClr val="dk1"/>
              </a:buClr>
              <a:buSzPct val="100000"/>
              <a:buChar char="•"/>
            </a:pPr>
            <a:r>
              <a:rPr lang="en-US"/>
              <a:t>During training, LDA works backwards:</a:t>
            </a:r>
            <a:endParaRPr/>
          </a:p>
          <a:p>
            <a:pPr indent="-342900" lvl="0" marL="342900" rtl="0" algn="just">
              <a:lnSpc>
                <a:spcPct val="90000"/>
              </a:lnSpc>
              <a:spcBef>
                <a:spcPts val="1000"/>
              </a:spcBef>
              <a:spcAft>
                <a:spcPts val="0"/>
              </a:spcAft>
              <a:buClr>
                <a:schemeClr val="dk1"/>
              </a:buClr>
              <a:buSzPct val="100000"/>
              <a:buChar char="•"/>
            </a:pPr>
            <a:r>
              <a:rPr lang="en-US"/>
              <a:t>Given documents, it infers the hidden topics and topic proportions that most likely produced the data.</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549" name="Google Shape;549;p6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LDA Topic Modeling </a:t>
            </a:r>
            <a:br>
              <a:rPr b="1" lang="en-US"/>
            </a:br>
            <a:r>
              <a:rPr b="1" lang="en-US"/>
              <a:t>Using Python</a:t>
            </a:r>
            <a:endParaRPr b="1"/>
          </a:p>
        </p:txBody>
      </p:sp>
      <p:sp>
        <p:nvSpPr>
          <p:cNvPr id="555" name="Google Shape;555;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90000"/>
              </a:lnSpc>
              <a:spcBef>
                <a:spcPts val="0"/>
              </a:spcBef>
              <a:spcAft>
                <a:spcPts val="0"/>
              </a:spcAft>
              <a:buClr>
                <a:schemeClr val="dk1"/>
              </a:buClr>
              <a:buSzPct val="100000"/>
              <a:buNone/>
            </a:pPr>
            <a:r>
              <a:rPr lang="en-US"/>
              <a:t>Latent Dirichlet Allocation (LDA) can be implemented in Python using scikit-learn.</a:t>
            </a:r>
            <a:endParaRPr/>
          </a:p>
          <a:p>
            <a:pPr indent="-228600" lvl="0" marL="228600" rtl="0" algn="l">
              <a:lnSpc>
                <a:spcPct val="90000"/>
              </a:lnSpc>
              <a:spcBef>
                <a:spcPts val="1000"/>
              </a:spcBef>
              <a:spcAft>
                <a:spcPts val="0"/>
              </a:spcAft>
              <a:buClr>
                <a:schemeClr val="dk1"/>
              </a:buClr>
              <a:buSzPct val="100000"/>
              <a:buNone/>
            </a:pPr>
            <a:r>
              <a:rPr b="1" lang="en-US"/>
              <a:t>Example Code:</a:t>
            </a:r>
            <a:endParaRPr/>
          </a:p>
          <a:p>
            <a:pPr indent="-228600" lvl="0" marL="228600" rtl="0" algn="l">
              <a:lnSpc>
                <a:spcPct val="90000"/>
              </a:lnSpc>
              <a:spcBef>
                <a:spcPts val="1000"/>
              </a:spcBef>
              <a:spcAft>
                <a:spcPts val="0"/>
              </a:spcAft>
              <a:buClr>
                <a:schemeClr val="dk1"/>
              </a:buClr>
              <a:buSzPct val="100000"/>
              <a:buNone/>
            </a:pPr>
            <a:r>
              <a:rPr lang="en-US">
                <a:latin typeface="Consolas"/>
                <a:ea typeface="Consolas"/>
                <a:cs typeface="Consolas"/>
                <a:sym typeface="Consolas"/>
              </a:rPr>
              <a:t>from sklearn.feature_extraction.text import CountVectorizer</a:t>
            </a:r>
            <a:br>
              <a:rPr lang="en-US">
                <a:latin typeface="Consolas"/>
                <a:ea typeface="Consolas"/>
                <a:cs typeface="Consolas"/>
                <a:sym typeface="Consolas"/>
              </a:rPr>
            </a:br>
            <a:r>
              <a:rPr lang="en-US">
                <a:latin typeface="Consolas"/>
                <a:ea typeface="Consolas"/>
                <a:cs typeface="Consolas"/>
                <a:sym typeface="Consolas"/>
              </a:rPr>
              <a:t>from sklearn.decomposition import LatentDirichletAllocation</a:t>
            </a:r>
            <a:br>
              <a:rPr lang="en-US">
                <a:latin typeface="Consolas"/>
                <a:ea typeface="Consolas"/>
                <a:cs typeface="Consolas"/>
                <a:sym typeface="Consolas"/>
              </a:rPr>
            </a:br>
            <a:br>
              <a:rPr lang="en-US">
                <a:latin typeface="Consolas"/>
                <a:ea typeface="Consolas"/>
                <a:cs typeface="Consolas"/>
                <a:sym typeface="Consolas"/>
              </a:rPr>
            </a:br>
            <a:r>
              <a:rPr lang="en-US">
                <a:latin typeface="Consolas"/>
                <a:ea typeface="Consolas"/>
                <a:cs typeface="Consolas"/>
                <a:sym typeface="Consolas"/>
              </a:rPr>
              <a:t>documents = [</a:t>
            </a:r>
            <a:br>
              <a:rPr lang="en-US">
                <a:latin typeface="Consolas"/>
                <a:ea typeface="Consolas"/>
                <a:cs typeface="Consolas"/>
                <a:sym typeface="Consolas"/>
              </a:rPr>
            </a:br>
            <a:r>
              <a:rPr lang="en-US">
                <a:latin typeface="Consolas"/>
                <a:ea typeface="Consolas"/>
                <a:cs typeface="Consolas"/>
                <a:sym typeface="Consolas"/>
              </a:rPr>
              <a:t>    "I love machine learning and NLP",</a:t>
            </a:r>
            <a:br>
              <a:rPr lang="en-US">
                <a:latin typeface="Consolas"/>
                <a:ea typeface="Consolas"/>
                <a:cs typeface="Consolas"/>
                <a:sym typeface="Consolas"/>
              </a:rPr>
            </a:br>
            <a:r>
              <a:rPr lang="en-US">
                <a:latin typeface="Consolas"/>
                <a:ea typeface="Consolas"/>
                <a:cs typeface="Consolas"/>
                <a:sym typeface="Consolas"/>
              </a:rPr>
              <a:t>    "AI and deep learning are powerful",</a:t>
            </a:r>
            <a:br>
              <a:rPr lang="en-US">
                <a:latin typeface="Consolas"/>
                <a:ea typeface="Consolas"/>
                <a:cs typeface="Consolas"/>
                <a:sym typeface="Consolas"/>
              </a:rPr>
            </a:br>
            <a:r>
              <a:rPr lang="en-US">
                <a:latin typeface="Consolas"/>
                <a:ea typeface="Consolas"/>
                <a:cs typeface="Consolas"/>
                <a:sym typeface="Consolas"/>
              </a:rPr>
              <a:t>    "Politics and elections dominate news",</a:t>
            </a:r>
            <a:br>
              <a:rPr lang="en-US">
                <a:latin typeface="Consolas"/>
                <a:ea typeface="Consolas"/>
                <a:cs typeface="Consolas"/>
                <a:sym typeface="Consolas"/>
              </a:rPr>
            </a:br>
            <a:r>
              <a:rPr lang="en-US">
                <a:latin typeface="Consolas"/>
                <a:ea typeface="Consolas"/>
                <a:cs typeface="Consolas"/>
                <a:sym typeface="Consolas"/>
              </a:rPr>
              <a:t>    "Government announces new policy",</a:t>
            </a:r>
            <a:br>
              <a:rPr lang="en-US">
                <a:latin typeface="Consolas"/>
                <a:ea typeface="Consolas"/>
                <a:cs typeface="Consolas"/>
                <a:sym typeface="Consolas"/>
              </a:rPr>
            </a:br>
            <a:r>
              <a:rPr lang="en-US">
                <a:latin typeface="Consolas"/>
                <a:ea typeface="Consolas"/>
                <a:cs typeface="Consolas"/>
                <a:sym typeface="Consolas"/>
              </a:rPr>
              <a:t>    "Football match was exciting"</a:t>
            </a:r>
            <a:br>
              <a:rPr lang="en-US">
                <a:latin typeface="Consolas"/>
                <a:ea typeface="Consolas"/>
                <a:cs typeface="Consolas"/>
                <a:sym typeface="Consolas"/>
              </a:rPr>
            </a:br>
            <a:r>
              <a:rPr lang="en-US">
                <a:latin typeface="Consolas"/>
                <a:ea typeface="Consolas"/>
                <a:cs typeface="Consolas"/>
                <a:sym typeface="Consolas"/>
              </a:rPr>
              <a:t>]</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556" name="Google Shape;556;p6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LDA Topic Modeling </a:t>
            </a:r>
            <a:br>
              <a:rPr b="1" lang="en-US"/>
            </a:br>
            <a:r>
              <a:rPr b="1" lang="en-US"/>
              <a:t>Using Python</a:t>
            </a:r>
            <a:endParaRPr/>
          </a:p>
        </p:txBody>
      </p:sp>
      <p:sp>
        <p:nvSpPr>
          <p:cNvPr id="562" name="Google Shape;562;p6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None/>
            </a:pPr>
            <a:r>
              <a:rPr lang="en-US"/>
              <a:t># Step 1: Convert text to Bag of Words</a:t>
            </a:r>
            <a:endParaRPr/>
          </a:p>
          <a:p>
            <a:pPr indent="-228600" lvl="0" marL="228600" rtl="0" algn="l">
              <a:lnSpc>
                <a:spcPct val="90000"/>
              </a:lnSpc>
              <a:spcBef>
                <a:spcPts val="1000"/>
              </a:spcBef>
              <a:spcAft>
                <a:spcPts val="0"/>
              </a:spcAft>
              <a:buClr>
                <a:schemeClr val="dk1"/>
              </a:buClr>
              <a:buSzPct val="100000"/>
              <a:buNone/>
            </a:pPr>
            <a:r>
              <a:rPr lang="en-US"/>
              <a:t>vectorizer = CountVectorizer(stop_words='english')</a:t>
            </a:r>
            <a:endParaRPr/>
          </a:p>
          <a:p>
            <a:pPr indent="-228600" lvl="0" marL="228600" rtl="0" algn="l">
              <a:lnSpc>
                <a:spcPct val="90000"/>
              </a:lnSpc>
              <a:spcBef>
                <a:spcPts val="1000"/>
              </a:spcBef>
              <a:spcAft>
                <a:spcPts val="0"/>
              </a:spcAft>
              <a:buClr>
                <a:schemeClr val="dk1"/>
              </a:buClr>
              <a:buSzPct val="100000"/>
              <a:buNone/>
            </a:pPr>
            <a:r>
              <a:rPr lang="en-US"/>
              <a:t>X = vectorizer.fit_transform(documents)</a:t>
            </a:r>
            <a:endParaRPr/>
          </a:p>
          <a:p>
            <a:pPr indent="-22860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None/>
            </a:pPr>
            <a:r>
              <a:rPr lang="en-US"/>
              <a:t># Step 2: Train LDA model</a:t>
            </a:r>
            <a:endParaRPr/>
          </a:p>
          <a:p>
            <a:pPr indent="-228600" lvl="0" marL="228600" rtl="0" algn="l">
              <a:lnSpc>
                <a:spcPct val="90000"/>
              </a:lnSpc>
              <a:spcBef>
                <a:spcPts val="1000"/>
              </a:spcBef>
              <a:spcAft>
                <a:spcPts val="0"/>
              </a:spcAft>
              <a:buClr>
                <a:schemeClr val="dk1"/>
              </a:buClr>
              <a:buSzPct val="100000"/>
              <a:buNone/>
            </a:pPr>
            <a:r>
              <a:rPr lang="en-US"/>
              <a:t>lda = LatentDirichletAllocation(n_components=2, random_state=42)</a:t>
            </a:r>
            <a:endParaRPr/>
          </a:p>
          <a:p>
            <a:pPr indent="-228600" lvl="0" marL="228600" rtl="0" algn="l">
              <a:lnSpc>
                <a:spcPct val="90000"/>
              </a:lnSpc>
              <a:spcBef>
                <a:spcPts val="1000"/>
              </a:spcBef>
              <a:spcAft>
                <a:spcPts val="0"/>
              </a:spcAft>
              <a:buClr>
                <a:schemeClr val="dk1"/>
              </a:buClr>
              <a:buSzPct val="100000"/>
              <a:buNone/>
            </a:pPr>
            <a:r>
              <a:rPr lang="en-US"/>
              <a:t>lda.fit(X)</a:t>
            </a:r>
            <a:endParaRPr/>
          </a:p>
          <a:p>
            <a:pPr indent="-22860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print("LDA Model Trained Successfully")</a:t>
            </a:r>
            <a:endParaRPr/>
          </a:p>
        </p:txBody>
      </p:sp>
      <p:pic>
        <p:nvPicPr>
          <p:cNvPr descr="A blue and white logo&#10;&#10;AI-generated content may be incorrect." id="563" name="Google Shape;563;p6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LDA Topic Modeling </a:t>
            </a:r>
            <a:br>
              <a:rPr b="1" lang="en-US"/>
            </a:br>
            <a:r>
              <a:rPr b="1" lang="en-US"/>
              <a:t>Using Python</a:t>
            </a:r>
            <a:endParaRPr/>
          </a:p>
        </p:txBody>
      </p:sp>
      <p:sp>
        <p:nvSpPr>
          <p:cNvPr id="569" name="Google Shape;569;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This code:</a:t>
            </a:r>
            <a:endParaRPr/>
          </a:p>
          <a:p>
            <a:pPr indent="-228600" lvl="0" marL="228600" rtl="0" algn="just">
              <a:lnSpc>
                <a:spcPct val="90000"/>
              </a:lnSpc>
              <a:spcBef>
                <a:spcPts val="1000"/>
              </a:spcBef>
              <a:spcAft>
                <a:spcPts val="0"/>
              </a:spcAft>
              <a:buClr>
                <a:schemeClr val="dk1"/>
              </a:buClr>
              <a:buSzPts val="2800"/>
              <a:buChar char="•"/>
            </a:pPr>
            <a:r>
              <a:rPr lang="en-US"/>
              <a:t>Converts text into Bag of Words</a:t>
            </a:r>
            <a:endParaRPr/>
          </a:p>
          <a:p>
            <a:pPr indent="-228600" lvl="0" marL="228600" rtl="0" algn="just">
              <a:lnSpc>
                <a:spcPct val="90000"/>
              </a:lnSpc>
              <a:spcBef>
                <a:spcPts val="1000"/>
              </a:spcBef>
              <a:spcAft>
                <a:spcPts val="0"/>
              </a:spcAft>
              <a:buClr>
                <a:schemeClr val="dk1"/>
              </a:buClr>
              <a:buSzPts val="2800"/>
              <a:buChar char="•"/>
            </a:pPr>
            <a:r>
              <a:rPr lang="en-US"/>
              <a:t>Builds a document–term matrix</a:t>
            </a:r>
            <a:endParaRPr/>
          </a:p>
          <a:p>
            <a:pPr indent="-228600" lvl="0" marL="228600" rtl="0" algn="just">
              <a:lnSpc>
                <a:spcPct val="90000"/>
              </a:lnSpc>
              <a:spcBef>
                <a:spcPts val="1000"/>
              </a:spcBef>
              <a:spcAft>
                <a:spcPts val="0"/>
              </a:spcAft>
              <a:buClr>
                <a:schemeClr val="dk1"/>
              </a:buClr>
              <a:buSzPts val="2800"/>
              <a:buChar char="•"/>
            </a:pPr>
            <a:r>
              <a:rPr lang="en-US"/>
              <a:t>Trains an LDA model with 2 topics</a:t>
            </a:r>
            <a:endParaRPr/>
          </a:p>
          <a:p>
            <a:pPr indent="-228600" lvl="0" marL="228600" rtl="0" algn="just">
              <a:lnSpc>
                <a:spcPct val="90000"/>
              </a:lnSpc>
              <a:spcBef>
                <a:spcPts val="1000"/>
              </a:spcBef>
              <a:spcAft>
                <a:spcPts val="0"/>
              </a:spcAft>
              <a:buClr>
                <a:schemeClr val="dk1"/>
              </a:buClr>
              <a:buSzPts val="2800"/>
              <a:buChar char="•"/>
            </a:pPr>
            <a:r>
              <a:rPr lang="en-US"/>
              <a:t>Learns hidden topic structures from documents</a:t>
            </a:r>
            <a:endParaRPr/>
          </a:p>
          <a:p>
            <a:pPr indent="-228600" lvl="0" marL="228600" rtl="0" algn="just">
              <a:lnSpc>
                <a:spcPct val="90000"/>
              </a:lnSpc>
              <a:spcBef>
                <a:spcPts val="1000"/>
              </a:spcBef>
              <a:spcAft>
                <a:spcPts val="0"/>
              </a:spcAft>
              <a:buClr>
                <a:schemeClr val="dk1"/>
              </a:buClr>
              <a:buSzPts val="2800"/>
              <a:buNone/>
            </a:pPr>
            <a:r>
              <a:rPr lang="en-US"/>
              <a:t>LDA automatically discovers topics without any labeled data.</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70" name="Google Shape;570;p7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Extracting and Interpreting </a:t>
            </a:r>
            <a:br>
              <a:rPr b="1" lang="en-US"/>
            </a:br>
            <a:r>
              <a:rPr b="1" lang="en-US"/>
              <a:t>Topics from LDA</a:t>
            </a:r>
            <a:endParaRPr b="1"/>
          </a:p>
        </p:txBody>
      </p:sp>
      <p:sp>
        <p:nvSpPr>
          <p:cNvPr id="576" name="Google Shape;576;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After training the LDA model, we can extract the most important words for each topic.</a:t>
            </a:r>
            <a:endParaRPr/>
          </a:p>
          <a:p>
            <a:pPr indent="-228600" lvl="0" marL="228600" rtl="0" algn="l">
              <a:lnSpc>
                <a:spcPct val="90000"/>
              </a:lnSpc>
              <a:spcBef>
                <a:spcPts val="1000"/>
              </a:spcBef>
              <a:spcAft>
                <a:spcPts val="0"/>
              </a:spcAft>
              <a:buClr>
                <a:schemeClr val="dk1"/>
              </a:buClr>
              <a:buSzPct val="100000"/>
              <a:buNone/>
            </a:pPr>
            <a:r>
              <a:rPr b="1" lang="en-US"/>
              <a:t>Example Code:</a:t>
            </a:r>
            <a:endParaRPr/>
          </a:p>
          <a:p>
            <a:pPr indent="-228600" lvl="0" marL="228600" rtl="0" algn="l">
              <a:lnSpc>
                <a:spcPct val="90000"/>
              </a:lnSpc>
              <a:spcBef>
                <a:spcPts val="1000"/>
              </a:spcBef>
              <a:spcAft>
                <a:spcPts val="0"/>
              </a:spcAft>
              <a:buClr>
                <a:schemeClr val="dk1"/>
              </a:buClr>
              <a:buSzPct val="100000"/>
              <a:buNone/>
            </a:pPr>
            <a:r>
              <a:rPr lang="en-US">
                <a:latin typeface="Consolas"/>
                <a:ea typeface="Consolas"/>
                <a:cs typeface="Consolas"/>
                <a:sym typeface="Consolas"/>
              </a:rPr>
              <a:t>import numpy as np</a:t>
            </a:r>
            <a:br>
              <a:rPr lang="en-US">
                <a:latin typeface="Consolas"/>
                <a:ea typeface="Consolas"/>
                <a:cs typeface="Consolas"/>
                <a:sym typeface="Consolas"/>
              </a:rPr>
            </a:br>
            <a:br>
              <a:rPr lang="en-US">
                <a:latin typeface="Consolas"/>
                <a:ea typeface="Consolas"/>
                <a:cs typeface="Consolas"/>
                <a:sym typeface="Consolas"/>
              </a:rPr>
            </a:br>
            <a:r>
              <a:rPr lang="en-US">
                <a:latin typeface="Consolas"/>
                <a:ea typeface="Consolas"/>
                <a:cs typeface="Consolas"/>
                <a:sym typeface="Consolas"/>
              </a:rPr>
              <a:t>feature_names = vectorizer.get_feature_names_out()</a:t>
            </a:r>
            <a:br>
              <a:rPr lang="en-US">
                <a:latin typeface="Consolas"/>
                <a:ea typeface="Consolas"/>
                <a:cs typeface="Consolas"/>
                <a:sym typeface="Consolas"/>
              </a:rPr>
            </a:br>
            <a:br>
              <a:rPr lang="en-US">
                <a:latin typeface="Consolas"/>
                <a:ea typeface="Consolas"/>
                <a:cs typeface="Consolas"/>
                <a:sym typeface="Consolas"/>
              </a:rPr>
            </a:br>
            <a:r>
              <a:rPr lang="en-US">
                <a:latin typeface="Consolas"/>
                <a:ea typeface="Consolas"/>
                <a:cs typeface="Consolas"/>
                <a:sym typeface="Consolas"/>
              </a:rPr>
              <a:t>for topic_idx, topic in enumerate(lda.components_):</a:t>
            </a:r>
            <a:br>
              <a:rPr lang="en-US">
                <a:latin typeface="Consolas"/>
                <a:ea typeface="Consolas"/>
                <a:cs typeface="Consolas"/>
                <a:sym typeface="Consolas"/>
              </a:rPr>
            </a:br>
            <a:r>
              <a:rPr lang="en-US">
                <a:latin typeface="Consolas"/>
                <a:ea typeface="Consolas"/>
                <a:cs typeface="Consolas"/>
                <a:sym typeface="Consolas"/>
              </a:rPr>
              <a:t>    print(f"\nTopic {topic_idx}:")</a:t>
            </a:r>
            <a:br>
              <a:rPr lang="en-US">
                <a:latin typeface="Consolas"/>
                <a:ea typeface="Consolas"/>
                <a:cs typeface="Consolas"/>
                <a:sym typeface="Consolas"/>
              </a:rPr>
            </a:br>
            <a:r>
              <a:rPr lang="en-US">
                <a:latin typeface="Consolas"/>
                <a:ea typeface="Consolas"/>
                <a:cs typeface="Consolas"/>
                <a:sym typeface="Consolas"/>
              </a:rPr>
              <a:t>    top_words = topic.argsort()[-5:]</a:t>
            </a:r>
            <a:br>
              <a:rPr lang="en-US">
                <a:latin typeface="Consolas"/>
                <a:ea typeface="Consolas"/>
                <a:cs typeface="Consolas"/>
                <a:sym typeface="Consolas"/>
              </a:rPr>
            </a:br>
            <a:r>
              <a:rPr lang="en-US">
                <a:latin typeface="Consolas"/>
                <a:ea typeface="Consolas"/>
                <a:cs typeface="Consolas"/>
                <a:sym typeface="Consolas"/>
              </a:rPr>
              <a:t>    print([feature_names[i] for i in top_words])</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577" name="Google Shape;577;p7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Extracting and Interpreting </a:t>
            </a:r>
            <a:br>
              <a:rPr b="1" lang="en-US"/>
            </a:br>
            <a:r>
              <a:rPr b="1" lang="en-US"/>
              <a:t>Topics from LDA</a:t>
            </a:r>
            <a:endParaRPr/>
          </a:p>
        </p:txBody>
      </p:sp>
      <p:sp>
        <p:nvSpPr>
          <p:cNvPr id="583" name="Google Shape;583;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None/>
            </a:pPr>
            <a:r>
              <a:rPr b="1" lang="en-US"/>
              <a:t>Sample Output:</a:t>
            </a:r>
            <a:endParaRPr/>
          </a:p>
          <a:p>
            <a:pPr indent="-228600" lvl="0" marL="228600" rtl="0" algn="just">
              <a:lnSpc>
                <a:spcPct val="90000"/>
              </a:lnSpc>
              <a:spcBef>
                <a:spcPts val="1000"/>
              </a:spcBef>
              <a:spcAft>
                <a:spcPts val="0"/>
              </a:spcAft>
              <a:buClr>
                <a:schemeClr val="dk1"/>
              </a:buClr>
              <a:buSzPts val="2800"/>
              <a:buNone/>
            </a:pPr>
            <a:r>
              <a:rPr b="1" lang="en-US"/>
              <a:t>Topic 0:</a:t>
            </a:r>
            <a:r>
              <a:rPr lang="en-US"/>
              <a:t> ['learning', 'nlp', 'machine', 'ai', 'deep']</a:t>
            </a:r>
            <a:endParaRPr/>
          </a:p>
          <a:p>
            <a:pPr indent="-228600" lvl="0" marL="228600" rtl="0" algn="just">
              <a:lnSpc>
                <a:spcPct val="90000"/>
              </a:lnSpc>
              <a:spcBef>
                <a:spcPts val="1000"/>
              </a:spcBef>
              <a:spcAft>
                <a:spcPts val="0"/>
              </a:spcAft>
              <a:buClr>
                <a:schemeClr val="dk1"/>
              </a:buClr>
              <a:buSzPts val="2800"/>
              <a:buNone/>
            </a:pPr>
            <a:r>
              <a:rPr b="1" lang="en-US"/>
              <a:t>Topic 1: </a:t>
            </a:r>
            <a:r>
              <a:rPr lang="en-US"/>
              <a:t>['government', 'policy', 'politics', 'elections', 'news']</a:t>
            </a:r>
            <a:endParaRPr/>
          </a:p>
          <a:p>
            <a:pPr indent="-228600" lvl="0" marL="228600" rtl="0" algn="just">
              <a:lnSpc>
                <a:spcPct val="90000"/>
              </a:lnSpc>
              <a:spcBef>
                <a:spcPts val="1000"/>
              </a:spcBef>
              <a:spcAft>
                <a:spcPts val="0"/>
              </a:spcAft>
              <a:buClr>
                <a:schemeClr val="dk1"/>
              </a:buClr>
              <a:buSzPts val="2800"/>
              <a:buNone/>
            </a:pPr>
            <a:r>
              <a:rPr lang="en-US"/>
              <a:t>Each topic is represented by a list of high-probability words.</a:t>
            </a:r>
            <a:endParaRPr/>
          </a:p>
          <a:p>
            <a:pPr indent="0" lvl="0" marL="0" rtl="0" algn="just">
              <a:lnSpc>
                <a:spcPct val="90000"/>
              </a:lnSpc>
              <a:spcBef>
                <a:spcPts val="1000"/>
              </a:spcBef>
              <a:spcAft>
                <a:spcPts val="0"/>
              </a:spcAft>
              <a:buClr>
                <a:schemeClr val="dk1"/>
              </a:buClr>
              <a:buSzPts val="2800"/>
              <a:buNone/>
            </a:pPr>
            <a:r>
              <a:rPr lang="en-US"/>
              <a:t>Humans interpret these word groups and assign topic labels such as:</a:t>
            </a:r>
            <a:endParaRPr/>
          </a:p>
          <a:p>
            <a:pPr indent="-228600" lvl="0" marL="228600" rtl="0" algn="just">
              <a:lnSpc>
                <a:spcPct val="90000"/>
              </a:lnSpc>
              <a:spcBef>
                <a:spcPts val="1000"/>
              </a:spcBef>
              <a:spcAft>
                <a:spcPts val="0"/>
              </a:spcAft>
              <a:buClr>
                <a:schemeClr val="dk1"/>
              </a:buClr>
              <a:buSzPts val="2800"/>
              <a:buNone/>
            </a:pPr>
            <a:r>
              <a:rPr b="1" lang="en-US"/>
              <a:t>Topic 0 →</a:t>
            </a:r>
            <a:r>
              <a:rPr lang="en-US"/>
              <a:t> Technology</a:t>
            </a:r>
            <a:endParaRPr/>
          </a:p>
          <a:p>
            <a:pPr indent="-228600" lvl="0" marL="228600" rtl="0" algn="just">
              <a:lnSpc>
                <a:spcPct val="90000"/>
              </a:lnSpc>
              <a:spcBef>
                <a:spcPts val="1000"/>
              </a:spcBef>
              <a:spcAft>
                <a:spcPts val="0"/>
              </a:spcAft>
              <a:buClr>
                <a:schemeClr val="dk1"/>
              </a:buClr>
              <a:buSzPts val="2800"/>
              <a:buNone/>
            </a:pPr>
            <a:r>
              <a:rPr b="1" lang="en-US"/>
              <a:t>Topic 1 →</a:t>
            </a:r>
            <a:r>
              <a:rPr lang="en-US"/>
              <a:t> Politics</a:t>
            </a:r>
            <a:endParaRPr/>
          </a:p>
          <a:p>
            <a:pPr indent="-228600" lvl="0" marL="228600" rtl="0" algn="just">
              <a:lnSpc>
                <a:spcPct val="90000"/>
              </a:lnSpc>
              <a:spcBef>
                <a:spcPts val="1000"/>
              </a:spcBef>
              <a:spcAft>
                <a:spcPts val="0"/>
              </a:spcAft>
              <a:buClr>
                <a:schemeClr val="dk1"/>
              </a:buClr>
              <a:buSzPts val="2800"/>
              <a:buNone/>
            </a:pPr>
            <a:r>
              <a:rPr lang="en-US"/>
              <a:t>LDA does not provide topic names — only word distributions.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84" name="Google Shape;584;p7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Document – Topic Distribution in LDA</a:t>
            </a:r>
            <a:endParaRPr b="1"/>
          </a:p>
        </p:txBody>
      </p:sp>
      <p:sp>
        <p:nvSpPr>
          <p:cNvPr id="590" name="Google Shape;590;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addition to topic–word distributions, LDA also provides </a:t>
            </a:r>
            <a:r>
              <a:rPr b="1" lang="en-US"/>
              <a:t>document–topic distributions</a:t>
            </a:r>
            <a:r>
              <a:rPr lang="en-US"/>
              <a:t>, which indicate how much each document belongs to each topic.</a:t>
            </a:r>
            <a:endParaRPr/>
          </a:p>
          <a:p>
            <a:pPr indent="-228600" lvl="0" marL="228600" rtl="0" algn="l">
              <a:lnSpc>
                <a:spcPct val="90000"/>
              </a:lnSpc>
              <a:spcBef>
                <a:spcPts val="1000"/>
              </a:spcBef>
              <a:spcAft>
                <a:spcPts val="0"/>
              </a:spcAft>
              <a:buClr>
                <a:schemeClr val="dk1"/>
              </a:buClr>
              <a:buSzPts val="2800"/>
              <a:buChar char="•"/>
            </a:pPr>
            <a:r>
              <a:rPr lang="en-US"/>
              <a:t>Each document is represented as a probability vector over all topics.</a:t>
            </a:r>
            <a:endParaRPr/>
          </a:p>
          <a:p>
            <a:pPr indent="-228600" lvl="0" marL="228600" rtl="0" algn="l">
              <a:lnSpc>
                <a:spcPct val="90000"/>
              </a:lnSpc>
              <a:spcBef>
                <a:spcPts val="1000"/>
              </a:spcBef>
              <a:spcAft>
                <a:spcPts val="0"/>
              </a:spcAft>
              <a:buClr>
                <a:schemeClr val="dk1"/>
              </a:buClr>
              <a:buSzPts val="2800"/>
              <a:buNone/>
            </a:pPr>
            <a:r>
              <a:rPr b="1" lang="en-US"/>
              <a:t>Example Code:</a:t>
            </a:r>
            <a:endParaRPr/>
          </a:p>
          <a:p>
            <a:pPr indent="-228600" lvl="0" marL="228600" rtl="0" algn="l">
              <a:lnSpc>
                <a:spcPct val="90000"/>
              </a:lnSpc>
              <a:spcBef>
                <a:spcPts val="1000"/>
              </a:spcBef>
              <a:spcAft>
                <a:spcPts val="0"/>
              </a:spcAft>
              <a:buClr>
                <a:schemeClr val="dk1"/>
              </a:buClr>
              <a:buSzPts val="2800"/>
              <a:buNone/>
            </a:pPr>
            <a:r>
              <a:rPr lang="en-US">
                <a:latin typeface="Consolas"/>
                <a:ea typeface="Consolas"/>
                <a:cs typeface="Consolas"/>
                <a:sym typeface="Consolas"/>
              </a:rPr>
              <a:t>doc_topics = lda.transform(X)</a:t>
            </a:r>
            <a:br>
              <a:rPr lang="en-US">
                <a:latin typeface="Consolas"/>
                <a:ea typeface="Consolas"/>
                <a:cs typeface="Consolas"/>
                <a:sym typeface="Consolas"/>
              </a:rPr>
            </a:br>
            <a:br>
              <a:rPr lang="en-US">
                <a:latin typeface="Consolas"/>
                <a:ea typeface="Consolas"/>
                <a:cs typeface="Consolas"/>
                <a:sym typeface="Consolas"/>
              </a:rPr>
            </a:br>
            <a:r>
              <a:rPr lang="en-US">
                <a:latin typeface="Consolas"/>
                <a:ea typeface="Consolas"/>
                <a:cs typeface="Consolas"/>
                <a:sym typeface="Consolas"/>
              </a:rPr>
              <a:t>print(doc_topics)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91" name="Google Shape;591;p7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Document – Topic Distribution in LDA</a:t>
            </a:r>
            <a:endParaRPr/>
          </a:p>
        </p:txBody>
      </p:sp>
      <p:sp>
        <p:nvSpPr>
          <p:cNvPr id="597" name="Google Shape;597;p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Sample Output:</a:t>
            </a:r>
            <a:endParaRPr/>
          </a:p>
          <a:p>
            <a:pPr indent="-228600" lvl="0" marL="228600" rtl="0" algn="l">
              <a:lnSpc>
                <a:spcPct val="90000"/>
              </a:lnSpc>
              <a:spcBef>
                <a:spcPts val="1000"/>
              </a:spcBef>
              <a:spcAft>
                <a:spcPts val="0"/>
              </a:spcAft>
              <a:buClr>
                <a:schemeClr val="dk1"/>
              </a:buClr>
              <a:buSzPts val="2800"/>
              <a:buNone/>
            </a:pPr>
            <a:r>
              <a:rPr lang="en-US">
                <a:latin typeface="Consolas"/>
                <a:ea typeface="Consolas"/>
                <a:cs typeface="Consolas"/>
                <a:sym typeface="Consolas"/>
              </a:rPr>
              <a:t>[[0.85 0.15]</a:t>
            </a:r>
            <a:br>
              <a:rPr lang="en-US">
                <a:latin typeface="Consolas"/>
                <a:ea typeface="Consolas"/>
                <a:cs typeface="Consolas"/>
                <a:sym typeface="Consolas"/>
              </a:rPr>
            </a:br>
            <a:r>
              <a:rPr lang="en-US">
                <a:latin typeface="Consolas"/>
                <a:ea typeface="Consolas"/>
                <a:cs typeface="Consolas"/>
                <a:sym typeface="Consolas"/>
              </a:rPr>
              <a:t> [0.90 0.10]</a:t>
            </a:r>
            <a:br>
              <a:rPr lang="en-US">
                <a:latin typeface="Consolas"/>
                <a:ea typeface="Consolas"/>
                <a:cs typeface="Consolas"/>
                <a:sym typeface="Consolas"/>
              </a:rPr>
            </a:br>
            <a:r>
              <a:rPr lang="en-US">
                <a:latin typeface="Consolas"/>
                <a:ea typeface="Consolas"/>
                <a:cs typeface="Consolas"/>
                <a:sym typeface="Consolas"/>
              </a:rPr>
              <a:t> [0.20 0.80]</a:t>
            </a:r>
            <a:br>
              <a:rPr lang="en-US">
                <a:latin typeface="Consolas"/>
                <a:ea typeface="Consolas"/>
                <a:cs typeface="Consolas"/>
                <a:sym typeface="Consolas"/>
              </a:rPr>
            </a:br>
            <a:r>
              <a:rPr lang="en-US">
                <a:latin typeface="Consolas"/>
                <a:ea typeface="Consolas"/>
                <a:cs typeface="Consolas"/>
                <a:sym typeface="Consolas"/>
              </a:rPr>
              <a:t> [0.10 0.90]</a:t>
            </a:r>
            <a:br>
              <a:rPr lang="en-US">
                <a:latin typeface="Consolas"/>
                <a:ea typeface="Consolas"/>
                <a:cs typeface="Consolas"/>
                <a:sym typeface="Consolas"/>
              </a:rPr>
            </a:br>
            <a:r>
              <a:rPr lang="en-US">
                <a:latin typeface="Consolas"/>
                <a:ea typeface="Consolas"/>
                <a:cs typeface="Consolas"/>
                <a:sym typeface="Consolas"/>
              </a:rPr>
              <a:t> [0.75 0.25]]</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598" name="Google Shape;598;p7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Document – Topic Distribution in LDA</a:t>
            </a:r>
            <a:endParaRPr/>
          </a:p>
        </p:txBody>
      </p:sp>
      <p:sp>
        <p:nvSpPr>
          <p:cNvPr id="604" name="Google Shape;604;p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None/>
            </a:pPr>
            <a:r>
              <a:rPr b="1" lang="en-US"/>
              <a:t>Interpretation:</a:t>
            </a:r>
            <a:endParaRPr/>
          </a:p>
          <a:p>
            <a:pPr indent="-228600" lvl="0" marL="228600" rtl="0" algn="just">
              <a:lnSpc>
                <a:spcPct val="90000"/>
              </a:lnSpc>
              <a:spcBef>
                <a:spcPts val="1000"/>
              </a:spcBef>
              <a:spcAft>
                <a:spcPts val="0"/>
              </a:spcAft>
              <a:buClr>
                <a:schemeClr val="dk1"/>
              </a:buClr>
              <a:buSzPts val="2800"/>
              <a:buChar char="•"/>
            </a:pPr>
            <a:r>
              <a:rPr lang="en-US"/>
              <a:t>Each row represents one document</a:t>
            </a:r>
            <a:endParaRPr/>
          </a:p>
          <a:p>
            <a:pPr indent="-228600" lvl="0" marL="228600" rtl="0" algn="just">
              <a:lnSpc>
                <a:spcPct val="90000"/>
              </a:lnSpc>
              <a:spcBef>
                <a:spcPts val="1000"/>
              </a:spcBef>
              <a:spcAft>
                <a:spcPts val="0"/>
              </a:spcAft>
              <a:buClr>
                <a:schemeClr val="dk1"/>
              </a:buClr>
              <a:buSzPts val="2800"/>
              <a:buChar char="•"/>
            </a:pPr>
            <a:r>
              <a:rPr lang="en-US"/>
              <a:t>Each column represents a topic</a:t>
            </a:r>
            <a:endParaRPr/>
          </a:p>
          <a:p>
            <a:pPr indent="-228600" lvl="0" marL="228600" rtl="0" algn="just">
              <a:lnSpc>
                <a:spcPct val="90000"/>
              </a:lnSpc>
              <a:spcBef>
                <a:spcPts val="1000"/>
              </a:spcBef>
              <a:spcAft>
                <a:spcPts val="0"/>
              </a:spcAft>
              <a:buClr>
                <a:schemeClr val="dk1"/>
              </a:buClr>
              <a:buSzPts val="2800"/>
              <a:buChar char="•"/>
            </a:pPr>
            <a:r>
              <a:rPr lang="en-US"/>
              <a:t>Values indicate topic proportions</a:t>
            </a:r>
            <a:endParaRPr/>
          </a:p>
          <a:p>
            <a:pPr indent="-228600" lvl="0" marL="228600" rtl="0" algn="just">
              <a:lnSpc>
                <a:spcPct val="90000"/>
              </a:lnSpc>
              <a:spcBef>
                <a:spcPts val="1000"/>
              </a:spcBef>
              <a:spcAft>
                <a:spcPts val="0"/>
              </a:spcAft>
              <a:buClr>
                <a:schemeClr val="dk1"/>
              </a:buClr>
              <a:buSzPts val="2800"/>
              <a:buNone/>
            </a:pPr>
            <a:r>
              <a:rPr b="1" lang="en-US"/>
              <a:t>For example:</a:t>
            </a:r>
            <a:endParaRPr b="1"/>
          </a:p>
          <a:p>
            <a:pPr indent="-228600" lvl="0" marL="228600" rtl="0" algn="just">
              <a:lnSpc>
                <a:spcPct val="90000"/>
              </a:lnSpc>
              <a:spcBef>
                <a:spcPts val="1000"/>
              </a:spcBef>
              <a:spcAft>
                <a:spcPts val="0"/>
              </a:spcAft>
              <a:buClr>
                <a:schemeClr val="dk1"/>
              </a:buClr>
              <a:buSzPts val="2800"/>
              <a:buNone/>
            </a:pPr>
            <a:r>
              <a:rPr b="1" lang="en-US"/>
              <a:t>Document 1 →</a:t>
            </a:r>
            <a:r>
              <a:rPr lang="en-US"/>
              <a:t> 85% Topic 0, 15% Topic 1</a:t>
            </a:r>
            <a:endParaRPr/>
          </a:p>
          <a:p>
            <a:pPr indent="-228600" lvl="0" marL="228600" rtl="0" algn="just">
              <a:lnSpc>
                <a:spcPct val="90000"/>
              </a:lnSpc>
              <a:spcBef>
                <a:spcPts val="1000"/>
              </a:spcBef>
              <a:spcAft>
                <a:spcPts val="0"/>
              </a:spcAft>
              <a:buClr>
                <a:schemeClr val="dk1"/>
              </a:buClr>
              <a:buSzPts val="2800"/>
              <a:buNone/>
            </a:pPr>
            <a:r>
              <a:rPr b="1" lang="en-US"/>
              <a:t>Document 3 →</a:t>
            </a:r>
            <a:r>
              <a:rPr lang="en-US"/>
              <a:t> 20% Topic 0, 80% Topic 1</a:t>
            </a:r>
            <a:endParaRPr/>
          </a:p>
          <a:p>
            <a:pPr indent="0" lvl="0" marL="0" rtl="0" algn="just">
              <a:lnSpc>
                <a:spcPct val="90000"/>
              </a:lnSpc>
              <a:spcBef>
                <a:spcPts val="1000"/>
              </a:spcBef>
              <a:spcAft>
                <a:spcPts val="0"/>
              </a:spcAft>
              <a:buClr>
                <a:schemeClr val="dk1"/>
              </a:buClr>
              <a:buSzPts val="2800"/>
              <a:buNone/>
            </a:pPr>
            <a:r>
              <a:rPr lang="en-US"/>
              <a:t>This shows that documents can belong to multiple topics simultaneously.</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05" name="Google Shape;605;p7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Sentiment Analysis </a:t>
            </a:r>
            <a:br>
              <a:rPr b="1" lang="en-US"/>
            </a:br>
            <a:r>
              <a:rPr b="1" lang="en-US"/>
              <a:t>and Opinion Mining</a:t>
            </a:r>
            <a:endParaRPr/>
          </a:p>
        </p:txBody>
      </p:sp>
      <p:sp>
        <p:nvSpPr>
          <p:cNvPr id="611" name="Google Shape;611;p7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Sentiment Analysis is the process of identifying emotional tone or attitude expressed in text.</a:t>
            </a:r>
            <a:endParaRPr/>
          </a:p>
          <a:p>
            <a:pPr indent="-228600" lvl="0" marL="228600" rtl="0" algn="just">
              <a:lnSpc>
                <a:spcPct val="90000"/>
              </a:lnSpc>
              <a:spcBef>
                <a:spcPts val="1000"/>
              </a:spcBef>
              <a:spcAft>
                <a:spcPts val="0"/>
              </a:spcAft>
              <a:buClr>
                <a:schemeClr val="dk1"/>
              </a:buClr>
              <a:buSzPts val="2800"/>
              <a:buNone/>
            </a:pPr>
            <a:r>
              <a:rPr lang="en-US"/>
              <a:t>It determines whether a piece of text is:</a:t>
            </a:r>
            <a:endParaRPr/>
          </a:p>
          <a:p>
            <a:pPr indent="-228600" lvl="0" marL="228600" rtl="0" algn="just">
              <a:lnSpc>
                <a:spcPct val="90000"/>
              </a:lnSpc>
              <a:spcBef>
                <a:spcPts val="1000"/>
              </a:spcBef>
              <a:spcAft>
                <a:spcPts val="0"/>
              </a:spcAft>
              <a:buClr>
                <a:schemeClr val="dk1"/>
              </a:buClr>
              <a:buSzPts val="2800"/>
              <a:buChar char="•"/>
            </a:pPr>
            <a:r>
              <a:rPr lang="en-US"/>
              <a:t>Positive</a:t>
            </a:r>
            <a:endParaRPr/>
          </a:p>
          <a:p>
            <a:pPr indent="-228600" lvl="0" marL="228600" rtl="0" algn="just">
              <a:lnSpc>
                <a:spcPct val="90000"/>
              </a:lnSpc>
              <a:spcBef>
                <a:spcPts val="1000"/>
              </a:spcBef>
              <a:spcAft>
                <a:spcPts val="0"/>
              </a:spcAft>
              <a:buClr>
                <a:schemeClr val="dk1"/>
              </a:buClr>
              <a:buSzPts val="2800"/>
              <a:buChar char="•"/>
            </a:pPr>
            <a:r>
              <a:rPr lang="en-US"/>
              <a:t>Negative</a:t>
            </a:r>
            <a:endParaRPr/>
          </a:p>
          <a:p>
            <a:pPr indent="-228600" lvl="0" marL="228600" rtl="0" algn="just">
              <a:lnSpc>
                <a:spcPct val="90000"/>
              </a:lnSpc>
              <a:spcBef>
                <a:spcPts val="1000"/>
              </a:spcBef>
              <a:spcAft>
                <a:spcPts val="0"/>
              </a:spcAft>
              <a:buClr>
                <a:schemeClr val="dk1"/>
              </a:buClr>
              <a:buSzPts val="2800"/>
              <a:buChar char="•"/>
            </a:pPr>
            <a:r>
              <a:rPr lang="en-US"/>
              <a:t>Neutral</a:t>
            </a:r>
            <a:endParaRPr/>
          </a:p>
          <a:p>
            <a:pPr indent="0" lvl="0" marL="0" rtl="0" algn="just">
              <a:lnSpc>
                <a:spcPct val="90000"/>
              </a:lnSpc>
              <a:spcBef>
                <a:spcPts val="1000"/>
              </a:spcBef>
              <a:spcAft>
                <a:spcPts val="0"/>
              </a:spcAft>
              <a:buClr>
                <a:schemeClr val="dk1"/>
              </a:buClr>
              <a:buSzPts val="2800"/>
              <a:buNone/>
            </a:pPr>
            <a:r>
              <a:rPr lang="en-US"/>
              <a:t>Opinion Mining goes one step further by extracting people’s opinions, feelings, and attitudes toward products, services, events, or topics.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12" name="Google Shape;612;p7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Sentiment Analysis </a:t>
            </a:r>
            <a:br>
              <a:rPr b="1" lang="en-US"/>
            </a:br>
            <a:r>
              <a:rPr b="1" lang="en-US"/>
              <a:t>and Opinion Mining</a:t>
            </a:r>
            <a:endParaRPr/>
          </a:p>
        </p:txBody>
      </p:sp>
      <p:sp>
        <p:nvSpPr>
          <p:cNvPr id="618" name="Google Shape;618;p7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Examples:</a:t>
            </a:r>
            <a:endParaRPr b="1"/>
          </a:p>
          <a:p>
            <a:pPr indent="-228600" lvl="0" marL="228600" rtl="0" algn="l">
              <a:lnSpc>
                <a:spcPct val="90000"/>
              </a:lnSpc>
              <a:spcBef>
                <a:spcPts val="1000"/>
              </a:spcBef>
              <a:spcAft>
                <a:spcPts val="0"/>
              </a:spcAft>
              <a:buClr>
                <a:schemeClr val="dk1"/>
              </a:buClr>
              <a:buSzPts val="2800"/>
              <a:buNone/>
            </a:pPr>
            <a:r>
              <a:rPr b="1" lang="en-US"/>
              <a:t>“I love this phone!” →</a:t>
            </a:r>
            <a:r>
              <a:rPr lang="en-US"/>
              <a:t> Positive</a:t>
            </a:r>
            <a:endParaRPr/>
          </a:p>
          <a:p>
            <a:pPr indent="-228600" lvl="0" marL="228600" rtl="0" algn="l">
              <a:lnSpc>
                <a:spcPct val="90000"/>
              </a:lnSpc>
              <a:spcBef>
                <a:spcPts val="1000"/>
              </a:spcBef>
              <a:spcAft>
                <a:spcPts val="0"/>
              </a:spcAft>
              <a:buClr>
                <a:schemeClr val="dk1"/>
              </a:buClr>
              <a:buSzPts val="2800"/>
              <a:buNone/>
            </a:pPr>
            <a:r>
              <a:rPr b="1" lang="en-US"/>
              <a:t>“Worst experience ever.” →</a:t>
            </a:r>
            <a:r>
              <a:rPr lang="en-US"/>
              <a:t> Negative</a:t>
            </a:r>
            <a:endParaRPr/>
          </a:p>
          <a:p>
            <a:pPr indent="-228600" lvl="0" marL="228600" rtl="0" algn="l">
              <a:lnSpc>
                <a:spcPct val="90000"/>
              </a:lnSpc>
              <a:spcBef>
                <a:spcPts val="1000"/>
              </a:spcBef>
              <a:spcAft>
                <a:spcPts val="0"/>
              </a:spcAft>
              <a:buClr>
                <a:schemeClr val="dk1"/>
              </a:buClr>
              <a:buSzPts val="2800"/>
              <a:buNone/>
            </a:pPr>
            <a:r>
              <a:rPr b="1" lang="en-US"/>
              <a:t>“The movie was okay.” →</a:t>
            </a:r>
            <a:r>
              <a:rPr lang="en-US"/>
              <a:t> Neutral</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19" name="Google Shape;619;p7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Introduction to Sentiment Analysis </a:t>
            </a:r>
            <a:br>
              <a:rPr b="1" lang="en-US"/>
            </a:br>
            <a:r>
              <a:rPr b="1" lang="en-US"/>
              <a:t>and Opinion Mining</a:t>
            </a:r>
            <a:endParaRPr/>
          </a:p>
        </p:txBody>
      </p:sp>
      <p:sp>
        <p:nvSpPr>
          <p:cNvPr id="625" name="Google Shape;625;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Sentiment analysis is widely used in social media to understand:</a:t>
            </a:r>
            <a:endParaRPr/>
          </a:p>
          <a:p>
            <a:pPr indent="-228600" lvl="0" marL="228600" rtl="0" algn="just">
              <a:lnSpc>
                <a:spcPct val="90000"/>
              </a:lnSpc>
              <a:spcBef>
                <a:spcPts val="1000"/>
              </a:spcBef>
              <a:spcAft>
                <a:spcPts val="0"/>
              </a:spcAft>
              <a:buClr>
                <a:schemeClr val="dk1"/>
              </a:buClr>
              <a:buSzPts val="2800"/>
              <a:buChar char="•"/>
            </a:pPr>
            <a:r>
              <a:rPr lang="en-US"/>
              <a:t>Customer satisfaction</a:t>
            </a:r>
            <a:endParaRPr/>
          </a:p>
          <a:p>
            <a:pPr indent="-228600" lvl="0" marL="228600" rtl="0" algn="just">
              <a:lnSpc>
                <a:spcPct val="90000"/>
              </a:lnSpc>
              <a:spcBef>
                <a:spcPts val="1000"/>
              </a:spcBef>
              <a:spcAft>
                <a:spcPts val="0"/>
              </a:spcAft>
              <a:buClr>
                <a:schemeClr val="dk1"/>
              </a:buClr>
              <a:buSzPts val="2800"/>
              <a:buChar char="•"/>
            </a:pPr>
            <a:r>
              <a:rPr lang="en-US"/>
              <a:t>Brand reputation</a:t>
            </a:r>
            <a:endParaRPr/>
          </a:p>
          <a:p>
            <a:pPr indent="-228600" lvl="0" marL="228600" rtl="0" algn="just">
              <a:lnSpc>
                <a:spcPct val="90000"/>
              </a:lnSpc>
              <a:spcBef>
                <a:spcPts val="1000"/>
              </a:spcBef>
              <a:spcAft>
                <a:spcPts val="0"/>
              </a:spcAft>
              <a:buClr>
                <a:schemeClr val="dk1"/>
              </a:buClr>
              <a:buSzPts val="2800"/>
              <a:buChar char="•"/>
            </a:pPr>
            <a:r>
              <a:rPr lang="en-US"/>
              <a:t>Public opinion</a:t>
            </a:r>
            <a:endParaRPr/>
          </a:p>
          <a:p>
            <a:pPr indent="-228600" lvl="0" marL="228600" rtl="0" algn="just">
              <a:lnSpc>
                <a:spcPct val="90000"/>
              </a:lnSpc>
              <a:spcBef>
                <a:spcPts val="1000"/>
              </a:spcBef>
              <a:spcAft>
                <a:spcPts val="0"/>
              </a:spcAft>
              <a:buClr>
                <a:schemeClr val="dk1"/>
              </a:buClr>
              <a:buSzPts val="2800"/>
              <a:buChar char="•"/>
            </a:pPr>
            <a:r>
              <a:rPr lang="en-US"/>
              <a:t>Political sentiment</a:t>
            </a:r>
            <a:endParaRPr/>
          </a:p>
          <a:p>
            <a:pPr indent="-228600" lvl="0" marL="228600" rtl="0" algn="just">
              <a:lnSpc>
                <a:spcPct val="90000"/>
              </a:lnSpc>
              <a:spcBef>
                <a:spcPts val="1000"/>
              </a:spcBef>
              <a:spcAft>
                <a:spcPts val="0"/>
              </a:spcAft>
              <a:buClr>
                <a:schemeClr val="dk1"/>
              </a:buClr>
              <a:buSzPts val="2800"/>
              <a:buChar char="•"/>
            </a:pPr>
            <a:r>
              <a:rPr lang="en-US"/>
              <a:t>Mental health indicators</a:t>
            </a:r>
            <a:endParaRPr/>
          </a:p>
          <a:p>
            <a:pPr indent="0" lvl="0" marL="0" rtl="0" algn="just">
              <a:lnSpc>
                <a:spcPct val="90000"/>
              </a:lnSpc>
              <a:spcBef>
                <a:spcPts val="1000"/>
              </a:spcBef>
              <a:spcAft>
                <a:spcPts val="0"/>
              </a:spcAft>
              <a:buClr>
                <a:schemeClr val="dk1"/>
              </a:buClr>
              <a:buSzPts val="2800"/>
              <a:buNone/>
            </a:pPr>
            <a:r>
              <a:rPr lang="en-US"/>
              <a:t>Sentiment analysis systems convert raw text into sentiment labels or sentiment scores using NLP techniques.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26" name="Google Shape;626;p7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Levels of Sentiment Analysis</a:t>
            </a:r>
            <a:endParaRPr b="1"/>
          </a:p>
        </p:txBody>
      </p:sp>
      <p:sp>
        <p:nvSpPr>
          <p:cNvPr id="632" name="Google Shape;632;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Sentiment analysis can be performed at different levels depending on how detailed the analysis needs to be.</a:t>
            </a:r>
            <a:endParaRPr/>
          </a:p>
          <a:p>
            <a:pPr indent="-228600" lvl="0" marL="228600" rtl="0" algn="just">
              <a:lnSpc>
                <a:spcPct val="90000"/>
              </a:lnSpc>
              <a:spcBef>
                <a:spcPts val="1000"/>
              </a:spcBef>
              <a:spcAft>
                <a:spcPts val="0"/>
              </a:spcAft>
              <a:buClr>
                <a:schemeClr val="dk1"/>
              </a:buClr>
              <a:buSzPts val="2800"/>
              <a:buNone/>
            </a:pPr>
            <a:r>
              <a:rPr lang="en-US"/>
              <a:t>The three main levels are:</a:t>
            </a:r>
            <a:endParaRPr/>
          </a:p>
          <a:p>
            <a:pPr indent="-514350" lvl="0" marL="514350" rtl="0" algn="just">
              <a:lnSpc>
                <a:spcPct val="90000"/>
              </a:lnSpc>
              <a:spcBef>
                <a:spcPts val="1000"/>
              </a:spcBef>
              <a:spcAft>
                <a:spcPts val="0"/>
              </a:spcAft>
              <a:buClr>
                <a:schemeClr val="dk1"/>
              </a:buClr>
              <a:buSzPts val="2800"/>
              <a:buAutoNum type="arabicPeriod"/>
            </a:pPr>
            <a:r>
              <a:rPr b="1" lang="en-US"/>
              <a:t>Document-Level Sentiment Analysis</a:t>
            </a:r>
            <a:endParaRPr/>
          </a:p>
          <a:p>
            <a:pPr indent="-228600" lvl="0" marL="228600" rtl="0" algn="just">
              <a:lnSpc>
                <a:spcPct val="90000"/>
              </a:lnSpc>
              <a:spcBef>
                <a:spcPts val="1000"/>
              </a:spcBef>
              <a:spcAft>
                <a:spcPts val="0"/>
              </a:spcAft>
              <a:buClr>
                <a:schemeClr val="dk1"/>
              </a:buClr>
              <a:buSzPts val="2800"/>
              <a:buNone/>
            </a:pPr>
            <a:r>
              <a:rPr lang="en-US"/>
              <a:t>Determines the overall sentiment of an entire document or review.</a:t>
            </a:r>
            <a:endParaRPr/>
          </a:p>
          <a:p>
            <a:pPr indent="-228600" lvl="0" marL="228600" rtl="0" algn="just">
              <a:lnSpc>
                <a:spcPct val="90000"/>
              </a:lnSpc>
              <a:spcBef>
                <a:spcPts val="1000"/>
              </a:spcBef>
              <a:spcAft>
                <a:spcPts val="0"/>
              </a:spcAft>
              <a:buClr>
                <a:schemeClr val="dk1"/>
              </a:buClr>
              <a:buSzPts val="2800"/>
              <a:buNone/>
            </a:pPr>
            <a:r>
              <a:rPr b="1" lang="en-US"/>
              <a:t>Example:</a:t>
            </a:r>
            <a:endParaRPr/>
          </a:p>
          <a:p>
            <a:pPr indent="-228600" lvl="0" marL="228600" rtl="0" algn="just">
              <a:lnSpc>
                <a:spcPct val="90000"/>
              </a:lnSpc>
              <a:spcBef>
                <a:spcPts val="1000"/>
              </a:spcBef>
              <a:spcAft>
                <a:spcPts val="0"/>
              </a:spcAft>
              <a:buClr>
                <a:schemeClr val="dk1"/>
              </a:buClr>
              <a:buSzPts val="2800"/>
              <a:buNone/>
            </a:pPr>
            <a:r>
              <a:rPr lang="en-US"/>
              <a:t>“This phone is amazing and worth every rupee.”</a:t>
            </a:r>
            <a:endParaRPr/>
          </a:p>
          <a:p>
            <a:pPr indent="-228600" lvl="0" marL="228600" rtl="0" algn="just">
              <a:lnSpc>
                <a:spcPct val="90000"/>
              </a:lnSpc>
              <a:spcBef>
                <a:spcPts val="1000"/>
              </a:spcBef>
              <a:spcAft>
                <a:spcPts val="0"/>
              </a:spcAft>
              <a:buClr>
                <a:schemeClr val="dk1"/>
              </a:buClr>
              <a:buSzPts val="2800"/>
              <a:buNone/>
            </a:pPr>
            <a:r>
              <a:rPr b="1" lang="en-US"/>
              <a:t>→ Positive</a:t>
            </a:r>
            <a:endParaRPr b="1"/>
          </a:p>
          <a:p>
            <a:pPr indent="-228600" lvl="0" marL="228600" rtl="0" algn="just">
              <a:lnSpc>
                <a:spcPct val="90000"/>
              </a:lnSpc>
              <a:spcBef>
                <a:spcPts val="1000"/>
              </a:spcBef>
              <a:spcAft>
                <a:spcPts val="0"/>
              </a:spcAft>
              <a:buClr>
                <a:schemeClr val="dk1"/>
              </a:buClr>
              <a:buSzPts val="2800"/>
              <a:buNone/>
            </a:pPr>
            <a:r>
              <a:rPr lang="en-US"/>
              <a:t>Used when the document talks about a </a:t>
            </a:r>
            <a:r>
              <a:rPr b="1" lang="en-US"/>
              <a:t>single entity or topic</a:t>
            </a:r>
            <a:r>
              <a:rPr lang="en-US"/>
              <a:t>.</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33" name="Google Shape;633;p7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Levels of Sentiment Analysis</a:t>
            </a:r>
            <a:endParaRPr/>
          </a:p>
        </p:txBody>
      </p:sp>
      <p:sp>
        <p:nvSpPr>
          <p:cNvPr id="639" name="Google Shape;639;p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2. Sentence-Level Sentiment Analysis</a:t>
            </a:r>
            <a:endParaRPr/>
          </a:p>
          <a:p>
            <a:pPr indent="-228600" lvl="0" marL="228600" rtl="0" algn="just">
              <a:lnSpc>
                <a:spcPct val="90000"/>
              </a:lnSpc>
              <a:spcBef>
                <a:spcPts val="1000"/>
              </a:spcBef>
              <a:spcAft>
                <a:spcPts val="0"/>
              </a:spcAft>
              <a:buClr>
                <a:schemeClr val="dk1"/>
              </a:buClr>
              <a:buSzPts val="2800"/>
              <a:buNone/>
            </a:pPr>
            <a:r>
              <a:rPr lang="en-US"/>
              <a:t>Determines sentiment for individual sentences.</a:t>
            </a:r>
            <a:endParaRPr/>
          </a:p>
          <a:p>
            <a:pPr indent="-228600" lvl="0" marL="228600" rtl="0" algn="just">
              <a:lnSpc>
                <a:spcPct val="90000"/>
              </a:lnSpc>
              <a:spcBef>
                <a:spcPts val="1000"/>
              </a:spcBef>
              <a:spcAft>
                <a:spcPts val="0"/>
              </a:spcAft>
              <a:buClr>
                <a:schemeClr val="dk1"/>
              </a:buClr>
              <a:buSzPts val="2800"/>
              <a:buNone/>
            </a:pPr>
            <a:r>
              <a:rPr b="1" lang="en-US"/>
              <a:t>Example:</a:t>
            </a:r>
            <a:endParaRPr/>
          </a:p>
          <a:p>
            <a:pPr indent="-228600" lvl="0" marL="228600" rtl="0" algn="just">
              <a:lnSpc>
                <a:spcPct val="90000"/>
              </a:lnSpc>
              <a:spcBef>
                <a:spcPts val="1000"/>
              </a:spcBef>
              <a:spcAft>
                <a:spcPts val="0"/>
              </a:spcAft>
              <a:buClr>
                <a:schemeClr val="dk1"/>
              </a:buClr>
              <a:buSzPts val="2800"/>
              <a:buNone/>
            </a:pPr>
            <a:r>
              <a:rPr lang="en-US"/>
              <a:t> “The camera is good. The battery is terrible.”</a:t>
            </a:r>
            <a:endParaRPr/>
          </a:p>
          <a:p>
            <a:pPr indent="-228600" lvl="0" marL="228600" rtl="0" algn="just">
              <a:lnSpc>
                <a:spcPct val="90000"/>
              </a:lnSpc>
              <a:spcBef>
                <a:spcPts val="1000"/>
              </a:spcBef>
              <a:spcAft>
                <a:spcPts val="0"/>
              </a:spcAft>
              <a:buClr>
                <a:schemeClr val="dk1"/>
              </a:buClr>
              <a:buSzPts val="2800"/>
              <a:buNone/>
            </a:pPr>
            <a:r>
              <a:rPr b="1" lang="en-US"/>
              <a:t>Sentence 1 → Positive</a:t>
            </a:r>
            <a:endParaRPr/>
          </a:p>
          <a:p>
            <a:pPr indent="-228600" lvl="0" marL="228600" rtl="0" algn="just">
              <a:lnSpc>
                <a:spcPct val="90000"/>
              </a:lnSpc>
              <a:spcBef>
                <a:spcPts val="1000"/>
              </a:spcBef>
              <a:spcAft>
                <a:spcPts val="0"/>
              </a:spcAft>
              <a:buClr>
                <a:schemeClr val="dk1"/>
              </a:buClr>
              <a:buSzPts val="2800"/>
              <a:buNone/>
            </a:pPr>
            <a:r>
              <a:rPr b="1" lang="en-US"/>
              <a:t>Sentence 2 → Negative</a:t>
            </a:r>
            <a:endParaRPr b="1"/>
          </a:p>
          <a:p>
            <a:pPr indent="-228600" lvl="0" marL="228600" rtl="0" algn="just">
              <a:lnSpc>
                <a:spcPct val="90000"/>
              </a:lnSpc>
              <a:spcBef>
                <a:spcPts val="1000"/>
              </a:spcBef>
              <a:spcAft>
                <a:spcPts val="0"/>
              </a:spcAft>
              <a:buClr>
                <a:schemeClr val="dk1"/>
              </a:buClr>
              <a:buSzPts val="2800"/>
              <a:buNone/>
            </a:pPr>
            <a:r>
              <a:rPr lang="en-US"/>
              <a:t>Used when documents contain multiple opinions.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40" name="Google Shape;640;p8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Levels of Sentiment Analysis</a:t>
            </a:r>
            <a:endParaRPr/>
          </a:p>
        </p:txBody>
      </p:sp>
      <p:sp>
        <p:nvSpPr>
          <p:cNvPr id="646" name="Google Shape;646;p8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None/>
            </a:pPr>
            <a:r>
              <a:rPr b="1" lang="en-US"/>
              <a:t>3. Aspect-Level (Aspect-Based) Sentiment Analysis</a:t>
            </a:r>
            <a:endParaRPr/>
          </a:p>
          <a:p>
            <a:pPr indent="-228600" lvl="0" marL="228600" rtl="0" algn="just">
              <a:lnSpc>
                <a:spcPct val="90000"/>
              </a:lnSpc>
              <a:spcBef>
                <a:spcPts val="1000"/>
              </a:spcBef>
              <a:spcAft>
                <a:spcPts val="0"/>
              </a:spcAft>
              <a:buClr>
                <a:schemeClr val="dk1"/>
              </a:buClr>
              <a:buSzPts val="2800"/>
              <a:buNone/>
            </a:pPr>
            <a:r>
              <a:rPr lang="en-US"/>
              <a:t>Identifies sentiment toward specific aspects or features.</a:t>
            </a:r>
            <a:endParaRPr/>
          </a:p>
          <a:p>
            <a:pPr indent="-228600" lvl="0" marL="228600" rtl="0" algn="just">
              <a:lnSpc>
                <a:spcPct val="90000"/>
              </a:lnSpc>
              <a:spcBef>
                <a:spcPts val="1000"/>
              </a:spcBef>
              <a:spcAft>
                <a:spcPts val="0"/>
              </a:spcAft>
              <a:buClr>
                <a:schemeClr val="dk1"/>
              </a:buClr>
              <a:buSzPts val="2800"/>
              <a:buNone/>
            </a:pPr>
            <a:r>
              <a:rPr b="1" lang="en-US"/>
              <a:t>Example:</a:t>
            </a:r>
            <a:endParaRPr/>
          </a:p>
          <a:p>
            <a:pPr indent="-228600" lvl="0" marL="228600" rtl="0" algn="just">
              <a:lnSpc>
                <a:spcPct val="90000"/>
              </a:lnSpc>
              <a:spcBef>
                <a:spcPts val="1000"/>
              </a:spcBef>
              <a:spcAft>
                <a:spcPts val="0"/>
              </a:spcAft>
              <a:buClr>
                <a:schemeClr val="dk1"/>
              </a:buClr>
              <a:buSzPts val="2800"/>
              <a:buNone/>
            </a:pPr>
            <a:r>
              <a:rPr lang="en-US"/>
              <a:t> “I love the camera but hate the battery.”</a:t>
            </a:r>
            <a:endParaRPr/>
          </a:p>
          <a:p>
            <a:pPr indent="-228600" lvl="0" marL="228600" rtl="0" algn="just">
              <a:lnSpc>
                <a:spcPct val="90000"/>
              </a:lnSpc>
              <a:spcBef>
                <a:spcPts val="1000"/>
              </a:spcBef>
              <a:spcAft>
                <a:spcPts val="0"/>
              </a:spcAft>
              <a:buClr>
                <a:schemeClr val="dk1"/>
              </a:buClr>
              <a:buSzPts val="2800"/>
              <a:buNone/>
            </a:pPr>
            <a:r>
              <a:rPr b="1" lang="en-US"/>
              <a:t>Camera → Positive</a:t>
            </a:r>
            <a:endParaRPr/>
          </a:p>
          <a:p>
            <a:pPr indent="-228600" lvl="0" marL="228600" rtl="0" algn="just">
              <a:lnSpc>
                <a:spcPct val="90000"/>
              </a:lnSpc>
              <a:spcBef>
                <a:spcPts val="1000"/>
              </a:spcBef>
              <a:spcAft>
                <a:spcPts val="0"/>
              </a:spcAft>
              <a:buClr>
                <a:schemeClr val="dk1"/>
              </a:buClr>
              <a:buSzPts val="2800"/>
              <a:buNone/>
            </a:pPr>
            <a:r>
              <a:rPr b="1" lang="en-US"/>
              <a:t>Battery → Negative</a:t>
            </a:r>
            <a:endParaRPr b="1"/>
          </a:p>
          <a:p>
            <a:pPr indent="-228600" lvl="0" marL="228600" rtl="0" algn="just">
              <a:lnSpc>
                <a:spcPct val="90000"/>
              </a:lnSpc>
              <a:spcBef>
                <a:spcPts val="1000"/>
              </a:spcBef>
              <a:spcAft>
                <a:spcPts val="0"/>
              </a:spcAft>
              <a:buClr>
                <a:schemeClr val="dk1"/>
              </a:buClr>
              <a:buSzPts val="2800"/>
              <a:buChar char="•"/>
            </a:pPr>
            <a:r>
              <a:rPr lang="en-US"/>
              <a:t>Aspect-based sentiment provides the most detailed insights.</a:t>
            </a:r>
            <a:endParaRPr/>
          </a:p>
          <a:p>
            <a:pPr indent="-228600" lvl="0" marL="228600" rtl="0" algn="just">
              <a:lnSpc>
                <a:spcPct val="90000"/>
              </a:lnSpc>
              <a:spcBef>
                <a:spcPts val="1000"/>
              </a:spcBef>
              <a:spcAft>
                <a:spcPts val="0"/>
              </a:spcAft>
              <a:buClr>
                <a:schemeClr val="dk1"/>
              </a:buClr>
              <a:buSzPts val="2800"/>
              <a:buChar char="•"/>
            </a:pPr>
            <a:r>
              <a:rPr lang="en-US"/>
              <a:t>Each level offers increasing granularity, with Aspect-Based Sentiment Analysis being the most fine-grained.</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47" name="Google Shape;647;p8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Lexicon-Based Sentiment Analysis</a:t>
            </a:r>
            <a:endParaRPr b="1"/>
          </a:p>
        </p:txBody>
      </p:sp>
      <p:sp>
        <p:nvSpPr>
          <p:cNvPr id="653" name="Google Shape;653;p8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Lexicon-based sentiment analysis determines sentiment by using a predefined dictionary (called a </a:t>
            </a:r>
            <a:r>
              <a:rPr b="1" lang="en-US"/>
              <a:t>sentiment lexicon</a:t>
            </a:r>
            <a:r>
              <a:rPr lang="en-US"/>
              <a:t>) where each word is associated with an emotion score.</a:t>
            </a:r>
            <a:endParaRPr/>
          </a:p>
          <a:p>
            <a:pPr indent="-228600" lvl="0" marL="228600" rtl="0" algn="just">
              <a:lnSpc>
                <a:spcPct val="90000"/>
              </a:lnSpc>
              <a:spcBef>
                <a:spcPts val="1000"/>
              </a:spcBef>
              <a:spcAft>
                <a:spcPts val="0"/>
              </a:spcAft>
              <a:buClr>
                <a:schemeClr val="dk1"/>
              </a:buClr>
              <a:buSzPts val="2800"/>
              <a:buNone/>
            </a:pPr>
            <a:r>
              <a:rPr lang="en-US"/>
              <a:t>Each word in the lexicon is labeled as:</a:t>
            </a:r>
            <a:endParaRPr/>
          </a:p>
          <a:p>
            <a:pPr indent="-228600" lvl="0" marL="228600" rtl="0" algn="just">
              <a:lnSpc>
                <a:spcPct val="90000"/>
              </a:lnSpc>
              <a:spcBef>
                <a:spcPts val="1000"/>
              </a:spcBef>
              <a:spcAft>
                <a:spcPts val="0"/>
              </a:spcAft>
              <a:buClr>
                <a:schemeClr val="dk1"/>
              </a:buClr>
              <a:buSzPts val="2800"/>
              <a:buChar char="•"/>
            </a:pPr>
            <a:r>
              <a:rPr lang="en-US"/>
              <a:t>Positive</a:t>
            </a:r>
            <a:endParaRPr/>
          </a:p>
          <a:p>
            <a:pPr indent="-228600" lvl="0" marL="228600" rtl="0" algn="just">
              <a:lnSpc>
                <a:spcPct val="90000"/>
              </a:lnSpc>
              <a:spcBef>
                <a:spcPts val="1000"/>
              </a:spcBef>
              <a:spcAft>
                <a:spcPts val="0"/>
              </a:spcAft>
              <a:buClr>
                <a:schemeClr val="dk1"/>
              </a:buClr>
              <a:buSzPts val="2800"/>
              <a:buChar char="•"/>
            </a:pPr>
            <a:r>
              <a:rPr lang="en-US"/>
              <a:t>Negative</a:t>
            </a:r>
            <a:endParaRPr/>
          </a:p>
          <a:p>
            <a:pPr indent="-228600" lvl="0" marL="228600" rtl="0" algn="just">
              <a:lnSpc>
                <a:spcPct val="90000"/>
              </a:lnSpc>
              <a:spcBef>
                <a:spcPts val="1000"/>
              </a:spcBef>
              <a:spcAft>
                <a:spcPts val="0"/>
              </a:spcAft>
              <a:buClr>
                <a:schemeClr val="dk1"/>
              </a:buClr>
              <a:buSzPts val="2800"/>
              <a:buChar char="•"/>
            </a:pPr>
            <a:r>
              <a:rPr lang="en-US"/>
              <a:t>Neutral</a:t>
            </a:r>
            <a:endParaRPr/>
          </a:p>
          <a:p>
            <a:pPr indent="-228600" lvl="0" marL="228600" rtl="0" algn="just">
              <a:lnSpc>
                <a:spcPct val="90000"/>
              </a:lnSpc>
              <a:spcBef>
                <a:spcPts val="1000"/>
              </a:spcBef>
              <a:spcAft>
                <a:spcPts val="0"/>
              </a:spcAft>
              <a:buClr>
                <a:schemeClr val="dk1"/>
              </a:buClr>
              <a:buSzPts val="2800"/>
              <a:buNone/>
            </a:pPr>
            <a:r>
              <a:rPr lang="en-US"/>
              <a:t>or assigned a numerical sentiment value.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54" name="Google Shape;654;p8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Lexicon-Based Sentiment Analysis</a:t>
            </a:r>
            <a:endParaRPr/>
          </a:p>
        </p:txBody>
      </p:sp>
      <p:sp>
        <p:nvSpPr>
          <p:cNvPr id="660" name="Google Shape;660;p8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None/>
            </a:pPr>
            <a:r>
              <a:rPr lang="en-US"/>
              <a:t>Example lexicon entries:</a:t>
            </a:r>
            <a:endParaRPr/>
          </a:p>
          <a:p>
            <a:pPr indent="-228600" lvl="0" marL="228600" rtl="0" algn="just">
              <a:lnSpc>
                <a:spcPct val="90000"/>
              </a:lnSpc>
              <a:spcBef>
                <a:spcPts val="1000"/>
              </a:spcBef>
              <a:spcAft>
                <a:spcPts val="0"/>
              </a:spcAft>
              <a:buClr>
                <a:schemeClr val="dk1"/>
              </a:buClr>
              <a:buSzPct val="100000"/>
              <a:buNone/>
            </a:pPr>
            <a:r>
              <a:rPr b="1" lang="en-US"/>
              <a:t>happy →</a:t>
            </a:r>
            <a:r>
              <a:rPr lang="en-US"/>
              <a:t> +2</a:t>
            </a:r>
            <a:endParaRPr/>
          </a:p>
          <a:p>
            <a:pPr indent="-228600" lvl="0" marL="228600" rtl="0" algn="just">
              <a:lnSpc>
                <a:spcPct val="90000"/>
              </a:lnSpc>
              <a:spcBef>
                <a:spcPts val="1000"/>
              </a:spcBef>
              <a:spcAft>
                <a:spcPts val="0"/>
              </a:spcAft>
              <a:buClr>
                <a:schemeClr val="dk1"/>
              </a:buClr>
              <a:buSzPct val="100000"/>
              <a:buNone/>
            </a:pPr>
            <a:r>
              <a:rPr b="1" lang="en-US"/>
              <a:t>good →</a:t>
            </a:r>
            <a:r>
              <a:rPr lang="en-US"/>
              <a:t> +1</a:t>
            </a:r>
            <a:endParaRPr/>
          </a:p>
          <a:p>
            <a:pPr indent="-228600" lvl="0" marL="228600" rtl="0" algn="just">
              <a:lnSpc>
                <a:spcPct val="90000"/>
              </a:lnSpc>
              <a:spcBef>
                <a:spcPts val="1000"/>
              </a:spcBef>
              <a:spcAft>
                <a:spcPts val="0"/>
              </a:spcAft>
              <a:buClr>
                <a:schemeClr val="dk1"/>
              </a:buClr>
              <a:buSzPct val="100000"/>
              <a:buNone/>
            </a:pPr>
            <a:r>
              <a:rPr b="1" lang="en-US"/>
              <a:t>bad →</a:t>
            </a:r>
            <a:r>
              <a:rPr lang="en-US"/>
              <a:t> −1</a:t>
            </a:r>
            <a:endParaRPr/>
          </a:p>
          <a:p>
            <a:pPr indent="-228600" lvl="0" marL="228600" rtl="0" algn="just">
              <a:lnSpc>
                <a:spcPct val="90000"/>
              </a:lnSpc>
              <a:spcBef>
                <a:spcPts val="1000"/>
              </a:spcBef>
              <a:spcAft>
                <a:spcPts val="0"/>
              </a:spcAft>
              <a:buClr>
                <a:schemeClr val="dk1"/>
              </a:buClr>
              <a:buSzPct val="100000"/>
              <a:buNone/>
            </a:pPr>
            <a:r>
              <a:rPr b="1" lang="en-US"/>
              <a:t>terrible →</a:t>
            </a:r>
            <a:r>
              <a:rPr lang="en-US"/>
              <a:t> −3</a:t>
            </a:r>
            <a:endParaRPr/>
          </a:p>
          <a:p>
            <a:pPr indent="-228600" lvl="0" marL="228600" rtl="0" algn="just">
              <a:lnSpc>
                <a:spcPct val="90000"/>
              </a:lnSpc>
              <a:spcBef>
                <a:spcPts val="1000"/>
              </a:spcBef>
              <a:spcAft>
                <a:spcPts val="0"/>
              </a:spcAft>
              <a:buClr>
                <a:schemeClr val="dk1"/>
              </a:buClr>
              <a:buSzPct val="100000"/>
              <a:buNone/>
            </a:pPr>
            <a:r>
              <a:rPr lang="en-US"/>
              <a:t>To analyze a sentence, the system:</a:t>
            </a:r>
            <a:endParaRPr/>
          </a:p>
          <a:p>
            <a:pPr indent="-228600" lvl="0" marL="228600" rtl="0" algn="just">
              <a:lnSpc>
                <a:spcPct val="90000"/>
              </a:lnSpc>
              <a:spcBef>
                <a:spcPts val="1000"/>
              </a:spcBef>
              <a:spcAft>
                <a:spcPts val="0"/>
              </a:spcAft>
              <a:buClr>
                <a:schemeClr val="dk1"/>
              </a:buClr>
              <a:buSzPct val="100000"/>
              <a:buChar char="•"/>
            </a:pPr>
            <a:r>
              <a:rPr lang="en-US"/>
              <a:t>Splits the sentence into words</a:t>
            </a:r>
            <a:endParaRPr/>
          </a:p>
          <a:p>
            <a:pPr indent="-228600" lvl="0" marL="228600" rtl="0" algn="just">
              <a:lnSpc>
                <a:spcPct val="90000"/>
              </a:lnSpc>
              <a:spcBef>
                <a:spcPts val="1000"/>
              </a:spcBef>
              <a:spcAft>
                <a:spcPts val="0"/>
              </a:spcAft>
              <a:buClr>
                <a:schemeClr val="dk1"/>
              </a:buClr>
              <a:buSzPct val="100000"/>
              <a:buChar char="•"/>
            </a:pPr>
            <a:r>
              <a:rPr lang="en-US"/>
              <a:t>Looks up each word in the sentiment lexicon</a:t>
            </a:r>
            <a:endParaRPr/>
          </a:p>
          <a:p>
            <a:pPr indent="-228600" lvl="0" marL="228600" rtl="0" algn="just">
              <a:lnSpc>
                <a:spcPct val="90000"/>
              </a:lnSpc>
              <a:spcBef>
                <a:spcPts val="1000"/>
              </a:spcBef>
              <a:spcAft>
                <a:spcPts val="0"/>
              </a:spcAft>
              <a:buClr>
                <a:schemeClr val="dk1"/>
              </a:buClr>
              <a:buSzPct val="100000"/>
              <a:buChar char="•"/>
            </a:pPr>
            <a:r>
              <a:rPr lang="en-US"/>
              <a:t>Adds up all sentiment scores</a:t>
            </a:r>
            <a:endParaRPr/>
          </a:p>
          <a:p>
            <a:pPr indent="-228600" lvl="0" marL="228600" rtl="0" algn="just">
              <a:lnSpc>
                <a:spcPct val="90000"/>
              </a:lnSpc>
              <a:spcBef>
                <a:spcPts val="1000"/>
              </a:spcBef>
              <a:spcAft>
                <a:spcPts val="0"/>
              </a:spcAft>
              <a:buClr>
                <a:schemeClr val="dk1"/>
              </a:buClr>
              <a:buSzPct val="100000"/>
              <a:buChar char="•"/>
            </a:pPr>
            <a:r>
              <a:rPr lang="en-US"/>
              <a:t>Determines overall polarity</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661" name="Google Shape;661;p8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Lexicon-Based Sentiment Analysis</a:t>
            </a:r>
            <a:endParaRPr/>
          </a:p>
        </p:txBody>
      </p:sp>
      <p:sp>
        <p:nvSpPr>
          <p:cNvPr id="667" name="Google Shape;667;p8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Example:</a:t>
            </a:r>
            <a:endParaRPr b="1"/>
          </a:p>
          <a:p>
            <a:pPr indent="-228600" lvl="0" marL="228600" rtl="0" algn="just">
              <a:lnSpc>
                <a:spcPct val="90000"/>
              </a:lnSpc>
              <a:spcBef>
                <a:spcPts val="1000"/>
              </a:spcBef>
              <a:spcAft>
                <a:spcPts val="0"/>
              </a:spcAft>
              <a:buClr>
                <a:schemeClr val="dk1"/>
              </a:buClr>
              <a:buSzPts val="2800"/>
              <a:buNone/>
            </a:pPr>
            <a:r>
              <a:rPr b="1" lang="en-US"/>
              <a:t>Sentence: </a:t>
            </a:r>
            <a:r>
              <a:rPr lang="en-US"/>
              <a:t> “I love this product but hate the battery”</a:t>
            </a:r>
            <a:endParaRPr/>
          </a:p>
          <a:p>
            <a:pPr indent="-228600" lvl="0" marL="228600" rtl="0" algn="just">
              <a:lnSpc>
                <a:spcPct val="90000"/>
              </a:lnSpc>
              <a:spcBef>
                <a:spcPts val="1000"/>
              </a:spcBef>
              <a:spcAft>
                <a:spcPts val="0"/>
              </a:spcAft>
              <a:buClr>
                <a:schemeClr val="dk1"/>
              </a:buClr>
              <a:buSzPts val="2800"/>
              <a:buNone/>
            </a:pPr>
            <a:r>
              <a:rPr b="1" lang="en-US"/>
              <a:t>love →</a:t>
            </a:r>
            <a:r>
              <a:rPr lang="en-US"/>
              <a:t> +3</a:t>
            </a:r>
            <a:endParaRPr/>
          </a:p>
          <a:p>
            <a:pPr indent="-228600" lvl="0" marL="228600" rtl="0" algn="just">
              <a:lnSpc>
                <a:spcPct val="90000"/>
              </a:lnSpc>
              <a:spcBef>
                <a:spcPts val="1000"/>
              </a:spcBef>
              <a:spcAft>
                <a:spcPts val="0"/>
              </a:spcAft>
              <a:buClr>
                <a:schemeClr val="dk1"/>
              </a:buClr>
              <a:buSzPts val="2800"/>
              <a:buNone/>
            </a:pPr>
            <a:r>
              <a:rPr b="1" lang="en-US"/>
              <a:t>hate →</a:t>
            </a:r>
            <a:r>
              <a:rPr lang="en-US"/>
              <a:t> −3</a:t>
            </a:r>
            <a:endParaRPr/>
          </a:p>
          <a:p>
            <a:pPr indent="-228600" lvl="0" marL="228600" rtl="0" algn="just">
              <a:lnSpc>
                <a:spcPct val="90000"/>
              </a:lnSpc>
              <a:spcBef>
                <a:spcPts val="1000"/>
              </a:spcBef>
              <a:spcAft>
                <a:spcPts val="0"/>
              </a:spcAft>
              <a:buClr>
                <a:schemeClr val="dk1"/>
              </a:buClr>
              <a:buSzPts val="2800"/>
              <a:buNone/>
            </a:pPr>
            <a:r>
              <a:rPr b="1" lang="en-US"/>
              <a:t>Overall sentiment ≈</a:t>
            </a:r>
            <a:r>
              <a:rPr lang="en-US"/>
              <a:t> Neutral / Mixed</a:t>
            </a:r>
            <a:endParaRPr/>
          </a:p>
          <a:p>
            <a:pPr indent="0" lvl="0" marL="0" rtl="0" algn="just">
              <a:lnSpc>
                <a:spcPct val="90000"/>
              </a:lnSpc>
              <a:spcBef>
                <a:spcPts val="1000"/>
              </a:spcBef>
              <a:spcAft>
                <a:spcPts val="0"/>
              </a:spcAft>
              <a:buClr>
                <a:schemeClr val="dk1"/>
              </a:buClr>
              <a:buSzPts val="2800"/>
              <a:buNone/>
            </a:pPr>
            <a:r>
              <a:rPr lang="en-US"/>
              <a:t>Lexicon-based approaches do not require training data and are widely used for quick sentiment analysis.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68" name="Google Shape;668;p8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VADER Sentiment Analyzer</a:t>
            </a:r>
            <a:endParaRPr b="1"/>
          </a:p>
        </p:txBody>
      </p:sp>
      <p:sp>
        <p:nvSpPr>
          <p:cNvPr id="674" name="Google Shape;674;p8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VADER (Valence Aware Dictionary and Sentiment Reasoner) is a popular lexicon-based sentiment analysis tool designed specifically for social media text.</a:t>
            </a:r>
            <a:endParaRPr/>
          </a:p>
          <a:p>
            <a:pPr indent="-228600" lvl="0" marL="228600" rtl="0" algn="just">
              <a:lnSpc>
                <a:spcPct val="90000"/>
              </a:lnSpc>
              <a:spcBef>
                <a:spcPts val="1000"/>
              </a:spcBef>
              <a:spcAft>
                <a:spcPts val="0"/>
              </a:spcAft>
              <a:buClr>
                <a:schemeClr val="dk1"/>
              </a:buClr>
              <a:buSzPts val="2800"/>
              <a:buNone/>
            </a:pPr>
            <a:r>
              <a:rPr lang="en-US"/>
              <a:t>Unlike simple lexicon methods, VADER also considers:</a:t>
            </a:r>
            <a:endParaRPr/>
          </a:p>
          <a:p>
            <a:pPr indent="-228600" lvl="0" marL="228600" rtl="0" algn="just">
              <a:lnSpc>
                <a:spcPct val="90000"/>
              </a:lnSpc>
              <a:spcBef>
                <a:spcPts val="1000"/>
              </a:spcBef>
              <a:spcAft>
                <a:spcPts val="0"/>
              </a:spcAft>
              <a:buClr>
                <a:schemeClr val="dk1"/>
              </a:buClr>
              <a:buSzPts val="2800"/>
              <a:buChar char="•"/>
            </a:pPr>
            <a:r>
              <a:rPr lang="en-US"/>
              <a:t>Capitalization (GOOD vs good)</a:t>
            </a:r>
            <a:endParaRPr/>
          </a:p>
          <a:p>
            <a:pPr indent="-228600" lvl="0" marL="228600" rtl="0" algn="just">
              <a:lnSpc>
                <a:spcPct val="90000"/>
              </a:lnSpc>
              <a:spcBef>
                <a:spcPts val="1000"/>
              </a:spcBef>
              <a:spcAft>
                <a:spcPts val="0"/>
              </a:spcAft>
              <a:buClr>
                <a:schemeClr val="dk1"/>
              </a:buClr>
              <a:buSzPts val="2800"/>
              <a:buChar char="•"/>
            </a:pPr>
            <a:r>
              <a:rPr lang="en-US"/>
              <a:t>Punctuation (!!!)</a:t>
            </a:r>
            <a:endParaRPr/>
          </a:p>
          <a:p>
            <a:pPr indent="-228600" lvl="0" marL="228600" rtl="0" algn="just">
              <a:lnSpc>
                <a:spcPct val="90000"/>
              </a:lnSpc>
              <a:spcBef>
                <a:spcPts val="1000"/>
              </a:spcBef>
              <a:spcAft>
                <a:spcPts val="0"/>
              </a:spcAft>
              <a:buClr>
                <a:schemeClr val="dk1"/>
              </a:buClr>
              <a:buSzPts val="2800"/>
              <a:buChar char="•"/>
            </a:pPr>
            <a:r>
              <a:rPr lang="en-US"/>
              <a:t>Degree modifiers (very, extremely)</a:t>
            </a:r>
            <a:endParaRPr/>
          </a:p>
          <a:p>
            <a:pPr indent="-228600" lvl="0" marL="228600" rtl="0" algn="just">
              <a:lnSpc>
                <a:spcPct val="90000"/>
              </a:lnSpc>
              <a:spcBef>
                <a:spcPts val="1000"/>
              </a:spcBef>
              <a:spcAft>
                <a:spcPts val="0"/>
              </a:spcAft>
              <a:buClr>
                <a:schemeClr val="dk1"/>
              </a:buClr>
              <a:buSzPts val="2800"/>
              <a:buChar char="•"/>
            </a:pPr>
            <a:r>
              <a:rPr lang="en-US"/>
              <a:t>Emojis and slang</a:t>
            </a:r>
            <a:endParaRPr/>
          </a:p>
          <a:p>
            <a:pPr indent="-228600" lvl="0" marL="228600" rtl="0" algn="just">
              <a:lnSpc>
                <a:spcPct val="90000"/>
              </a:lnSpc>
              <a:spcBef>
                <a:spcPts val="1000"/>
              </a:spcBef>
              <a:spcAft>
                <a:spcPts val="0"/>
              </a:spcAft>
              <a:buClr>
                <a:schemeClr val="dk1"/>
              </a:buClr>
              <a:buSzPts val="2800"/>
              <a:buChar char="•"/>
            </a:pPr>
            <a:r>
              <a:rPr lang="en-US"/>
              <a:t>Negation (“not good”)</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75" name="Google Shape;675;p8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VADER Sentiment Analyzer</a:t>
            </a:r>
            <a:endParaRPr/>
          </a:p>
        </p:txBody>
      </p:sp>
      <p:sp>
        <p:nvSpPr>
          <p:cNvPr id="681" name="Google Shape;681;p8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VADER returns four sentiment scores:</a:t>
            </a:r>
            <a:endParaRPr/>
          </a:p>
          <a:p>
            <a:pPr indent="-228600" lvl="0" marL="228600" rtl="0" algn="l">
              <a:lnSpc>
                <a:spcPct val="90000"/>
              </a:lnSpc>
              <a:spcBef>
                <a:spcPts val="1000"/>
              </a:spcBef>
              <a:spcAft>
                <a:spcPts val="0"/>
              </a:spcAft>
              <a:buClr>
                <a:schemeClr val="dk1"/>
              </a:buClr>
              <a:buSzPts val="2800"/>
              <a:buChar char="•"/>
            </a:pPr>
            <a:r>
              <a:rPr b="1" lang="en-US"/>
              <a:t>positive</a:t>
            </a:r>
            <a:r>
              <a:rPr lang="en-US"/>
              <a:t> – proportion of positive sentiment</a:t>
            </a:r>
            <a:endParaRPr/>
          </a:p>
          <a:p>
            <a:pPr indent="-228600" lvl="0" marL="228600" rtl="0" algn="l">
              <a:lnSpc>
                <a:spcPct val="90000"/>
              </a:lnSpc>
              <a:spcBef>
                <a:spcPts val="1000"/>
              </a:spcBef>
              <a:spcAft>
                <a:spcPts val="0"/>
              </a:spcAft>
              <a:buClr>
                <a:schemeClr val="dk1"/>
              </a:buClr>
              <a:buSzPts val="2800"/>
              <a:buChar char="•"/>
            </a:pPr>
            <a:r>
              <a:rPr b="1" lang="en-US"/>
              <a:t>negative</a:t>
            </a:r>
            <a:r>
              <a:rPr lang="en-US"/>
              <a:t> – proportion of negative sentiment</a:t>
            </a:r>
            <a:endParaRPr/>
          </a:p>
          <a:p>
            <a:pPr indent="-228600" lvl="0" marL="228600" rtl="0" algn="l">
              <a:lnSpc>
                <a:spcPct val="90000"/>
              </a:lnSpc>
              <a:spcBef>
                <a:spcPts val="1000"/>
              </a:spcBef>
              <a:spcAft>
                <a:spcPts val="0"/>
              </a:spcAft>
              <a:buClr>
                <a:schemeClr val="dk1"/>
              </a:buClr>
              <a:buSzPts val="2800"/>
              <a:buChar char="•"/>
            </a:pPr>
            <a:r>
              <a:rPr b="1" lang="en-US"/>
              <a:t>neutral</a:t>
            </a:r>
            <a:r>
              <a:rPr lang="en-US"/>
              <a:t> – proportion of neutral sentiment</a:t>
            </a:r>
            <a:endParaRPr/>
          </a:p>
          <a:p>
            <a:pPr indent="-228600" lvl="0" marL="228600" rtl="0" algn="l">
              <a:lnSpc>
                <a:spcPct val="90000"/>
              </a:lnSpc>
              <a:spcBef>
                <a:spcPts val="1000"/>
              </a:spcBef>
              <a:spcAft>
                <a:spcPts val="0"/>
              </a:spcAft>
              <a:buClr>
                <a:schemeClr val="dk1"/>
              </a:buClr>
              <a:buSzPts val="2800"/>
              <a:buChar char="•"/>
            </a:pPr>
            <a:r>
              <a:rPr b="1" lang="en-US"/>
              <a:t>compound</a:t>
            </a:r>
            <a:r>
              <a:rPr lang="en-US"/>
              <a:t> – overall sentiment score (ranges from -1 to +1)</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82" name="Google Shape;682;p8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VADER Sentiment Analyzer</a:t>
            </a:r>
            <a:endParaRPr/>
          </a:p>
        </p:txBody>
      </p:sp>
      <p:sp>
        <p:nvSpPr>
          <p:cNvPr id="688" name="Google Shape;688;p8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Interpretation of compound score:</a:t>
            </a:r>
            <a:endParaRPr/>
          </a:p>
          <a:p>
            <a:pPr indent="-228600" lvl="0" marL="228600" rtl="0" algn="just">
              <a:lnSpc>
                <a:spcPct val="90000"/>
              </a:lnSpc>
              <a:spcBef>
                <a:spcPts val="1000"/>
              </a:spcBef>
              <a:spcAft>
                <a:spcPts val="0"/>
              </a:spcAft>
              <a:buClr>
                <a:schemeClr val="dk1"/>
              </a:buClr>
              <a:buSzPts val="2800"/>
              <a:buNone/>
            </a:pPr>
            <a:r>
              <a:rPr b="1" lang="en-US"/>
              <a:t>compound ≥ 0.05 →</a:t>
            </a:r>
            <a:r>
              <a:rPr lang="en-US"/>
              <a:t> Positive</a:t>
            </a:r>
            <a:endParaRPr/>
          </a:p>
          <a:p>
            <a:pPr indent="-228600" lvl="0" marL="228600" rtl="0" algn="just">
              <a:lnSpc>
                <a:spcPct val="90000"/>
              </a:lnSpc>
              <a:spcBef>
                <a:spcPts val="1000"/>
              </a:spcBef>
              <a:spcAft>
                <a:spcPts val="0"/>
              </a:spcAft>
              <a:buClr>
                <a:schemeClr val="dk1"/>
              </a:buClr>
              <a:buSzPts val="2800"/>
              <a:buNone/>
            </a:pPr>
            <a:r>
              <a:rPr b="1" lang="en-US"/>
              <a:t>compound ≤ -0.05 →</a:t>
            </a:r>
            <a:r>
              <a:rPr lang="en-US"/>
              <a:t> Negative</a:t>
            </a:r>
            <a:endParaRPr/>
          </a:p>
          <a:p>
            <a:pPr indent="-228600" lvl="0" marL="228600" rtl="0" algn="just">
              <a:lnSpc>
                <a:spcPct val="90000"/>
              </a:lnSpc>
              <a:spcBef>
                <a:spcPts val="1000"/>
              </a:spcBef>
              <a:spcAft>
                <a:spcPts val="0"/>
              </a:spcAft>
              <a:buClr>
                <a:schemeClr val="dk1"/>
              </a:buClr>
              <a:buSzPts val="2800"/>
              <a:buNone/>
            </a:pPr>
            <a:r>
              <a:rPr b="1" lang="en-US"/>
              <a:t>otherwise →</a:t>
            </a:r>
            <a:r>
              <a:rPr lang="en-US"/>
              <a:t> Neutral</a:t>
            </a:r>
            <a:endParaRPr/>
          </a:p>
          <a:p>
            <a:pPr indent="0" lvl="0" marL="0" rtl="0" algn="just">
              <a:lnSpc>
                <a:spcPct val="90000"/>
              </a:lnSpc>
              <a:spcBef>
                <a:spcPts val="1000"/>
              </a:spcBef>
              <a:spcAft>
                <a:spcPts val="0"/>
              </a:spcAft>
              <a:buClr>
                <a:schemeClr val="dk1"/>
              </a:buClr>
              <a:buSzPts val="2800"/>
              <a:buNone/>
            </a:pPr>
            <a:r>
              <a:rPr lang="en-US"/>
              <a:t>VADER is fast, requires no training data, and works well for tweets, reviews, and online comments.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689" name="Google Shape;689;p8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VADER Sentiment </a:t>
            </a:r>
            <a:br>
              <a:rPr b="1" lang="en-US"/>
            </a:br>
            <a:r>
              <a:rPr b="1" lang="en-US"/>
              <a:t>Analysis Using Python</a:t>
            </a:r>
            <a:endParaRPr b="1"/>
          </a:p>
        </p:txBody>
      </p:sp>
      <p:sp>
        <p:nvSpPr>
          <p:cNvPr id="695" name="Google Shape;695;p8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None/>
            </a:pPr>
            <a:r>
              <a:rPr lang="en-US"/>
              <a:t>VADER can be used in Python through the </a:t>
            </a:r>
            <a:r>
              <a:rPr lang="en-US">
                <a:latin typeface="Arial"/>
                <a:ea typeface="Arial"/>
                <a:cs typeface="Arial"/>
                <a:sym typeface="Arial"/>
              </a:rPr>
              <a:t>vaderSentiment</a:t>
            </a:r>
            <a:r>
              <a:rPr lang="en-US"/>
              <a:t> library.</a:t>
            </a:r>
            <a:endParaRPr/>
          </a:p>
          <a:p>
            <a:pPr indent="-228600" lvl="0" marL="228600" rtl="0" algn="l">
              <a:lnSpc>
                <a:spcPct val="90000"/>
              </a:lnSpc>
              <a:spcBef>
                <a:spcPts val="1000"/>
              </a:spcBef>
              <a:spcAft>
                <a:spcPts val="0"/>
              </a:spcAft>
              <a:buClr>
                <a:schemeClr val="dk1"/>
              </a:buClr>
              <a:buSzPct val="100000"/>
              <a:buNone/>
            </a:pPr>
            <a:r>
              <a:rPr b="1" lang="en-US"/>
              <a:t>Example Code:</a:t>
            </a:r>
            <a:endParaRPr/>
          </a:p>
          <a:p>
            <a:pPr indent="-228600" lvl="0" marL="228600" rtl="0" algn="l">
              <a:lnSpc>
                <a:spcPct val="90000"/>
              </a:lnSpc>
              <a:spcBef>
                <a:spcPts val="1000"/>
              </a:spcBef>
              <a:spcAft>
                <a:spcPts val="0"/>
              </a:spcAft>
              <a:buClr>
                <a:schemeClr val="dk1"/>
              </a:buClr>
              <a:buSzPct val="100000"/>
              <a:buNone/>
            </a:pPr>
            <a:r>
              <a:rPr lang="en-US">
                <a:latin typeface="Consolas"/>
                <a:ea typeface="Consolas"/>
                <a:cs typeface="Consolas"/>
                <a:sym typeface="Consolas"/>
              </a:rPr>
              <a:t>from vaderSentiment.vaderSentiment import SentimentIntensityAnalyzer</a:t>
            </a:r>
            <a:br>
              <a:rPr lang="en-US">
                <a:latin typeface="Consolas"/>
                <a:ea typeface="Consolas"/>
                <a:cs typeface="Consolas"/>
                <a:sym typeface="Consolas"/>
              </a:rPr>
            </a:br>
            <a:br>
              <a:rPr lang="en-US">
                <a:latin typeface="Consolas"/>
                <a:ea typeface="Consolas"/>
                <a:cs typeface="Consolas"/>
                <a:sym typeface="Consolas"/>
              </a:rPr>
            </a:br>
            <a:r>
              <a:rPr lang="en-US">
                <a:latin typeface="Consolas"/>
                <a:ea typeface="Consolas"/>
                <a:cs typeface="Consolas"/>
                <a:sym typeface="Consolas"/>
              </a:rPr>
              <a:t>analyzer = SentimentIntensityAnalyzer()</a:t>
            </a:r>
            <a:br>
              <a:rPr lang="en-US">
                <a:latin typeface="Consolas"/>
                <a:ea typeface="Consolas"/>
                <a:cs typeface="Consolas"/>
                <a:sym typeface="Consolas"/>
              </a:rPr>
            </a:br>
            <a:br>
              <a:rPr lang="en-US">
                <a:latin typeface="Consolas"/>
                <a:ea typeface="Consolas"/>
                <a:cs typeface="Consolas"/>
                <a:sym typeface="Consolas"/>
              </a:rPr>
            </a:br>
            <a:r>
              <a:rPr lang="en-US">
                <a:latin typeface="Consolas"/>
                <a:ea typeface="Consolas"/>
                <a:cs typeface="Consolas"/>
                <a:sym typeface="Consolas"/>
              </a:rPr>
              <a:t>text = "I absolutely love this product, but the battery life is terrible!"</a:t>
            </a:r>
            <a:br>
              <a:rPr lang="en-US">
                <a:latin typeface="Consolas"/>
                <a:ea typeface="Consolas"/>
                <a:cs typeface="Consolas"/>
                <a:sym typeface="Consolas"/>
              </a:rPr>
            </a:br>
            <a:br>
              <a:rPr lang="en-US">
                <a:latin typeface="Consolas"/>
                <a:ea typeface="Consolas"/>
                <a:cs typeface="Consolas"/>
                <a:sym typeface="Consolas"/>
              </a:rPr>
            </a:br>
            <a:r>
              <a:rPr lang="en-US">
                <a:latin typeface="Consolas"/>
                <a:ea typeface="Consolas"/>
                <a:cs typeface="Consolas"/>
                <a:sym typeface="Consolas"/>
              </a:rPr>
              <a:t>scores = analyzer.polarity_scores(text)</a:t>
            </a:r>
            <a:br>
              <a:rPr lang="en-US">
                <a:latin typeface="Consolas"/>
                <a:ea typeface="Consolas"/>
                <a:cs typeface="Consolas"/>
                <a:sym typeface="Consolas"/>
              </a:rPr>
            </a:br>
            <a:br>
              <a:rPr lang="en-US">
                <a:latin typeface="Consolas"/>
                <a:ea typeface="Consolas"/>
                <a:cs typeface="Consolas"/>
                <a:sym typeface="Consolas"/>
              </a:rPr>
            </a:br>
            <a:r>
              <a:rPr lang="en-US">
                <a:latin typeface="Consolas"/>
                <a:ea typeface="Consolas"/>
                <a:cs typeface="Consolas"/>
                <a:sym typeface="Consolas"/>
              </a:rPr>
              <a:t>print(scores)</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696" name="Google Shape;696;p8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VADER Sentiment </a:t>
            </a:r>
            <a:br>
              <a:rPr b="1" lang="en-US"/>
            </a:br>
            <a:r>
              <a:rPr b="1" lang="en-US"/>
              <a:t>Analysis Using Python</a:t>
            </a:r>
            <a:endParaRPr/>
          </a:p>
        </p:txBody>
      </p:sp>
      <p:sp>
        <p:nvSpPr>
          <p:cNvPr id="702" name="Google Shape;702;p8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None/>
            </a:pPr>
            <a:r>
              <a:rPr b="1" lang="en-US"/>
              <a:t>Sample Output:</a:t>
            </a:r>
            <a:endParaRPr/>
          </a:p>
          <a:p>
            <a:pPr indent="0" lvl="0" marL="0" rtl="0" algn="just">
              <a:lnSpc>
                <a:spcPct val="90000"/>
              </a:lnSpc>
              <a:spcBef>
                <a:spcPts val="1000"/>
              </a:spcBef>
              <a:spcAft>
                <a:spcPts val="0"/>
              </a:spcAft>
              <a:buClr>
                <a:schemeClr val="dk1"/>
              </a:buClr>
              <a:buSzPts val="2800"/>
              <a:buNone/>
            </a:pPr>
            <a:r>
              <a:rPr lang="en-US">
                <a:latin typeface="Consolas"/>
                <a:ea typeface="Consolas"/>
                <a:cs typeface="Consolas"/>
                <a:sym typeface="Consolas"/>
              </a:rPr>
              <a:t>{'neg': 0.32, 'neu': 0.34, 'pos': 0.34, 'compound': 0.0516}</a:t>
            </a:r>
            <a:endParaRPr/>
          </a:p>
          <a:p>
            <a:pPr indent="-228600" lvl="0" marL="228600" rtl="0" algn="just">
              <a:lnSpc>
                <a:spcPct val="90000"/>
              </a:lnSpc>
              <a:spcBef>
                <a:spcPts val="1000"/>
              </a:spcBef>
              <a:spcAft>
                <a:spcPts val="0"/>
              </a:spcAft>
              <a:buClr>
                <a:schemeClr val="dk1"/>
              </a:buClr>
              <a:buSzPts val="2800"/>
              <a:buNone/>
            </a:pPr>
            <a:r>
              <a:rPr b="1" lang="en-US"/>
              <a:t>Interpretation:</a:t>
            </a:r>
            <a:endParaRPr/>
          </a:p>
          <a:p>
            <a:pPr indent="-228600" lvl="0" marL="228600" rtl="0" algn="just">
              <a:lnSpc>
                <a:spcPct val="90000"/>
              </a:lnSpc>
              <a:spcBef>
                <a:spcPts val="1000"/>
              </a:spcBef>
              <a:spcAft>
                <a:spcPts val="0"/>
              </a:spcAft>
              <a:buClr>
                <a:schemeClr val="dk1"/>
              </a:buClr>
              <a:buSzPts val="2800"/>
              <a:buChar char="•"/>
            </a:pPr>
            <a:r>
              <a:rPr b="1" lang="en-US"/>
              <a:t>pos</a:t>
            </a:r>
            <a:r>
              <a:rPr lang="en-US"/>
              <a:t> → proportion of positive sentiment</a:t>
            </a:r>
            <a:endParaRPr/>
          </a:p>
          <a:p>
            <a:pPr indent="-228600" lvl="0" marL="228600" rtl="0" algn="just">
              <a:lnSpc>
                <a:spcPct val="90000"/>
              </a:lnSpc>
              <a:spcBef>
                <a:spcPts val="1000"/>
              </a:spcBef>
              <a:spcAft>
                <a:spcPts val="0"/>
              </a:spcAft>
              <a:buClr>
                <a:schemeClr val="dk1"/>
              </a:buClr>
              <a:buSzPts val="2800"/>
              <a:buChar char="•"/>
            </a:pPr>
            <a:r>
              <a:rPr b="1" lang="en-US"/>
              <a:t>neg</a:t>
            </a:r>
            <a:r>
              <a:rPr lang="en-US"/>
              <a:t> → proportion of negative sentiment</a:t>
            </a:r>
            <a:endParaRPr/>
          </a:p>
          <a:p>
            <a:pPr indent="-228600" lvl="0" marL="228600" rtl="0" algn="just">
              <a:lnSpc>
                <a:spcPct val="90000"/>
              </a:lnSpc>
              <a:spcBef>
                <a:spcPts val="1000"/>
              </a:spcBef>
              <a:spcAft>
                <a:spcPts val="0"/>
              </a:spcAft>
              <a:buClr>
                <a:schemeClr val="dk1"/>
              </a:buClr>
              <a:buSzPts val="2800"/>
              <a:buChar char="•"/>
            </a:pPr>
            <a:r>
              <a:rPr b="1" lang="en-US"/>
              <a:t>neu</a:t>
            </a:r>
            <a:r>
              <a:rPr lang="en-US"/>
              <a:t> → proportion of neutral sentiment</a:t>
            </a:r>
            <a:endParaRPr/>
          </a:p>
          <a:p>
            <a:pPr indent="-228600" lvl="0" marL="228600" rtl="0" algn="just">
              <a:lnSpc>
                <a:spcPct val="90000"/>
              </a:lnSpc>
              <a:spcBef>
                <a:spcPts val="1000"/>
              </a:spcBef>
              <a:spcAft>
                <a:spcPts val="0"/>
              </a:spcAft>
              <a:buClr>
                <a:schemeClr val="dk1"/>
              </a:buClr>
              <a:buSzPts val="2800"/>
              <a:buChar char="•"/>
            </a:pPr>
            <a:r>
              <a:rPr b="1" lang="en-US"/>
              <a:t>compound</a:t>
            </a:r>
            <a:r>
              <a:rPr lang="en-US"/>
              <a:t> → overall sentiment score (-1 to +1)</a:t>
            </a:r>
            <a:endParaRPr/>
          </a:p>
          <a:p>
            <a:pPr indent="-228600" lvl="0" marL="228600" rtl="0" algn="just">
              <a:lnSpc>
                <a:spcPct val="90000"/>
              </a:lnSpc>
              <a:spcBef>
                <a:spcPts val="1000"/>
              </a:spcBef>
              <a:spcAft>
                <a:spcPts val="0"/>
              </a:spcAft>
              <a:buClr>
                <a:schemeClr val="dk1"/>
              </a:buClr>
              <a:buSzPts val="2800"/>
              <a:buNone/>
            </a:pPr>
            <a:r>
              <a:rPr lang="en-US"/>
              <a:t>Final sentiment is determined mainly using the </a:t>
            </a:r>
            <a:r>
              <a:rPr b="1" lang="en-US"/>
              <a:t>compound</a:t>
            </a:r>
            <a:r>
              <a:rPr lang="en-US"/>
              <a:t> score.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03" name="Google Shape;703;p8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Machine Learning–Based Sentiment Analysis</a:t>
            </a:r>
            <a:r>
              <a:rPr lang="en-US"/>
              <a:t> </a:t>
            </a:r>
            <a:endParaRPr/>
          </a:p>
        </p:txBody>
      </p:sp>
      <p:sp>
        <p:nvSpPr>
          <p:cNvPr id="709" name="Google Shape;709;p9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Machine Learning–based sentiment analysis uses labeled training data to teach models how to classify text as positive, negative, or neutral. Unlike lexicon-based approaches, machine learning models </a:t>
            </a:r>
            <a:r>
              <a:rPr b="1" lang="en-US"/>
              <a:t>learn patterns directly from data</a:t>
            </a:r>
            <a:r>
              <a:rPr lang="en-US"/>
              <a:t>.</a:t>
            </a:r>
            <a:endParaRPr/>
          </a:p>
          <a:p>
            <a:pPr indent="-228600" lvl="0" marL="228600" rtl="0" algn="just">
              <a:lnSpc>
                <a:spcPct val="90000"/>
              </a:lnSpc>
              <a:spcBef>
                <a:spcPts val="1000"/>
              </a:spcBef>
              <a:spcAft>
                <a:spcPts val="0"/>
              </a:spcAft>
              <a:buClr>
                <a:schemeClr val="dk1"/>
              </a:buClr>
              <a:buSzPts val="2800"/>
              <a:buNone/>
            </a:pPr>
            <a:r>
              <a:rPr lang="en-US"/>
              <a:t>The general workflow is:</a:t>
            </a:r>
            <a:endParaRPr/>
          </a:p>
          <a:p>
            <a:pPr indent="-228600" lvl="0" marL="228600" rtl="0" algn="just">
              <a:lnSpc>
                <a:spcPct val="90000"/>
              </a:lnSpc>
              <a:spcBef>
                <a:spcPts val="1000"/>
              </a:spcBef>
              <a:spcAft>
                <a:spcPts val="0"/>
              </a:spcAft>
              <a:buClr>
                <a:schemeClr val="dk1"/>
              </a:buClr>
              <a:buSzPts val="2800"/>
              <a:buChar char="•"/>
            </a:pPr>
            <a:r>
              <a:rPr lang="en-US"/>
              <a:t>Collect labeled text data</a:t>
            </a:r>
            <a:endParaRPr/>
          </a:p>
          <a:p>
            <a:pPr indent="-228600" lvl="0" marL="228600" rtl="0" algn="just">
              <a:lnSpc>
                <a:spcPct val="90000"/>
              </a:lnSpc>
              <a:spcBef>
                <a:spcPts val="1000"/>
              </a:spcBef>
              <a:spcAft>
                <a:spcPts val="0"/>
              </a:spcAft>
              <a:buClr>
                <a:schemeClr val="dk1"/>
              </a:buClr>
              <a:buSzPts val="2800"/>
              <a:buChar char="•"/>
            </a:pPr>
            <a:r>
              <a:rPr lang="en-US"/>
              <a:t>Preprocess the text</a:t>
            </a:r>
            <a:endParaRPr/>
          </a:p>
          <a:p>
            <a:pPr indent="-228600" lvl="0" marL="228600" rtl="0" algn="just">
              <a:lnSpc>
                <a:spcPct val="90000"/>
              </a:lnSpc>
              <a:spcBef>
                <a:spcPts val="1000"/>
              </a:spcBef>
              <a:spcAft>
                <a:spcPts val="0"/>
              </a:spcAft>
              <a:buClr>
                <a:schemeClr val="dk1"/>
              </a:buClr>
              <a:buSzPts val="2800"/>
              <a:buChar char="•"/>
            </a:pPr>
            <a:r>
              <a:rPr lang="en-US"/>
              <a:t>Convert text into numerical features (BoW / TF-IDF / Embeddings)</a:t>
            </a:r>
            <a:endParaRPr/>
          </a:p>
          <a:p>
            <a:pPr indent="-228600" lvl="0" marL="228600" rtl="0" algn="just">
              <a:lnSpc>
                <a:spcPct val="90000"/>
              </a:lnSpc>
              <a:spcBef>
                <a:spcPts val="1000"/>
              </a:spcBef>
              <a:spcAft>
                <a:spcPts val="0"/>
              </a:spcAft>
              <a:buClr>
                <a:schemeClr val="dk1"/>
              </a:buClr>
              <a:buSzPts val="2800"/>
              <a:buChar char="•"/>
            </a:pPr>
            <a:r>
              <a:rPr lang="en-US"/>
              <a:t>Train a machine learning model</a:t>
            </a:r>
            <a:endParaRPr/>
          </a:p>
          <a:p>
            <a:pPr indent="-228600" lvl="0" marL="228600" rtl="0" algn="just">
              <a:lnSpc>
                <a:spcPct val="90000"/>
              </a:lnSpc>
              <a:spcBef>
                <a:spcPts val="1000"/>
              </a:spcBef>
              <a:spcAft>
                <a:spcPts val="0"/>
              </a:spcAft>
              <a:buClr>
                <a:schemeClr val="dk1"/>
              </a:buClr>
              <a:buSzPts val="2800"/>
              <a:buChar char="•"/>
            </a:pPr>
            <a:r>
              <a:rPr lang="en-US"/>
              <a:t>Predict sentiment for new text</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10" name="Google Shape;710;p9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Machine Learning–Based Sentiment Analysis</a:t>
            </a:r>
            <a:endParaRPr/>
          </a:p>
        </p:txBody>
      </p:sp>
      <p:sp>
        <p:nvSpPr>
          <p:cNvPr id="716" name="Google Shape;716;p9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Common machine learning algorithms used for sentiment analysis include:</a:t>
            </a:r>
            <a:endParaRPr/>
          </a:p>
          <a:p>
            <a:pPr indent="-457200" lvl="0" marL="457200" rtl="0" algn="just">
              <a:lnSpc>
                <a:spcPct val="90000"/>
              </a:lnSpc>
              <a:spcBef>
                <a:spcPts val="1000"/>
              </a:spcBef>
              <a:spcAft>
                <a:spcPts val="0"/>
              </a:spcAft>
              <a:buClr>
                <a:schemeClr val="dk1"/>
              </a:buClr>
              <a:buSzPts val="2800"/>
              <a:buChar char="•"/>
            </a:pPr>
            <a:r>
              <a:rPr lang="en-US"/>
              <a:t>Naive Bayes</a:t>
            </a:r>
            <a:endParaRPr/>
          </a:p>
          <a:p>
            <a:pPr indent="-457200" lvl="0" marL="457200" rtl="0" algn="just">
              <a:lnSpc>
                <a:spcPct val="90000"/>
              </a:lnSpc>
              <a:spcBef>
                <a:spcPts val="1000"/>
              </a:spcBef>
              <a:spcAft>
                <a:spcPts val="0"/>
              </a:spcAft>
              <a:buClr>
                <a:schemeClr val="dk1"/>
              </a:buClr>
              <a:buSzPts val="2800"/>
              <a:buChar char="•"/>
            </a:pPr>
            <a:r>
              <a:rPr lang="en-US"/>
              <a:t>Support Vector Machines (SVM)</a:t>
            </a:r>
            <a:endParaRPr/>
          </a:p>
          <a:p>
            <a:pPr indent="-457200" lvl="0" marL="457200" rtl="0" algn="just">
              <a:lnSpc>
                <a:spcPct val="90000"/>
              </a:lnSpc>
              <a:spcBef>
                <a:spcPts val="1000"/>
              </a:spcBef>
              <a:spcAft>
                <a:spcPts val="0"/>
              </a:spcAft>
              <a:buClr>
                <a:schemeClr val="dk1"/>
              </a:buClr>
              <a:buSzPts val="2800"/>
              <a:buChar char="•"/>
            </a:pPr>
            <a:r>
              <a:rPr lang="en-US"/>
              <a:t>Logistic Regression</a:t>
            </a:r>
            <a:endParaRPr/>
          </a:p>
          <a:p>
            <a:pPr indent="-457200" lvl="0" marL="457200" rtl="0" algn="just">
              <a:lnSpc>
                <a:spcPct val="90000"/>
              </a:lnSpc>
              <a:spcBef>
                <a:spcPts val="1000"/>
              </a:spcBef>
              <a:spcAft>
                <a:spcPts val="0"/>
              </a:spcAft>
              <a:buClr>
                <a:schemeClr val="dk1"/>
              </a:buClr>
              <a:buSzPts val="2800"/>
              <a:buChar char="•"/>
            </a:pPr>
            <a:r>
              <a:rPr lang="en-US"/>
              <a:t>Deep Learning models (CNN, RNN, LSTM)</a:t>
            </a:r>
            <a:endParaRPr/>
          </a:p>
          <a:p>
            <a:pPr indent="0" lvl="0" marL="0" rtl="0" algn="just">
              <a:lnSpc>
                <a:spcPct val="90000"/>
              </a:lnSpc>
              <a:spcBef>
                <a:spcPts val="1000"/>
              </a:spcBef>
              <a:spcAft>
                <a:spcPts val="0"/>
              </a:spcAft>
              <a:buClr>
                <a:schemeClr val="dk1"/>
              </a:buClr>
              <a:buSzPts val="2800"/>
              <a:buNone/>
            </a:pPr>
            <a:r>
              <a:rPr lang="en-US"/>
              <a:t>Machine learning approaches are more flexible and accurate than lexicon-based methods, especially for complex language.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17" name="Google Shape;717;p9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Naive Bayes for Sentiment Analysis</a:t>
            </a:r>
            <a:endParaRPr b="1"/>
          </a:p>
        </p:txBody>
      </p:sp>
      <p:sp>
        <p:nvSpPr>
          <p:cNvPr id="723" name="Google Shape;723;p9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Naive Bayes is a probabilistic machine learning algorithm based on </a:t>
            </a:r>
            <a:r>
              <a:rPr b="1" lang="en-US"/>
              <a:t>Bayes’ Theorem</a:t>
            </a:r>
            <a:r>
              <a:rPr lang="en-US"/>
              <a:t>. It is called </a:t>
            </a:r>
            <a:r>
              <a:rPr i="1" lang="en-US"/>
              <a:t>naive</a:t>
            </a:r>
            <a:r>
              <a:rPr lang="en-US"/>
              <a:t> because it assumes that all features (words) are independent of each other. Despite this unrealistic assumption, Naive Bayes performs surprisingly well for text classification.</a:t>
            </a:r>
            <a:endParaRPr/>
          </a:p>
          <a:p>
            <a:pPr indent="-228600" lvl="0" marL="228600" rtl="0" algn="just">
              <a:lnSpc>
                <a:spcPct val="90000"/>
              </a:lnSpc>
              <a:spcBef>
                <a:spcPts val="1000"/>
              </a:spcBef>
              <a:spcAft>
                <a:spcPts val="0"/>
              </a:spcAft>
              <a:buClr>
                <a:schemeClr val="dk1"/>
              </a:buClr>
              <a:buSzPts val="2800"/>
              <a:buNone/>
            </a:pPr>
            <a:r>
              <a:rPr lang="en-US"/>
              <a:t>In sentiment analysis, Naive Bayes calculates:</a:t>
            </a:r>
            <a:endParaRPr/>
          </a:p>
          <a:p>
            <a:pPr indent="-228600" lvl="0" marL="228600" rtl="0" algn="just">
              <a:lnSpc>
                <a:spcPct val="90000"/>
              </a:lnSpc>
              <a:spcBef>
                <a:spcPts val="1000"/>
              </a:spcBef>
              <a:spcAft>
                <a:spcPts val="0"/>
              </a:spcAft>
              <a:buClr>
                <a:schemeClr val="dk1"/>
              </a:buClr>
              <a:buSzPts val="2800"/>
              <a:buChar char="•"/>
            </a:pPr>
            <a:r>
              <a:rPr lang="en-US"/>
              <a:t>Probability of a document being Positive</a:t>
            </a:r>
            <a:endParaRPr/>
          </a:p>
          <a:p>
            <a:pPr indent="-228600" lvl="0" marL="228600" rtl="0" algn="just">
              <a:lnSpc>
                <a:spcPct val="90000"/>
              </a:lnSpc>
              <a:spcBef>
                <a:spcPts val="1000"/>
              </a:spcBef>
              <a:spcAft>
                <a:spcPts val="0"/>
              </a:spcAft>
              <a:buClr>
                <a:schemeClr val="dk1"/>
              </a:buClr>
              <a:buSzPts val="2800"/>
              <a:buChar char="•"/>
            </a:pPr>
            <a:r>
              <a:rPr lang="en-US"/>
              <a:t>Probability of a document being Negative</a:t>
            </a:r>
            <a:endParaRPr/>
          </a:p>
          <a:p>
            <a:pPr indent="-228600" lvl="0" marL="228600" rtl="0" algn="just">
              <a:lnSpc>
                <a:spcPct val="90000"/>
              </a:lnSpc>
              <a:spcBef>
                <a:spcPts val="1000"/>
              </a:spcBef>
              <a:spcAft>
                <a:spcPts val="0"/>
              </a:spcAft>
              <a:buClr>
                <a:schemeClr val="dk1"/>
              </a:buClr>
              <a:buSzPts val="2800"/>
              <a:buChar char="•"/>
            </a:pPr>
            <a:r>
              <a:rPr lang="en-US"/>
              <a:t>Probability of a document being Neutral</a:t>
            </a:r>
            <a:endParaRPr/>
          </a:p>
          <a:p>
            <a:pPr indent="-228600" lvl="0" marL="228600" rtl="0" algn="just">
              <a:lnSpc>
                <a:spcPct val="90000"/>
              </a:lnSpc>
              <a:spcBef>
                <a:spcPts val="1000"/>
              </a:spcBef>
              <a:spcAft>
                <a:spcPts val="0"/>
              </a:spcAft>
              <a:buClr>
                <a:schemeClr val="dk1"/>
              </a:buClr>
              <a:buSzPts val="2800"/>
              <a:buNone/>
            </a:pPr>
            <a:r>
              <a:rPr lang="en-US"/>
              <a:t>and selects the class with the highest probability.</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24" name="Google Shape;724;p9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Naive Bayes for Sentiment Analysis</a:t>
            </a:r>
            <a:endParaRPr/>
          </a:p>
        </p:txBody>
      </p:sp>
      <p:sp>
        <p:nvSpPr>
          <p:cNvPr id="730" name="Google Shape;730;p9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Mathematically:</a:t>
            </a:r>
            <a:endParaRPr b="1"/>
          </a:p>
          <a:p>
            <a:pPr indent="0" lvl="0" marL="0" rtl="0" algn="just">
              <a:lnSpc>
                <a:spcPct val="90000"/>
              </a:lnSpc>
              <a:spcBef>
                <a:spcPts val="1000"/>
              </a:spcBef>
              <a:spcAft>
                <a:spcPts val="0"/>
              </a:spcAft>
              <a:buClr>
                <a:schemeClr val="dk1"/>
              </a:buClr>
              <a:buSzPts val="2800"/>
              <a:buNone/>
            </a:pPr>
            <a:r>
              <a:rPr lang="en-US"/>
              <a:t>P(Class | Document) ∝ P(Class) × P(W₁|Class) × P(W₂|Class) × … × P(Wn|Class)</a:t>
            </a:r>
            <a:endParaRPr/>
          </a:p>
          <a:p>
            <a:pPr indent="-228600" lvl="0" marL="228600" rtl="0" algn="just">
              <a:lnSpc>
                <a:spcPct val="90000"/>
              </a:lnSpc>
              <a:spcBef>
                <a:spcPts val="1000"/>
              </a:spcBef>
              <a:spcAft>
                <a:spcPts val="0"/>
              </a:spcAft>
              <a:buClr>
                <a:schemeClr val="dk1"/>
              </a:buClr>
              <a:buSzPts val="2800"/>
              <a:buNone/>
            </a:pPr>
            <a:r>
              <a:rPr b="1" lang="en-US"/>
              <a:t>Where:</a:t>
            </a:r>
            <a:endParaRPr/>
          </a:p>
          <a:p>
            <a:pPr indent="-228600" lvl="0" marL="228600" rtl="0" algn="just">
              <a:lnSpc>
                <a:spcPct val="90000"/>
              </a:lnSpc>
              <a:spcBef>
                <a:spcPts val="1000"/>
              </a:spcBef>
              <a:spcAft>
                <a:spcPts val="0"/>
              </a:spcAft>
              <a:buClr>
                <a:schemeClr val="dk1"/>
              </a:buClr>
              <a:buSzPts val="2800"/>
              <a:buChar char="•"/>
            </a:pPr>
            <a:r>
              <a:rPr lang="en-US"/>
              <a:t>P(Class) → prior probability of sentiment</a:t>
            </a:r>
            <a:endParaRPr/>
          </a:p>
          <a:p>
            <a:pPr indent="-228600" lvl="0" marL="228600" rtl="0" algn="just">
              <a:lnSpc>
                <a:spcPct val="90000"/>
              </a:lnSpc>
              <a:spcBef>
                <a:spcPts val="1000"/>
              </a:spcBef>
              <a:spcAft>
                <a:spcPts val="0"/>
              </a:spcAft>
              <a:buClr>
                <a:schemeClr val="dk1"/>
              </a:buClr>
              <a:buSzPts val="2800"/>
              <a:buChar char="•"/>
            </a:pPr>
            <a:r>
              <a:rPr lang="en-US"/>
              <a:t>P(W|Class) → likelihood of word given sentiment</a:t>
            </a:r>
            <a:endParaRPr/>
          </a:p>
          <a:p>
            <a:pPr indent="-228600" lvl="0" marL="228600" rtl="0" algn="just">
              <a:lnSpc>
                <a:spcPct val="90000"/>
              </a:lnSpc>
              <a:spcBef>
                <a:spcPts val="1000"/>
              </a:spcBef>
              <a:spcAft>
                <a:spcPts val="0"/>
              </a:spcAft>
              <a:buClr>
                <a:schemeClr val="dk1"/>
              </a:buClr>
              <a:buSzPts val="2800"/>
              <a:buNone/>
            </a:pPr>
            <a:r>
              <a:rPr lang="en-US"/>
              <a:t>Naive Bayes is fast, simple, and effective for large text datasets.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31" name="Google Shape;731;p9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Naive Bayes for </a:t>
            </a:r>
            <a:br>
              <a:rPr b="1" lang="en-US"/>
            </a:br>
            <a:r>
              <a:rPr b="1" lang="en-US"/>
              <a:t>Sentiment Analysis (Python)</a:t>
            </a:r>
            <a:endParaRPr b="1"/>
          </a:p>
        </p:txBody>
      </p:sp>
      <p:sp>
        <p:nvSpPr>
          <p:cNvPr id="737" name="Google Shape;737;p9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Naive Bayes can be implemented using scikit-learn along with TF–IDF features.</a:t>
            </a:r>
            <a:endParaRPr/>
          </a:p>
          <a:p>
            <a:pPr indent="-228600" lvl="0" marL="228600" rtl="0" algn="l">
              <a:lnSpc>
                <a:spcPct val="90000"/>
              </a:lnSpc>
              <a:spcBef>
                <a:spcPts val="1000"/>
              </a:spcBef>
              <a:spcAft>
                <a:spcPts val="0"/>
              </a:spcAft>
              <a:buClr>
                <a:schemeClr val="dk1"/>
              </a:buClr>
              <a:buSzPts val="2800"/>
              <a:buNone/>
            </a:pPr>
            <a:r>
              <a:rPr b="1" lang="en-US"/>
              <a:t>Example Code:</a:t>
            </a:r>
            <a:endParaRPr/>
          </a:p>
          <a:p>
            <a:pPr indent="-228600" lvl="0" marL="228600" rtl="0" algn="l">
              <a:lnSpc>
                <a:spcPct val="90000"/>
              </a:lnSpc>
              <a:spcBef>
                <a:spcPts val="1000"/>
              </a:spcBef>
              <a:spcAft>
                <a:spcPts val="0"/>
              </a:spcAft>
              <a:buClr>
                <a:schemeClr val="dk1"/>
              </a:buClr>
              <a:buSzPts val="2800"/>
              <a:buNone/>
            </a:pPr>
            <a:r>
              <a:rPr lang="en-US">
                <a:latin typeface="Consolas"/>
                <a:ea typeface="Consolas"/>
                <a:cs typeface="Consolas"/>
                <a:sym typeface="Consolas"/>
              </a:rPr>
              <a:t>from sklearn.feature_extraction.text import TfidfVectorizer</a:t>
            </a:r>
            <a:br>
              <a:rPr lang="en-US">
                <a:latin typeface="Consolas"/>
                <a:ea typeface="Consolas"/>
                <a:cs typeface="Consolas"/>
                <a:sym typeface="Consolas"/>
              </a:rPr>
            </a:br>
            <a:r>
              <a:rPr lang="en-US">
                <a:latin typeface="Consolas"/>
                <a:ea typeface="Consolas"/>
                <a:cs typeface="Consolas"/>
                <a:sym typeface="Consolas"/>
              </a:rPr>
              <a:t>from sklearn.naive_bayes import MultinomialNB</a:t>
            </a:r>
            <a:br>
              <a:rPr lang="en-US">
                <a:latin typeface="Consolas"/>
                <a:ea typeface="Consolas"/>
                <a:cs typeface="Consolas"/>
                <a:sym typeface="Consolas"/>
              </a:rPr>
            </a:br>
            <a:r>
              <a:rPr lang="en-US">
                <a:latin typeface="Consolas"/>
                <a:ea typeface="Consolas"/>
                <a:cs typeface="Consolas"/>
                <a:sym typeface="Consolas"/>
              </a:rPr>
              <a:t>from sklearn.model_selection import train_test_split</a:t>
            </a:r>
            <a:endParaRPr/>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38" name="Google Shape;738;p9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Naive Bayes for </a:t>
            </a:r>
            <a:br>
              <a:rPr b="1" lang="en-US"/>
            </a:br>
            <a:r>
              <a:rPr b="1" lang="en-US"/>
              <a:t>Sentiment Analysis (Python)</a:t>
            </a:r>
            <a:endParaRPr/>
          </a:p>
        </p:txBody>
      </p:sp>
      <p:sp>
        <p:nvSpPr>
          <p:cNvPr id="744" name="Google Shape;744;p9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None/>
            </a:pPr>
            <a:r>
              <a:rPr lang="en-US"/>
              <a:t># Sample dataset</a:t>
            </a:r>
            <a:endParaRPr/>
          </a:p>
          <a:p>
            <a:pPr indent="-228600" lvl="0" marL="228600" rtl="0" algn="l">
              <a:lnSpc>
                <a:spcPct val="90000"/>
              </a:lnSpc>
              <a:spcBef>
                <a:spcPts val="1000"/>
              </a:spcBef>
              <a:spcAft>
                <a:spcPts val="0"/>
              </a:spcAft>
              <a:buClr>
                <a:schemeClr val="dk1"/>
              </a:buClr>
              <a:buSzPct val="100000"/>
              <a:buNone/>
            </a:pPr>
            <a:r>
              <a:rPr lang="en-US"/>
              <a:t>texts = [</a:t>
            </a:r>
            <a:endParaRPr/>
          </a:p>
          <a:p>
            <a:pPr indent="-228600" lvl="0" marL="228600" rtl="0" algn="l">
              <a:lnSpc>
                <a:spcPct val="90000"/>
              </a:lnSpc>
              <a:spcBef>
                <a:spcPts val="1000"/>
              </a:spcBef>
              <a:spcAft>
                <a:spcPts val="0"/>
              </a:spcAft>
              <a:buClr>
                <a:schemeClr val="dk1"/>
              </a:buClr>
              <a:buSzPct val="100000"/>
              <a:buNone/>
            </a:pPr>
            <a:r>
              <a:rPr lang="en-US"/>
              <a:t>    "I love this phone",</a:t>
            </a:r>
            <a:endParaRPr/>
          </a:p>
          <a:p>
            <a:pPr indent="-228600" lvl="0" marL="228600" rtl="0" algn="l">
              <a:lnSpc>
                <a:spcPct val="90000"/>
              </a:lnSpc>
              <a:spcBef>
                <a:spcPts val="1000"/>
              </a:spcBef>
              <a:spcAft>
                <a:spcPts val="0"/>
              </a:spcAft>
              <a:buClr>
                <a:schemeClr val="dk1"/>
              </a:buClr>
              <a:buSzPct val="100000"/>
              <a:buNone/>
            </a:pPr>
            <a:r>
              <a:rPr lang="en-US"/>
              <a:t>    "Worst product ever",</a:t>
            </a:r>
            <a:endParaRPr/>
          </a:p>
          <a:p>
            <a:pPr indent="-228600" lvl="0" marL="228600" rtl="0" algn="l">
              <a:lnSpc>
                <a:spcPct val="90000"/>
              </a:lnSpc>
              <a:spcBef>
                <a:spcPts val="1000"/>
              </a:spcBef>
              <a:spcAft>
                <a:spcPts val="0"/>
              </a:spcAft>
              <a:buClr>
                <a:schemeClr val="dk1"/>
              </a:buClr>
              <a:buSzPct val="100000"/>
              <a:buNone/>
            </a:pPr>
            <a:r>
              <a:rPr lang="en-US"/>
              <a:t>    "Amazing camera quality",</a:t>
            </a:r>
            <a:endParaRPr/>
          </a:p>
          <a:p>
            <a:pPr indent="-228600" lvl="0" marL="228600" rtl="0" algn="l">
              <a:lnSpc>
                <a:spcPct val="90000"/>
              </a:lnSpc>
              <a:spcBef>
                <a:spcPts val="1000"/>
              </a:spcBef>
              <a:spcAft>
                <a:spcPts val="0"/>
              </a:spcAft>
              <a:buClr>
                <a:schemeClr val="dk1"/>
              </a:buClr>
              <a:buSzPct val="100000"/>
              <a:buNone/>
            </a:pPr>
            <a:r>
              <a:rPr lang="en-US"/>
              <a:t>    "Battery life is terrible",</a:t>
            </a:r>
            <a:endParaRPr/>
          </a:p>
          <a:p>
            <a:pPr indent="-228600" lvl="0" marL="228600" rtl="0" algn="l">
              <a:lnSpc>
                <a:spcPct val="90000"/>
              </a:lnSpc>
              <a:spcBef>
                <a:spcPts val="1000"/>
              </a:spcBef>
              <a:spcAft>
                <a:spcPts val="0"/>
              </a:spcAft>
              <a:buClr>
                <a:schemeClr val="dk1"/>
              </a:buClr>
              <a:buSzPct val="100000"/>
              <a:buNone/>
            </a:pPr>
            <a:r>
              <a:rPr lang="en-US"/>
              <a:t>    "Very happy with this purchase",</a:t>
            </a:r>
            <a:endParaRPr/>
          </a:p>
          <a:p>
            <a:pPr indent="-228600" lvl="0" marL="228600" rtl="0" algn="l">
              <a:lnSpc>
                <a:spcPct val="90000"/>
              </a:lnSpc>
              <a:spcBef>
                <a:spcPts val="1000"/>
              </a:spcBef>
              <a:spcAft>
                <a:spcPts val="0"/>
              </a:spcAft>
              <a:buClr>
                <a:schemeClr val="dk1"/>
              </a:buClr>
              <a:buSzPct val="100000"/>
              <a:buNone/>
            </a:pPr>
            <a:r>
              <a:rPr lang="en-US"/>
              <a:t>    "I hate this service"</a:t>
            </a:r>
            <a:endParaRPr/>
          </a:p>
          <a:p>
            <a:pPr indent="-228600" lvl="0" marL="228600" rtl="0" algn="l">
              <a:lnSpc>
                <a:spcPct val="90000"/>
              </a:lnSpc>
              <a:spcBef>
                <a:spcPts val="1000"/>
              </a:spcBef>
              <a:spcAft>
                <a:spcPts val="0"/>
              </a:spcAft>
              <a:buClr>
                <a:schemeClr val="dk1"/>
              </a:buClr>
              <a:buSzPct val="100000"/>
              <a:buNone/>
            </a:pPr>
            <a:r>
              <a:rPr lang="en-US"/>
              <a:t>]</a:t>
            </a:r>
            <a:endParaRPr/>
          </a:p>
          <a:p>
            <a:pPr indent="-22860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labels = [1, 0, 1, 0, 1, 0]  # 1 = Positive, 0 = Negative</a:t>
            </a:r>
            <a:endParaRPr/>
          </a:p>
        </p:txBody>
      </p:sp>
      <p:pic>
        <p:nvPicPr>
          <p:cNvPr descr="A blue and white logo&#10;&#10;AI-generated content may be incorrect." id="745" name="Google Shape;745;p9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9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Naive Bayes for </a:t>
            </a:r>
            <a:br>
              <a:rPr b="1" lang="en-US"/>
            </a:br>
            <a:r>
              <a:rPr b="1" lang="en-US"/>
              <a:t>Sentiment Analysis (Python)</a:t>
            </a:r>
            <a:endParaRPr/>
          </a:p>
        </p:txBody>
      </p:sp>
      <p:sp>
        <p:nvSpPr>
          <p:cNvPr id="751" name="Google Shape;751;p9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 Convert text to TF-IDF</a:t>
            </a:r>
            <a:endParaRPr/>
          </a:p>
          <a:p>
            <a:pPr indent="-228600" lvl="0" marL="228600" rtl="0" algn="l">
              <a:lnSpc>
                <a:spcPct val="90000"/>
              </a:lnSpc>
              <a:spcBef>
                <a:spcPts val="1000"/>
              </a:spcBef>
              <a:spcAft>
                <a:spcPts val="0"/>
              </a:spcAft>
              <a:buClr>
                <a:schemeClr val="dk1"/>
              </a:buClr>
              <a:buSzPts val="2800"/>
              <a:buNone/>
            </a:pPr>
            <a:r>
              <a:rPr lang="en-US"/>
              <a:t>vectorizer = TfidfVectorizer()</a:t>
            </a:r>
            <a:endParaRPr/>
          </a:p>
          <a:p>
            <a:pPr indent="-228600" lvl="0" marL="228600" rtl="0" algn="l">
              <a:lnSpc>
                <a:spcPct val="90000"/>
              </a:lnSpc>
              <a:spcBef>
                <a:spcPts val="1000"/>
              </a:spcBef>
              <a:spcAft>
                <a:spcPts val="0"/>
              </a:spcAft>
              <a:buClr>
                <a:schemeClr val="dk1"/>
              </a:buClr>
              <a:buSzPts val="2800"/>
              <a:buNone/>
            </a:pPr>
            <a:r>
              <a:rPr lang="en-US"/>
              <a:t>X = vectorizer.fit_transform(texts)</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 Train-test split</a:t>
            </a:r>
            <a:endParaRPr/>
          </a:p>
          <a:p>
            <a:pPr indent="-228600" lvl="0" marL="228600" rtl="0" algn="l">
              <a:lnSpc>
                <a:spcPct val="90000"/>
              </a:lnSpc>
              <a:spcBef>
                <a:spcPts val="1000"/>
              </a:spcBef>
              <a:spcAft>
                <a:spcPts val="0"/>
              </a:spcAft>
              <a:buClr>
                <a:schemeClr val="dk1"/>
              </a:buClr>
              <a:buSzPts val="2800"/>
              <a:buNone/>
            </a:pPr>
            <a:r>
              <a:rPr lang="en-US"/>
              <a:t>X_train, X_test, y_train, y_test = train_test_split(X, labels, test_size=0.3)</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52" name="Google Shape;752;p9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Naive Bayes for </a:t>
            </a:r>
            <a:br>
              <a:rPr b="1" lang="en-US"/>
            </a:br>
            <a:r>
              <a:rPr b="1" lang="en-US"/>
              <a:t>Sentiment Analysis (Python)</a:t>
            </a:r>
            <a:endParaRPr/>
          </a:p>
        </p:txBody>
      </p:sp>
      <p:sp>
        <p:nvSpPr>
          <p:cNvPr id="758" name="Google Shape;758;p9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 Train Naive Bayes model</a:t>
            </a:r>
            <a:endParaRPr/>
          </a:p>
          <a:p>
            <a:pPr indent="-228600" lvl="0" marL="228600" rtl="0" algn="l">
              <a:lnSpc>
                <a:spcPct val="90000"/>
              </a:lnSpc>
              <a:spcBef>
                <a:spcPts val="1000"/>
              </a:spcBef>
              <a:spcAft>
                <a:spcPts val="0"/>
              </a:spcAft>
              <a:buClr>
                <a:schemeClr val="dk1"/>
              </a:buClr>
              <a:buSzPts val="2800"/>
              <a:buNone/>
            </a:pPr>
            <a:r>
              <a:rPr lang="en-US"/>
              <a:t>model = MultinomialNB()</a:t>
            </a:r>
            <a:endParaRPr/>
          </a:p>
          <a:p>
            <a:pPr indent="-228600" lvl="0" marL="228600" rtl="0" algn="l">
              <a:lnSpc>
                <a:spcPct val="90000"/>
              </a:lnSpc>
              <a:spcBef>
                <a:spcPts val="1000"/>
              </a:spcBef>
              <a:spcAft>
                <a:spcPts val="0"/>
              </a:spcAft>
              <a:buClr>
                <a:schemeClr val="dk1"/>
              </a:buClr>
              <a:buSzPts val="2800"/>
              <a:buNone/>
            </a:pPr>
            <a:r>
              <a:rPr lang="en-US"/>
              <a:t>model.fit(X_train, y_train)</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 Predict sentiment</a:t>
            </a:r>
            <a:endParaRPr/>
          </a:p>
          <a:p>
            <a:pPr indent="-228600" lvl="0" marL="228600" rtl="0" algn="l">
              <a:lnSpc>
                <a:spcPct val="90000"/>
              </a:lnSpc>
              <a:spcBef>
                <a:spcPts val="1000"/>
              </a:spcBef>
              <a:spcAft>
                <a:spcPts val="0"/>
              </a:spcAft>
              <a:buClr>
                <a:schemeClr val="dk1"/>
              </a:buClr>
              <a:buSzPts val="2800"/>
              <a:buNone/>
            </a:pPr>
            <a:r>
              <a:rPr lang="en-US"/>
              <a:t>prediction = model.predict(X_test)</a:t>
            </a:r>
            <a:endParaRPr/>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print("Predictions:", prediction)</a:t>
            </a:r>
            <a:endParaRPr/>
          </a:p>
        </p:txBody>
      </p:sp>
      <p:pic>
        <p:nvPicPr>
          <p:cNvPr descr="A blue and white logo&#10;&#10;AI-generated content may be incorrect." id="759" name="Google Shape;759;p9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9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Naive Bayes for </a:t>
            </a:r>
            <a:br>
              <a:rPr b="1" lang="en-US"/>
            </a:br>
            <a:r>
              <a:rPr b="1" lang="en-US"/>
              <a:t>Sentiment Analysis (Python)</a:t>
            </a:r>
            <a:endParaRPr/>
          </a:p>
        </p:txBody>
      </p:sp>
      <p:sp>
        <p:nvSpPr>
          <p:cNvPr id="765" name="Google Shape;765;p9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This code:</a:t>
            </a:r>
            <a:endParaRPr/>
          </a:p>
          <a:p>
            <a:pPr indent="-228600" lvl="0" marL="228600" rtl="0" algn="l">
              <a:lnSpc>
                <a:spcPct val="90000"/>
              </a:lnSpc>
              <a:spcBef>
                <a:spcPts val="1000"/>
              </a:spcBef>
              <a:spcAft>
                <a:spcPts val="0"/>
              </a:spcAft>
              <a:buClr>
                <a:schemeClr val="dk1"/>
              </a:buClr>
              <a:buSzPts val="2800"/>
              <a:buChar char="•"/>
            </a:pPr>
            <a:r>
              <a:rPr lang="en-US"/>
              <a:t>Converts text into TF–IDF vectors</a:t>
            </a:r>
            <a:endParaRPr/>
          </a:p>
          <a:p>
            <a:pPr indent="-228600" lvl="0" marL="228600" rtl="0" algn="l">
              <a:lnSpc>
                <a:spcPct val="90000"/>
              </a:lnSpc>
              <a:spcBef>
                <a:spcPts val="1000"/>
              </a:spcBef>
              <a:spcAft>
                <a:spcPts val="0"/>
              </a:spcAft>
              <a:buClr>
                <a:schemeClr val="dk1"/>
              </a:buClr>
              <a:buSzPts val="2800"/>
              <a:buChar char="•"/>
            </a:pPr>
            <a:r>
              <a:rPr lang="en-US"/>
              <a:t>Splits data into training and testing sets</a:t>
            </a:r>
            <a:endParaRPr/>
          </a:p>
          <a:p>
            <a:pPr indent="-228600" lvl="0" marL="228600" rtl="0" algn="l">
              <a:lnSpc>
                <a:spcPct val="90000"/>
              </a:lnSpc>
              <a:spcBef>
                <a:spcPts val="1000"/>
              </a:spcBef>
              <a:spcAft>
                <a:spcPts val="0"/>
              </a:spcAft>
              <a:buClr>
                <a:schemeClr val="dk1"/>
              </a:buClr>
              <a:buSzPts val="2800"/>
              <a:buChar char="•"/>
            </a:pPr>
            <a:r>
              <a:rPr lang="en-US"/>
              <a:t>Trains a Naive Bayes classifier</a:t>
            </a:r>
            <a:endParaRPr/>
          </a:p>
          <a:p>
            <a:pPr indent="-228600" lvl="0" marL="228600" rtl="0" algn="l">
              <a:lnSpc>
                <a:spcPct val="90000"/>
              </a:lnSpc>
              <a:spcBef>
                <a:spcPts val="1000"/>
              </a:spcBef>
              <a:spcAft>
                <a:spcPts val="0"/>
              </a:spcAft>
              <a:buClr>
                <a:schemeClr val="dk1"/>
              </a:buClr>
              <a:buSzPts val="2800"/>
              <a:buChar char="•"/>
            </a:pPr>
            <a:r>
              <a:rPr lang="en-US"/>
              <a:t>Predicts sentiment for unseen text</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66" name="Google Shape;766;p9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9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Support Vector Machines (SVM) for Sentiment Analysis</a:t>
            </a:r>
            <a:endParaRPr b="1"/>
          </a:p>
        </p:txBody>
      </p:sp>
      <p:sp>
        <p:nvSpPr>
          <p:cNvPr id="772" name="Google Shape;772;p9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Support Vector Machine (SVM) is a powerful supervised machine learning algorithm used for text classification and sentiment analysis.</a:t>
            </a:r>
            <a:endParaRPr/>
          </a:p>
          <a:p>
            <a:pPr indent="-228600" lvl="0" marL="228600" rtl="0" algn="just">
              <a:lnSpc>
                <a:spcPct val="90000"/>
              </a:lnSpc>
              <a:spcBef>
                <a:spcPts val="1000"/>
              </a:spcBef>
              <a:spcAft>
                <a:spcPts val="0"/>
              </a:spcAft>
              <a:buClr>
                <a:schemeClr val="dk1"/>
              </a:buClr>
              <a:buSzPts val="2800"/>
              <a:buChar char="•"/>
            </a:pPr>
            <a:r>
              <a:rPr lang="en-US"/>
              <a:t>SVM works by finding an </a:t>
            </a:r>
            <a:r>
              <a:rPr b="1" lang="en-US"/>
              <a:t>optimal separating boundary (hyperplane)</a:t>
            </a:r>
            <a:r>
              <a:rPr lang="en-US"/>
              <a:t> that best divides data points of different classes.</a:t>
            </a:r>
            <a:endParaRPr/>
          </a:p>
          <a:p>
            <a:pPr indent="-228600" lvl="0" marL="228600" rtl="0" algn="just">
              <a:lnSpc>
                <a:spcPct val="90000"/>
              </a:lnSpc>
              <a:spcBef>
                <a:spcPts val="1000"/>
              </a:spcBef>
              <a:spcAft>
                <a:spcPts val="0"/>
              </a:spcAft>
              <a:buClr>
                <a:schemeClr val="dk1"/>
              </a:buClr>
              <a:buSzPts val="2800"/>
              <a:buNone/>
            </a:pPr>
            <a:r>
              <a:rPr lang="en-US"/>
              <a:t>In sentiment analysis, SVM learns a boundary that separates:</a:t>
            </a:r>
            <a:endParaRPr/>
          </a:p>
          <a:p>
            <a:pPr indent="-228600" lvl="0" marL="228600" rtl="0" algn="just">
              <a:lnSpc>
                <a:spcPct val="90000"/>
              </a:lnSpc>
              <a:spcBef>
                <a:spcPts val="1000"/>
              </a:spcBef>
              <a:spcAft>
                <a:spcPts val="0"/>
              </a:spcAft>
              <a:buClr>
                <a:schemeClr val="dk1"/>
              </a:buClr>
              <a:buSzPts val="2800"/>
              <a:buChar char="•"/>
            </a:pPr>
            <a:r>
              <a:rPr lang="en-US"/>
              <a:t>Positive reviews</a:t>
            </a:r>
            <a:endParaRPr/>
          </a:p>
          <a:p>
            <a:pPr indent="-228600" lvl="0" marL="228600" rtl="0" algn="just">
              <a:lnSpc>
                <a:spcPct val="90000"/>
              </a:lnSpc>
              <a:spcBef>
                <a:spcPts val="1000"/>
              </a:spcBef>
              <a:spcAft>
                <a:spcPts val="0"/>
              </a:spcAft>
              <a:buClr>
                <a:schemeClr val="dk1"/>
              </a:buClr>
              <a:buSzPts val="2800"/>
              <a:buChar char="•"/>
            </a:pPr>
            <a:r>
              <a:rPr lang="en-US"/>
              <a:t>Negative reviews</a:t>
            </a:r>
            <a:endParaRPr/>
          </a:p>
          <a:p>
            <a:pPr indent="-228600" lvl="0" marL="228600" rtl="0" algn="just">
              <a:lnSpc>
                <a:spcPct val="90000"/>
              </a:lnSpc>
              <a:spcBef>
                <a:spcPts val="1000"/>
              </a:spcBef>
              <a:spcAft>
                <a:spcPts val="0"/>
              </a:spcAft>
              <a:buClr>
                <a:schemeClr val="dk1"/>
              </a:buClr>
              <a:buSzPts val="2800"/>
              <a:buNone/>
            </a:pPr>
            <a:r>
              <a:rPr lang="en-US"/>
              <a:t>using text features such as TF–IDF vectors.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73" name="Google Shape;773;p9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0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Support Vector Machines (SVM) for Sentiment Analysis</a:t>
            </a:r>
            <a:endParaRPr/>
          </a:p>
        </p:txBody>
      </p:sp>
      <p:sp>
        <p:nvSpPr>
          <p:cNvPr id="779" name="Google Shape;779;p10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None/>
            </a:pPr>
            <a:r>
              <a:rPr b="1" lang="en-US"/>
              <a:t>Key characteristics of SVM:</a:t>
            </a:r>
            <a:endParaRPr/>
          </a:p>
          <a:p>
            <a:pPr indent="-228600" lvl="0" marL="228600" rtl="0" algn="l">
              <a:lnSpc>
                <a:spcPct val="90000"/>
              </a:lnSpc>
              <a:spcBef>
                <a:spcPts val="1000"/>
              </a:spcBef>
              <a:spcAft>
                <a:spcPts val="0"/>
              </a:spcAft>
              <a:buClr>
                <a:schemeClr val="dk1"/>
              </a:buClr>
              <a:buSzPts val="2800"/>
              <a:buChar char="•"/>
            </a:pPr>
            <a:r>
              <a:rPr lang="en-US"/>
              <a:t>Maximizes the margin between classes</a:t>
            </a:r>
            <a:endParaRPr/>
          </a:p>
          <a:p>
            <a:pPr indent="-342900" lvl="0" marL="342900" rtl="0" algn="l">
              <a:lnSpc>
                <a:spcPct val="90000"/>
              </a:lnSpc>
              <a:spcBef>
                <a:spcPts val="1000"/>
              </a:spcBef>
              <a:spcAft>
                <a:spcPts val="0"/>
              </a:spcAft>
              <a:buClr>
                <a:schemeClr val="dk1"/>
              </a:buClr>
              <a:buSzPts val="2800"/>
              <a:buChar char="•"/>
            </a:pPr>
            <a:r>
              <a:rPr lang="en-US"/>
              <a:t>Works well with high-dimensional sparse data</a:t>
            </a:r>
            <a:endParaRPr/>
          </a:p>
          <a:p>
            <a:pPr indent="-342900" lvl="0" marL="342900" rtl="0" algn="l">
              <a:lnSpc>
                <a:spcPct val="90000"/>
              </a:lnSpc>
              <a:spcBef>
                <a:spcPts val="1000"/>
              </a:spcBef>
              <a:spcAft>
                <a:spcPts val="0"/>
              </a:spcAft>
              <a:buClr>
                <a:schemeClr val="dk1"/>
              </a:buClr>
              <a:buSzPts val="2800"/>
              <a:buChar char="•"/>
            </a:pPr>
            <a:r>
              <a:rPr lang="en-US"/>
              <a:t>Effective for small and medium datasets</a:t>
            </a:r>
            <a:endParaRPr/>
          </a:p>
          <a:p>
            <a:pPr indent="-342900" lvl="0" marL="342900" rtl="0" algn="l">
              <a:lnSpc>
                <a:spcPct val="90000"/>
              </a:lnSpc>
              <a:spcBef>
                <a:spcPts val="1000"/>
              </a:spcBef>
              <a:spcAft>
                <a:spcPts val="0"/>
              </a:spcAft>
              <a:buClr>
                <a:schemeClr val="dk1"/>
              </a:buClr>
              <a:buSzPts val="2800"/>
              <a:buChar char="•"/>
            </a:pPr>
            <a:r>
              <a:rPr lang="en-US"/>
              <a:t>Often achieves higher accuracy than Naive Bayes</a:t>
            </a:r>
            <a:endParaRPr/>
          </a:p>
          <a:p>
            <a:pPr indent="-228600" lvl="0" marL="228600" rtl="0" algn="l">
              <a:lnSpc>
                <a:spcPct val="90000"/>
              </a:lnSpc>
              <a:spcBef>
                <a:spcPts val="1000"/>
              </a:spcBef>
              <a:spcAft>
                <a:spcPts val="0"/>
              </a:spcAft>
              <a:buClr>
                <a:schemeClr val="dk1"/>
              </a:buClr>
              <a:buSzPts val="2800"/>
              <a:buNone/>
            </a:pPr>
            <a:r>
              <a:rPr b="1" lang="en-US"/>
              <a:t>SVM is widely used in NLP tasks such as:</a:t>
            </a:r>
            <a:endParaRPr b="1"/>
          </a:p>
          <a:p>
            <a:pPr indent="-228600" lvl="0" marL="228600" rtl="0" algn="l">
              <a:lnSpc>
                <a:spcPct val="90000"/>
              </a:lnSpc>
              <a:spcBef>
                <a:spcPts val="1000"/>
              </a:spcBef>
              <a:spcAft>
                <a:spcPts val="0"/>
              </a:spcAft>
              <a:buClr>
                <a:schemeClr val="dk1"/>
              </a:buClr>
              <a:buSzPts val="2800"/>
              <a:buChar char="•"/>
            </a:pPr>
            <a:r>
              <a:rPr lang="en-US"/>
              <a:t>Sentiment analysis</a:t>
            </a:r>
            <a:endParaRPr/>
          </a:p>
          <a:p>
            <a:pPr indent="-228600" lvl="0" marL="228600" rtl="0" algn="l">
              <a:lnSpc>
                <a:spcPct val="90000"/>
              </a:lnSpc>
              <a:spcBef>
                <a:spcPts val="1000"/>
              </a:spcBef>
              <a:spcAft>
                <a:spcPts val="0"/>
              </a:spcAft>
              <a:buClr>
                <a:schemeClr val="dk1"/>
              </a:buClr>
              <a:buSzPts val="2800"/>
              <a:buChar char="•"/>
            </a:pPr>
            <a:r>
              <a:rPr lang="en-US"/>
              <a:t>Spam detection</a:t>
            </a:r>
            <a:endParaRPr/>
          </a:p>
          <a:p>
            <a:pPr indent="-228600" lvl="0" marL="228600" rtl="0" algn="l">
              <a:lnSpc>
                <a:spcPct val="90000"/>
              </a:lnSpc>
              <a:spcBef>
                <a:spcPts val="1000"/>
              </a:spcBef>
              <a:spcAft>
                <a:spcPts val="0"/>
              </a:spcAft>
              <a:buClr>
                <a:schemeClr val="dk1"/>
              </a:buClr>
              <a:buSzPts val="2800"/>
              <a:buChar char="•"/>
            </a:pPr>
            <a:r>
              <a:rPr lang="en-US"/>
              <a:t>Topic classification</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80" name="Google Shape;780;p10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SVM for Sentiment </a:t>
            </a:r>
            <a:br>
              <a:rPr b="1" lang="en-US"/>
            </a:br>
            <a:r>
              <a:rPr b="1" lang="en-US"/>
              <a:t>Analysis (Python)</a:t>
            </a:r>
            <a:endParaRPr b="1"/>
          </a:p>
        </p:txBody>
      </p:sp>
      <p:sp>
        <p:nvSpPr>
          <p:cNvPr id="786" name="Google Shape;786;p10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Support Vector Machines can be implemented using scikit-learn’s </a:t>
            </a:r>
            <a:r>
              <a:rPr lang="en-US">
                <a:latin typeface="Consolas"/>
                <a:ea typeface="Consolas"/>
                <a:cs typeface="Consolas"/>
                <a:sym typeface="Consolas"/>
              </a:rPr>
              <a:t>LinearSVC</a:t>
            </a:r>
            <a:r>
              <a:rPr lang="en-US"/>
              <a:t>, which is optimized for text data.</a:t>
            </a:r>
            <a:endParaRPr/>
          </a:p>
          <a:p>
            <a:pPr indent="-228600" lvl="0" marL="228600" rtl="0" algn="l">
              <a:lnSpc>
                <a:spcPct val="90000"/>
              </a:lnSpc>
              <a:spcBef>
                <a:spcPts val="1000"/>
              </a:spcBef>
              <a:spcAft>
                <a:spcPts val="0"/>
              </a:spcAft>
              <a:buClr>
                <a:schemeClr val="dk1"/>
              </a:buClr>
              <a:buSzPts val="2800"/>
              <a:buNone/>
            </a:pPr>
            <a:r>
              <a:rPr b="1" lang="en-US"/>
              <a:t>Example Code:</a:t>
            </a:r>
            <a:endParaRPr/>
          </a:p>
          <a:p>
            <a:pPr indent="-228600" lvl="0" marL="228600" rtl="0" algn="l">
              <a:lnSpc>
                <a:spcPct val="90000"/>
              </a:lnSpc>
              <a:spcBef>
                <a:spcPts val="1000"/>
              </a:spcBef>
              <a:spcAft>
                <a:spcPts val="0"/>
              </a:spcAft>
              <a:buClr>
                <a:schemeClr val="dk1"/>
              </a:buClr>
              <a:buSzPts val="2800"/>
              <a:buNone/>
            </a:pPr>
            <a:r>
              <a:rPr lang="en-US">
                <a:latin typeface="Consolas"/>
                <a:ea typeface="Consolas"/>
                <a:cs typeface="Consolas"/>
                <a:sym typeface="Consolas"/>
              </a:rPr>
              <a:t>from sklearn.feature_extraction.text import TfidfVectorizer</a:t>
            </a:r>
            <a:br>
              <a:rPr lang="en-US">
                <a:latin typeface="Consolas"/>
                <a:ea typeface="Consolas"/>
                <a:cs typeface="Consolas"/>
                <a:sym typeface="Consolas"/>
              </a:rPr>
            </a:br>
            <a:r>
              <a:rPr lang="en-US">
                <a:latin typeface="Consolas"/>
                <a:ea typeface="Consolas"/>
                <a:cs typeface="Consolas"/>
                <a:sym typeface="Consolas"/>
              </a:rPr>
              <a:t>from sklearn.svm import LinearSVC</a:t>
            </a:r>
            <a:br>
              <a:rPr lang="en-US">
                <a:latin typeface="Consolas"/>
                <a:ea typeface="Consolas"/>
                <a:cs typeface="Consolas"/>
                <a:sym typeface="Consolas"/>
              </a:rPr>
            </a:br>
            <a:r>
              <a:rPr lang="en-US">
                <a:latin typeface="Consolas"/>
                <a:ea typeface="Consolas"/>
                <a:cs typeface="Consolas"/>
                <a:sym typeface="Consolas"/>
              </a:rPr>
              <a:t>from sklearn.model_selection import train_test_split</a:t>
            </a:r>
            <a:br>
              <a:rPr lang="en-US">
                <a:latin typeface="Consolas"/>
                <a:ea typeface="Consolas"/>
                <a:cs typeface="Consolas"/>
                <a:sym typeface="Consolas"/>
              </a:rPr>
            </a:b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787" name="Google Shape;787;p10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0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SVM for Sentiment </a:t>
            </a:r>
            <a:br>
              <a:rPr b="1" lang="en-US"/>
            </a:br>
            <a:r>
              <a:rPr b="1" lang="en-US"/>
              <a:t>Analysis (Python)</a:t>
            </a:r>
            <a:endParaRPr/>
          </a:p>
        </p:txBody>
      </p:sp>
      <p:sp>
        <p:nvSpPr>
          <p:cNvPr id="793" name="Google Shape;793;p10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None/>
            </a:pPr>
            <a:r>
              <a:rPr lang="en-US"/>
              <a:t>texts = [</a:t>
            </a:r>
            <a:endParaRPr/>
          </a:p>
          <a:p>
            <a:pPr indent="-228600" lvl="0" marL="228600" rtl="0" algn="l">
              <a:lnSpc>
                <a:spcPct val="90000"/>
              </a:lnSpc>
              <a:spcBef>
                <a:spcPts val="1000"/>
              </a:spcBef>
              <a:spcAft>
                <a:spcPts val="0"/>
              </a:spcAft>
              <a:buClr>
                <a:schemeClr val="dk1"/>
              </a:buClr>
              <a:buSzPct val="100000"/>
              <a:buNone/>
            </a:pPr>
            <a:r>
              <a:rPr lang="en-US"/>
              <a:t>    "I love this phone",</a:t>
            </a:r>
            <a:endParaRPr/>
          </a:p>
          <a:p>
            <a:pPr indent="-228600" lvl="0" marL="228600" rtl="0" algn="l">
              <a:lnSpc>
                <a:spcPct val="90000"/>
              </a:lnSpc>
              <a:spcBef>
                <a:spcPts val="1000"/>
              </a:spcBef>
              <a:spcAft>
                <a:spcPts val="0"/>
              </a:spcAft>
              <a:buClr>
                <a:schemeClr val="dk1"/>
              </a:buClr>
              <a:buSzPct val="100000"/>
              <a:buNone/>
            </a:pPr>
            <a:r>
              <a:rPr lang="en-US"/>
              <a:t>    "Worst product ever",</a:t>
            </a:r>
            <a:endParaRPr/>
          </a:p>
          <a:p>
            <a:pPr indent="-228600" lvl="0" marL="228600" rtl="0" algn="l">
              <a:lnSpc>
                <a:spcPct val="90000"/>
              </a:lnSpc>
              <a:spcBef>
                <a:spcPts val="1000"/>
              </a:spcBef>
              <a:spcAft>
                <a:spcPts val="0"/>
              </a:spcAft>
              <a:buClr>
                <a:schemeClr val="dk1"/>
              </a:buClr>
              <a:buSzPct val="100000"/>
              <a:buNone/>
            </a:pPr>
            <a:r>
              <a:rPr lang="en-US"/>
              <a:t>    "Amazing camera quality",</a:t>
            </a:r>
            <a:endParaRPr/>
          </a:p>
          <a:p>
            <a:pPr indent="-228600" lvl="0" marL="228600" rtl="0" algn="l">
              <a:lnSpc>
                <a:spcPct val="90000"/>
              </a:lnSpc>
              <a:spcBef>
                <a:spcPts val="1000"/>
              </a:spcBef>
              <a:spcAft>
                <a:spcPts val="0"/>
              </a:spcAft>
              <a:buClr>
                <a:schemeClr val="dk1"/>
              </a:buClr>
              <a:buSzPct val="100000"/>
              <a:buNone/>
            </a:pPr>
            <a:r>
              <a:rPr lang="en-US"/>
              <a:t>    "Battery life is terrible",</a:t>
            </a:r>
            <a:endParaRPr/>
          </a:p>
          <a:p>
            <a:pPr indent="-228600" lvl="0" marL="228600" rtl="0" algn="l">
              <a:lnSpc>
                <a:spcPct val="90000"/>
              </a:lnSpc>
              <a:spcBef>
                <a:spcPts val="1000"/>
              </a:spcBef>
              <a:spcAft>
                <a:spcPts val="0"/>
              </a:spcAft>
              <a:buClr>
                <a:schemeClr val="dk1"/>
              </a:buClr>
              <a:buSzPct val="100000"/>
              <a:buNone/>
            </a:pPr>
            <a:r>
              <a:rPr lang="en-US"/>
              <a:t>    "Very happy with this purchase",</a:t>
            </a:r>
            <a:endParaRPr/>
          </a:p>
          <a:p>
            <a:pPr indent="-228600" lvl="0" marL="228600" rtl="0" algn="l">
              <a:lnSpc>
                <a:spcPct val="90000"/>
              </a:lnSpc>
              <a:spcBef>
                <a:spcPts val="1000"/>
              </a:spcBef>
              <a:spcAft>
                <a:spcPts val="0"/>
              </a:spcAft>
              <a:buClr>
                <a:schemeClr val="dk1"/>
              </a:buClr>
              <a:buSzPct val="100000"/>
              <a:buNone/>
            </a:pPr>
            <a:r>
              <a:rPr lang="en-US"/>
              <a:t>    "I hate this service"</a:t>
            </a:r>
            <a:endParaRPr/>
          </a:p>
          <a:p>
            <a:pPr indent="-228600" lvl="0" marL="228600" rtl="0" algn="l">
              <a:lnSpc>
                <a:spcPct val="90000"/>
              </a:lnSpc>
              <a:spcBef>
                <a:spcPts val="1000"/>
              </a:spcBef>
              <a:spcAft>
                <a:spcPts val="0"/>
              </a:spcAft>
              <a:buClr>
                <a:schemeClr val="dk1"/>
              </a:buClr>
              <a:buSzPct val="100000"/>
              <a:buNone/>
            </a:pPr>
            <a:r>
              <a:rPr lang="en-US"/>
              <a:t>]</a:t>
            </a:r>
            <a:endParaRPr/>
          </a:p>
          <a:p>
            <a:pPr indent="-22860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labels = [1, 0, 1, 0, 1, 0]  # 1 = Positive, 0 = Negative</a:t>
            </a:r>
            <a:endParaRPr/>
          </a:p>
        </p:txBody>
      </p:sp>
      <p:pic>
        <p:nvPicPr>
          <p:cNvPr descr="A blue and white logo&#10;&#10;AI-generated content may be incorrect." id="794" name="Google Shape;794;p10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SVM for Sentiment </a:t>
            </a:r>
            <a:br>
              <a:rPr b="1" lang="en-US"/>
            </a:br>
            <a:r>
              <a:rPr b="1" lang="en-US"/>
              <a:t>Analysis (Python)</a:t>
            </a:r>
            <a:endParaRPr/>
          </a:p>
        </p:txBody>
      </p:sp>
      <p:sp>
        <p:nvSpPr>
          <p:cNvPr id="800" name="Google Shape;800;p10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None/>
            </a:pPr>
            <a:r>
              <a:rPr lang="en-US"/>
              <a:t># Convert text to TF-IDF</a:t>
            </a:r>
            <a:endParaRPr/>
          </a:p>
          <a:p>
            <a:pPr indent="-228600" lvl="0" marL="228600" rtl="0" algn="l">
              <a:lnSpc>
                <a:spcPct val="90000"/>
              </a:lnSpc>
              <a:spcBef>
                <a:spcPts val="1000"/>
              </a:spcBef>
              <a:spcAft>
                <a:spcPts val="0"/>
              </a:spcAft>
              <a:buClr>
                <a:schemeClr val="dk1"/>
              </a:buClr>
              <a:buSzPct val="100000"/>
              <a:buNone/>
            </a:pPr>
            <a:r>
              <a:rPr lang="en-US"/>
              <a:t>vectorizer = TfidfVectorizer()</a:t>
            </a:r>
            <a:endParaRPr/>
          </a:p>
          <a:p>
            <a:pPr indent="-228600" lvl="0" marL="228600" rtl="0" algn="l">
              <a:lnSpc>
                <a:spcPct val="90000"/>
              </a:lnSpc>
              <a:spcBef>
                <a:spcPts val="1000"/>
              </a:spcBef>
              <a:spcAft>
                <a:spcPts val="0"/>
              </a:spcAft>
              <a:buClr>
                <a:schemeClr val="dk1"/>
              </a:buClr>
              <a:buSzPct val="100000"/>
              <a:buNone/>
            </a:pPr>
            <a:r>
              <a:rPr lang="en-US"/>
              <a:t>X = vectorizer.fit_transform(texts)</a:t>
            </a:r>
            <a:endParaRPr/>
          </a:p>
          <a:p>
            <a:pPr indent="-22860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None/>
            </a:pPr>
            <a:r>
              <a:rPr lang="en-US"/>
              <a:t># Split data</a:t>
            </a:r>
            <a:endParaRPr/>
          </a:p>
          <a:p>
            <a:pPr indent="-228600" lvl="0" marL="228600" rtl="0" algn="l">
              <a:lnSpc>
                <a:spcPct val="90000"/>
              </a:lnSpc>
              <a:spcBef>
                <a:spcPts val="1000"/>
              </a:spcBef>
              <a:spcAft>
                <a:spcPts val="0"/>
              </a:spcAft>
              <a:buClr>
                <a:schemeClr val="dk1"/>
              </a:buClr>
              <a:buSzPct val="100000"/>
              <a:buNone/>
            </a:pPr>
            <a:r>
              <a:rPr lang="en-US"/>
              <a:t>X_train, X_test, y_train, y_test = train_test_split(X, labels, test_size=0.3)</a:t>
            </a:r>
            <a:endParaRPr/>
          </a:p>
          <a:p>
            <a:pPr indent="-22860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None/>
            </a:pPr>
            <a:r>
              <a:rPr lang="en-US"/>
              <a:t># Train SVM model</a:t>
            </a:r>
            <a:endParaRPr/>
          </a:p>
          <a:p>
            <a:pPr indent="-228600" lvl="0" marL="228600" rtl="0" algn="l">
              <a:lnSpc>
                <a:spcPct val="90000"/>
              </a:lnSpc>
              <a:spcBef>
                <a:spcPts val="1000"/>
              </a:spcBef>
              <a:spcAft>
                <a:spcPts val="0"/>
              </a:spcAft>
              <a:buClr>
                <a:schemeClr val="dk1"/>
              </a:buClr>
              <a:buSzPct val="100000"/>
              <a:buNone/>
            </a:pPr>
            <a:r>
              <a:rPr lang="en-US"/>
              <a:t>svm_model = LinearSVC()</a:t>
            </a:r>
            <a:endParaRPr/>
          </a:p>
          <a:p>
            <a:pPr indent="-228600" lvl="0" marL="228600" rtl="0" algn="l">
              <a:lnSpc>
                <a:spcPct val="90000"/>
              </a:lnSpc>
              <a:spcBef>
                <a:spcPts val="1000"/>
              </a:spcBef>
              <a:spcAft>
                <a:spcPts val="0"/>
              </a:spcAft>
              <a:buClr>
                <a:schemeClr val="dk1"/>
              </a:buClr>
              <a:buSzPct val="100000"/>
              <a:buNone/>
            </a:pPr>
            <a:r>
              <a:rPr lang="en-US"/>
              <a:t>svm_model.fit(X_train, y_train)</a:t>
            </a:r>
            <a:endParaRPr/>
          </a:p>
          <a:p>
            <a:pPr indent="-22860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801" name="Google Shape;801;p10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10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SVM for Sentiment </a:t>
            </a:r>
            <a:br>
              <a:rPr b="1" lang="en-US"/>
            </a:br>
            <a:r>
              <a:rPr b="1" lang="en-US"/>
              <a:t>Analysis (Python)</a:t>
            </a:r>
            <a:endParaRPr/>
          </a:p>
        </p:txBody>
      </p:sp>
      <p:sp>
        <p:nvSpPr>
          <p:cNvPr id="807" name="Google Shape;807;p10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 Predict sentiment</a:t>
            </a:r>
            <a:endParaRPr/>
          </a:p>
          <a:p>
            <a:pPr indent="-228600" lvl="0" marL="228600" rtl="0" algn="l">
              <a:lnSpc>
                <a:spcPct val="90000"/>
              </a:lnSpc>
              <a:spcBef>
                <a:spcPts val="1000"/>
              </a:spcBef>
              <a:spcAft>
                <a:spcPts val="0"/>
              </a:spcAft>
              <a:buClr>
                <a:schemeClr val="dk1"/>
              </a:buClr>
              <a:buSzPts val="2800"/>
              <a:buNone/>
            </a:pPr>
            <a:r>
              <a:rPr lang="en-US"/>
              <a:t>predictions = svm_model.predict(X_test)</a:t>
            </a:r>
            <a:endParaRPr/>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print("Predictions:", predictions)</a:t>
            </a:r>
            <a:endParaRPr/>
          </a:p>
        </p:txBody>
      </p:sp>
      <p:pic>
        <p:nvPicPr>
          <p:cNvPr descr="A blue and white logo&#10;&#10;AI-generated content may be incorrect." id="808" name="Google Shape;808;p10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0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Implementing SVM for Sentiment </a:t>
            </a:r>
            <a:br>
              <a:rPr b="1" lang="en-US"/>
            </a:br>
            <a:r>
              <a:rPr b="1" lang="en-US"/>
              <a:t>Analysis (Python)</a:t>
            </a:r>
            <a:endParaRPr/>
          </a:p>
        </p:txBody>
      </p:sp>
      <p:sp>
        <p:nvSpPr>
          <p:cNvPr id="814" name="Google Shape;814;p10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This code:</a:t>
            </a:r>
            <a:endParaRPr/>
          </a:p>
          <a:p>
            <a:pPr indent="-228600" lvl="0" marL="228600" rtl="0" algn="just">
              <a:lnSpc>
                <a:spcPct val="90000"/>
              </a:lnSpc>
              <a:spcBef>
                <a:spcPts val="1000"/>
              </a:spcBef>
              <a:spcAft>
                <a:spcPts val="0"/>
              </a:spcAft>
              <a:buClr>
                <a:schemeClr val="dk1"/>
              </a:buClr>
              <a:buSzPts val="2800"/>
              <a:buChar char="•"/>
            </a:pPr>
            <a:r>
              <a:rPr lang="en-US"/>
              <a:t>Converts text into TF–IDF vectors</a:t>
            </a:r>
            <a:endParaRPr/>
          </a:p>
          <a:p>
            <a:pPr indent="-228600" lvl="0" marL="228600" rtl="0" algn="just">
              <a:lnSpc>
                <a:spcPct val="90000"/>
              </a:lnSpc>
              <a:spcBef>
                <a:spcPts val="1000"/>
              </a:spcBef>
              <a:spcAft>
                <a:spcPts val="0"/>
              </a:spcAft>
              <a:buClr>
                <a:schemeClr val="dk1"/>
              </a:buClr>
              <a:buSzPts val="2800"/>
              <a:buChar char="•"/>
            </a:pPr>
            <a:r>
              <a:rPr lang="en-US"/>
              <a:t>Splits data into training and testing sets</a:t>
            </a:r>
            <a:endParaRPr/>
          </a:p>
          <a:p>
            <a:pPr indent="-228600" lvl="0" marL="228600" rtl="0" algn="just">
              <a:lnSpc>
                <a:spcPct val="90000"/>
              </a:lnSpc>
              <a:spcBef>
                <a:spcPts val="1000"/>
              </a:spcBef>
              <a:spcAft>
                <a:spcPts val="0"/>
              </a:spcAft>
              <a:buClr>
                <a:schemeClr val="dk1"/>
              </a:buClr>
              <a:buSzPts val="2800"/>
              <a:buChar char="•"/>
            </a:pPr>
            <a:r>
              <a:rPr lang="en-US"/>
              <a:t>Trains a Linear SVM classifier</a:t>
            </a:r>
            <a:endParaRPr/>
          </a:p>
          <a:p>
            <a:pPr indent="-228600" lvl="0" marL="228600" rtl="0" algn="just">
              <a:lnSpc>
                <a:spcPct val="90000"/>
              </a:lnSpc>
              <a:spcBef>
                <a:spcPts val="1000"/>
              </a:spcBef>
              <a:spcAft>
                <a:spcPts val="0"/>
              </a:spcAft>
              <a:buClr>
                <a:schemeClr val="dk1"/>
              </a:buClr>
              <a:buSzPts val="2800"/>
              <a:buChar char="•"/>
            </a:pPr>
            <a:r>
              <a:rPr lang="en-US"/>
              <a:t>Predicts sentiment for unseen text</a:t>
            </a:r>
            <a:endParaRPr/>
          </a:p>
          <a:p>
            <a:pPr indent="0" lvl="0" marL="0" rtl="0" algn="just">
              <a:lnSpc>
                <a:spcPct val="90000"/>
              </a:lnSpc>
              <a:spcBef>
                <a:spcPts val="1000"/>
              </a:spcBef>
              <a:spcAft>
                <a:spcPts val="0"/>
              </a:spcAft>
              <a:buClr>
                <a:schemeClr val="dk1"/>
              </a:buClr>
              <a:buSzPts val="2800"/>
              <a:buNone/>
            </a:pPr>
            <a:r>
              <a:rPr lang="en-US"/>
              <a:t>SVM often provides higher accuracy than Naive Bayes for text classification tasks.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15" name="Google Shape;815;p10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0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Deep Learning for Sentiment Analysis</a:t>
            </a:r>
            <a:endParaRPr b="1"/>
          </a:p>
        </p:txBody>
      </p:sp>
      <p:sp>
        <p:nvSpPr>
          <p:cNvPr id="821" name="Google Shape;821;p10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Deep Learning–based sentiment analysis uses neural networks to automatically learn complex patterns and representations from text data.</a:t>
            </a:r>
            <a:endParaRPr/>
          </a:p>
          <a:p>
            <a:pPr indent="0" lvl="0" marL="0" rtl="0" algn="just">
              <a:lnSpc>
                <a:spcPct val="90000"/>
              </a:lnSpc>
              <a:spcBef>
                <a:spcPts val="1000"/>
              </a:spcBef>
              <a:spcAft>
                <a:spcPts val="0"/>
              </a:spcAft>
              <a:buClr>
                <a:schemeClr val="dk1"/>
              </a:buClr>
              <a:buSzPts val="2800"/>
              <a:buNone/>
            </a:pPr>
            <a:r>
              <a:rPr lang="en-US"/>
              <a:t>Unlike traditional machine learning models (Naive Bayes, SVM), deep learning models:</a:t>
            </a:r>
            <a:endParaRPr/>
          </a:p>
          <a:p>
            <a:pPr indent="-457200" lvl="0" marL="457200" rtl="0" algn="just">
              <a:lnSpc>
                <a:spcPct val="90000"/>
              </a:lnSpc>
              <a:spcBef>
                <a:spcPts val="1000"/>
              </a:spcBef>
              <a:spcAft>
                <a:spcPts val="0"/>
              </a:spcAft>
              <a:buClr>
                <a:schemeClr val="dk1"/>
              </a:buClr>
              <a:buSzPts val="2800"/>
              <a:buChar char="•"/>
            </a:pPr>
            <a:r>
              <a:rPr lang="en-US"/>
              <a:t>Learn features directly from raw text or embeddings</a:t>
            </a:r>
            <a:endParaRPr/>
          </a:p>
          <a:p>
            <a:pPr indent="-457200" lvl="0" marL="457200" rtl="0" algn="just">
              <a:lnSpc>
                <a:spcPct val="90000"/>
              </a:lnSpc>
              <a:spcBef>
                <a:spcPts val="1000"/>
              </a:spcBef>
              <a:spcAft>
                <a:spcPts val="0"/>
              </a:spcAft>
              <a:buClr>
                <a:schemeClr val="dk1"/>
              </a:buClr>
              <a:buSzPts val="2800"/>
              <a:buChar char="•"/>
            </a:pPr>
            <a:r>
              <a:rPr lang="en-US"/>
              <a:t>Capture word order and context</a:t>
            </a:r>
            <a:endParaRPr/>
          </a:p>
          <a:p>
            <a:pPr indent="-457200" lvl="0" marL="457200" rtl="0" algn="just">
              <a:lnSpc>
                <a:spcPct val="90000"/>
              </a:lnSpc>
              <a:spcBef>
                <a:spcPts val="1000"/>
              </a:spcBef>
              <a:spcAft>
                <a:spcPts val="0"/>
              </a:spcAft>
              <a:buClr>
                <a:schemeClr val="dk1"/>
              </a:buClr>
              <a:buSzPts val="2800"/>
              <a:buChar char="•"/>
            </a:pPr>
            <a:r>
              <a:rPr lang="en-US"/>
              <a:t>Model long-range dependencies in sentences</a:t>
            </a:r>
            <a:endParaRPr/>
          </a:p>
          <a:p>
            <a:pPr indent="-457200" lvl="0" marL="457200" rtl="0" algn="just">
              <a:lnSpc>
                <a:spcPct val="90000"/>
              </a:lnSpc>
              <a:spcBef>
                <a:spcPts val="1000"/>
              </a:spcBef>
              <a:spcAft>
                <a:spcPts val="0"/>
              </a:spcAft>
              <a:buClr>
                <a:schemeClr val="dk1"/>
              </a:buClr>
              <a:buSzPts val="2800"/>
              <a:buChar char="•"/>
            </a:pPr>
            <a:r>
              <a:rPr lang="en-US"/>
              <a:t>Achieve higher accuracy on large datasets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22" name="Google Shape;822;p10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0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Deep Learning for Sentiment Analysis</a:t>
            </a:r>
            <a:endParaRPr/>
          </a:p>
        </p:txBody>
      </p:sp>
      <p:sp>
        <p:nvSpPr>
          <p:cNvPr id="828" name="Google Shape;828;p10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Common deep learning architectures used for sentiment analysis include:</a:t>
            </a:r>
            <a:endParaRPr/>
          </a:p>
          <a:p>
            <a:pPr indent="-457200" lvl="0" marL="457200" rtl="0" algn="just">
              <a:lnSpc>
                <a:spcPct val="90000"/>
              </a:lnSpc>
              <a:spcBef>
                <a:spcPts val="1000"/>
              </a:spcBef>
              <a:spcAft>
                <a:spcPts val="0"/>
              </a:spcAft>
              <a:buClr>
                <a:schemeClr val="dk1"/>
              </a:buClr>
              <a:buSzPts val="2800"/>
              <a:buChar char="•"/>
            </a:pPr>
            <a:r>
              <a:rPr lang="en-US"/>
              <a:t>Convolutional Neural Networks (CNN)</a:t>
            </a:r>
            <a:endParaRPr/>
          </a:p>
          <a:p>
            <a:pPr indent="-457200" lvl="0" marL="457200" rtl="0" algn="just">
              <a:lnSpc>
                <a:spcPct val="90000"/>
              </a:lnSpc>
              <a:spcBef>
                <a:spcPts val="1000"/>
              </a:spcBef>
              <a:spcAft>
                <a:spcPts val="0"/>
              </a:spcAft>
              <a:buClr>
                <a:schemeClr val="dk1"/>
              </a:buClr>
              <a:buSzPts val="2800"/>
              <a:buChar char="•"/>
            </a:pPr>
            <a:r>
              <a:rPr lang="en-US"/>
              <a:t>Recurrent Neural Networks (RNN)</a:t>
            </a:r>
            <a:endParaRPr/>
          </a:p>
          <a:p>
            <a:pPr indent="-457200" lvl="0" marL="457200" rtl="0" algn="just">
              <a:lnSpc>
                <a:spcPct val="90000"/>
              </a:lnSpc>
              <a:spcBef>
                <a:spcPts val="1000"/>
              </a:spcBef>
              <a:spcAft>
                <a:spcPts val="0"/>
              </a:spcAft>
              <a:buClr>
                <a:schemeClr val="dk1"/>
              </a:buClr>
              <a:buSzPts val="2800"/>
              <a:buChar char="•"/>
            </a:pPr>
            <a:r>
              <a:rPr lang="en-US"/>
              <a:t>Long Short-Term Memory networks (LSTM)</a:t>
            </a:r>
            <a:endParaRPr/>
          </a:p>
          <a:p>
            <a:pPr indent="-228600" lvl="0" marL="228600" rtl="0" algn="just">
              <a:lnSpc>
                <a:spcPct val="90000"/>
              </a:lnSpc>
              <a:spcBef>
                <a:spcPts val="1000"/>
              </a:spcBef>
              <a:spcAft>
                <a:spcPts val="0"/>
              </a:spcAft>
              <a:buClr>
                <a:schemeClr val="dk1"/>
              </a:buClr>
              <a:buSzPts val="2800"/>
              <a:buNone/>
            </a:pPr>
            <a:r>
              <a:rPr lang="en-US"/>
              <a:t>Typical deep learning sentiment pipeline:</a:t>
            </a:r>
            <a:endParaRPr/>
          </a:p>
          <a:p>
            <a:pPr indent="-228600" lvl="0" marL="228600" rtl="0" algn="just">
              <a:lnSpc>
                <a:spcPct val="90000"/>
              </a:lnSpc>
              <a:spcBef>
                <a:spcPts val="1000"/>
              </a:spcBef>
              <a:spcAft>
                <a:spcPts val="0"/>
              </a:spcAft>
              <a:buClr>
                <a:schemeClr val="dk1"/>
              </a:buClr>
              <a:buSzPts val="2800"/>
              <a:buChar char="•"/>
            </a:pPr>
            <a:r>
              <a:rPr lang="en-US"/>
              <a:t>Text preprocessing</a:t>
            </a:r>
            <a:endParaRPr/>
          </a:p>
          <a:p>
            <a:pPr indent="-228600" lvl="0" marL="228600" rtl="0" algn="just">
              <a:lnSpc>
                <a:spcPct val="90000"/>
              </a:lnSpc>
              <a:spcBef>
                <a:spcPts val="1000"/>
              </a:spcBef>
              <a:spcAft>
                <a:spcPts val="0"/>
              </a:spcAft>
              <a:buClr>
                <a:schemeClr val="dk1"/>
              </a:buClr>
              <a:buSzPts val="2800"/>
              <a:buChar char="•"/>
            </a:pPr>
            <a:r>
              <a:rPr lang="en-US"/>
              <a:t>Convert words to embeddings</a:t>
            </a:r>
            <a:endParaRPr/>
          </a:p>
          <a:p>
            <a:pPr indent="-228600" lvl="0" marL="228600" rtl="0" algn="just">
              <a:lnSpc>
                <a:spcPct val="90000"/>
              </a:lnSpc>
              <a:spcBef>
                <a:spcPts val="1000"/>
              </a:spcBef>
              <a:spcAft>
                <a:spcPts val="0"/>
              </a:spcAft>
              <a:buClr>
                <a:schemeClr val="dk1"/>
              </a:buClr>
              <a:buSzPts val="2800"/>
              <a:buChar char="•"/>
            </a:pPr>
            <a:r>
              <a:rPr lang="en-US"/>
              <a:t>Feed embeddings into neural network</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29" name="Google Shape;829;p10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0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Deep Learning for Sentiment Analysis</a:t>
            </a:r>
            <a:endParaRPr/>
          </a:p>
        </p:txBody>
      </p:sp>
      <p:sp>
        <p:nvSpPr>
          <p:cNvPr id="835" name="Google Shape;835;p10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Learn patterns automatically</a:t>
            </a:r>
            <a:endParaRPr/>
          </a:p>
          <a:p>
            <a:pPr indent="-228600" lvl="0" marL="228600" rtl="0" algn="just">
              <a:lnSpc>
                <a:spcPct val="90000"/>
              </a:lnSpc>
              <a:spcBef>
                <a:spcPts val="1000"/>
              </a:spcBef>
              <a:spcAft>
                <a:spcPts val="0"/>
              </a:spcAft>
              <a:buClr>
                <a:schemeClr val="dk1"/>
              </a:buClr>
              <a:buSzPts val="2800"/>
              <a:buChar char="•"/>
            </a:pPr>
            <a:r>
              <a:rPr lang="en-US"/>
              <a:t>Output sentiment probability</a:t>
            </a:r>
            <a:endParaRPr/>
          </a:p>
          <a:p>
            <a:pPr indent="0" lvl="0" marL="0" rtl="0" algn="just">
              <a:lnSpc>
                <a:spcPct val="90000"/>
              </a:lnSpc>
              <a:spcBef>
                <a:spcPts val="1000"/>
              </a:spcBef>
              <a:spcAft>
                <a:spcPts val="0"/>
              </a:spcAft>
              <a:buClr>
                <a:schemeClr val="dk1"/>
              </a:buClr>
              <a:buSzPts val="2800"/>
              <a:buNone/>
            </a:pPr>
            <a:r>
              <a:rPr lang="en-US"/>
              <a:t>Deep learning models are especially powerful for handling:</a:t>
            </a:r>
            <a:endParaRPr/>
          </a:p>
          <a:p>
            <a:pPr indent="-457200" lvl="0" marL="457200" rtl="0" algn="just">
              <a:lnSpc>
                <a:spcPct val="90000"/>
              </a:lnSpc>
              <a:spcBef>
                <a:spcPts val="1000"/>
              </a:spcBef>
              <a:spcAft>
                <a:spcPts val="0"/>
              </a:spcAft>
              <a:buClr>
                <a:schemeClr val="dk1"/>
              </a:buClr>
              <a:buSzPts val="2800"/>
              <a:buChar char="•"/>
            </a:pPr>
            <a:r>
              <a:rPr lang="en-US"/>
              <a:t>Complex sentence structures</a:t>
            </a:r>
            <a:endParaRPr/>
          </a:p>
          <a:p>
            <a:pPr indent="-457200" lvl="0" marL="457200" rtl="0" algn="just">
              <a:lnSpc>
                <a:spcPct val="90000"/>
              </a:lnSpc>
              <a:spcBef>
                <a:spcPts val="1000"/>
              </a:spcBef>
              <a:spcAft>
                <a:spcPts val="0"/>
              </a:spcAft>
              <a:buClr>
                <a:schemeClr val="dk1"/>
              </a:buClr>
              <a:buSzPts val="2800"/>
              <a:buChar char="•"/>
            </a:pPr>
            <a:r>
              <a:rPr lang="en-US"/>
              <a:t>Contextual meaning</a:t>
            </a:r>
            <a:endParaRPr/>
          </a:p>
          <a:p>
            <a:pPr indent="-457200" lvl="0" marL="457200" rtl="0" algn="just">
              <a:lnSpc>
                <a:spcPct val="90000"/>
              </a:lnSpc>
              <a:spcBef>
                <a:spcPts val="1000"/>
              </a:spcBef>
              <a:spcAft>
                <a:spcPts val="0"/>
              </a:spcAft>
              <a:buClr>
                <a:schemeClr val="dk1"/>
              </a:buClr>
              <a:buSzPts val="2800"/>
              <a:buChar char="•"/>
            </a:pPr>
            <a:r>
              <a:rPr lang="en-US"/>
              <a:t>Negation and word order</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36" name="Google Shape;836;p10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0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Convolutional Neural Networks </a:t>
            </a:r>
            <a:br>
              <a:rPr b="1" lang="en-US"/>
            </a:br>
            <a:r>
              <a:rPr b="1" lang="en-US"/>
              <a:t>(CNN) for Sentiment Analysis</a:t>
            </a:r>
            <a:endParaRPr b="1"/>
          </a:p>
        </p:txBody>
      </p:sp>
      <p:sp>
        <p:nvSpPr>
          <p:cNvPr id="842" name="Google Shape;842;p10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chemeClr val="dk1"/>
              </a:buClr>
              <a:buSzPct val="100000"/>
              <a:buNone/>
            </a:pPr>
            <a:r>
              <a:rPr lang="en-US"/>
              <a:t>Convolutional Neural Networks (CNNs), originally designed for image processing, can also be applied to text for sentiment analysis. In NLP, CNNs treat sentences as sequences of word embeddings and apply convolution filters to detect important local patterns such as phrases or n-grams.</a:t>
            </a:r>
            <a:endParaRPr/>
          </a:p>
          <a:p>
            <a:pPr indent="-228600" lvl="0" marL="228600" rtl="0" algn="just">
              <a:lnSpc>
                <a:spcPct val="90000"/>
              </a:lnSpc>
              <a:spcBef>
                <a:spcPts val="1000"/>
              </a:spcBef>
              <a:spcAft>
                <a:spcPts val="0"/>
              </a:spcAft>
              <a:buClr>
                <a:schemeClr val="dk1"/>
              </a:buClr>
              <a:buSzPct val="100000"/>
              <a:buNone/>
            </a:pPr>
            <a:r>
              <a:rPr lang="en-US"/>
              <a:t>CNN-based sentiment analysis works as follows:</a:t>
            </a:r>
            <a:endParaRPr/>
          </a:p>
          <a:p>
            <a:pPr indent="-228600" lvl="0" marL="228600" rtl="0" algn="just">
              <a:lnSpc>
                <a:spcPct val="90000"/>
              </a:lnSpc>
              <a:spcBef>
                <a:spcPts val="1000"/>
              </a:spcBef>
              <a:spcAft>
                <a:spcPts val="0"/>
              </a:spcAft>
              <a:buClr>
                <a:schemeClr val="dk1"/>
              </a:buClr>
              <a:buSzPct val="100000"/>
              <a:buChar char="•"/>
            </a:pPr>
            <a:r>
              <a:rPr lang="en-US"/>
              <a:t>Convert words into embeddings</a:t>
            </a:r>
            <a:endParaRPr/>
          </a:p>
          <a:p>
            <a:pPr indent="-228600" lvl="0" marL="228600" rtl="0" algn="just">
              <a:lnSpc>
                <a:spcPct val="90000"/>
              </a:lnSpc>
              <a:spcBef>
                <a:spcPts val="1000"/>
              </a:spcBef>
              <a:spcAft>
                <a:spcPts val="0"/>
              </a:spcAft>
              <a:buClr>
                <a:schemeClr val="dk1"/>
              </a:buClr>
              <a:buSzPct val="100000"/>
              <a:buChar char="•"/>
            </a:pPr>
            <a:r>
              <a:rPr lang="en-US"/>
              <a:t>Apply convolution filters over word sequences</a:t>
            </a:r>
            <a:endParaRPr/>
          </a:p>
          <a:p>
            <a:pPr indent="-228600" lvl="0" marL="228600" rtl="0" algn="just">
              <a:lnSpc>
                <a:spcPct val="90000"/>
              </a:lnSpc>
              <a:spcBef>
                <a:spcPts val="1000"/>
              </a:spcBef>
              <a:spcAft>
                <a:spcPts val="0"/>
              </a:spcAft>
              <a:buClr>
                <a:schemeClr val="dk1"/>
              </a:buClr>
              <a:buSzPct val="100000"/>
              <a:buChar char="•"/>
            </a:pPr>
            <a:r>
              <a:rPr lang="en-US"/>
              <a:t>Extract key features using max-pooling</a:t>
            </a:r>
            <a:endParaRPr/>
          </a:p>
          <a:p>
            <a:pPr indent="-228600" lvl="0" marL="228600" rtl="0" algn="just">
              <a:lnSpc>
                <a:spcPct val="90000"/>
              </a:lnSpc>
              <a:spcBef>
                <a:spcPts val="1000"/>
              </a:spcBef>
              <a:spcAft>
                <a:spcPts val="0"/>
              </a:spcAft>
              <a:buClr>
                <a:schemeClr val="dk1"/>
              </a:buClr>
              <a:buSzPct val="100000"/>
              <a:buChar char="•"/>
            </a:pPr>
            <a:r>
              <a:rPr lang="en-US"/>
              <a:t>Pass features to fully connected layers</a:t>
            </a:r>
            <a:endParaRPr/>
          </a:p>
          <a:p>
            <a:pPr indent="-228600" lvl="0" marL="228600" rtl="0" algn="just">
              <a:lnSpc>
                <a:spcPct val="90000"/>
              </a:lnSpc>
              <a:spcBef>
                <a:spcPts val="1000"/>
              </a:spcBef>
              <a:spcAft>
                <a:spcPts val="0"/>
              </a:spcAft>
              <a:buClr>
                <a:schemeClr val="dk1"/>
              </a:buClr>
              <a:buSzPct val="100000"/>
              <a:buChar char="•"/>
            </a:pPr>
            <a:r>
              <a:rPr lang="en-US"/>
              <a:t>Predict sentiment class</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843" name="Google Shape;843;p10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Convolutional Neural Networks </a:t>
            </a:r>
            <a:br>
              <a:rPr b="1" lang="en-US"/>
            </a:br>
            <a:r>
              <a:rPr b="1" lang="en-US"/>
              <a:t>(CNN) for Sentiment Analysis</a:t>
            </a:r>
            <a:endParaRPr/>
          </a:p>
        </p:txBody>
      </p:sp>
      <p:sp>
        <p:nvSpPr>
          <p:cNvPr id="849" name="Google Shape;849;p1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CNNs are especially good at capturing:</a:t>
            </a:r>
            <a:endParaRPr/>
          </a:p>
          <a:p>
            <a:pPr indent="-228600" lvl="0" marL="228600" rtl="0" algn="just">
              <a:lnSpc>
                <a:spcPct val="90000"/>
              </a:lnSpc>
              <a:spcBef>
                <a:spcPts val="1000"/>
              </a:spcBef>
              <a:spcAft>
                <a:spcPts val="0"/>
              </a:spcAft>
              <a:buClr>
                <a:schemeClr val="dk1"/>
              </a:buClr>
              <a:buSzPts val="2800"/>
              <a:buChar char="•"/>
            </a:pPr>
            <a:r>
              <a:rPr lang="en-US"/>
              <a:t>Important phrases (e.g., “not good”, “very happy”)</a:t>
            </a:r>
            <a:endParaRPr/>
          </a:p>
          <a:p>
            <a:pPr indent="-228600" lvl="0" marL="228600" rtl="0" algn="just">
              <a:lnSpc>
                <a:spcPct val="90000"/>
              </a:lnSpc>
              <a:spcBef>
                <a:spcPts val="1000"/>
              </a:spcBef>
              <a:spcAft>
                <a:spcPts val="0"/>
              </a:spcAft>
              <a:buClr>
                <a:schemeClr val="dk1"/>
              </a:buClr>
              <a:buSzPts val="2800"/>
              <a:buChar char="•"/>
            </a:pPr>
            <a:r>
              <a:rPr lang="en-US"/>
              <a:t>Local context patterns</a:t>
            </a:r>
            <a:endParaRPr/>
          </a:p>
          <a:p>
            <a:pPr indent="-228600" lvl="0" marL="228600" rtl="0" algn="just">
              <a:lnSpc>
                <a:spcPct val="90000"/>
              </a:lnSpc>
              <a:spcBef>
                <a:spcPts val="1000"/>
              </a:spcBef>
              <a:spcAft>
                <a:spcPts val="0"/>
              </a:spcAft>
              <a:buClr>
                <a:schemeClr val="dk1"/>
              </a:buClr>
              <a:buSzPts val="2800"/>
              <a:buChar char="•"/>
            </a:pPr>
            <a:r>
              <a:rPr lang="en-US"/>
              <a:t>Position-invariant features</a:t>
            </a:r>
            <a:endParaRPr/>
          </a:p>
          <a:p>
            <a:pPr indent="0" lvl="0" marL="0" rtl="0" algn="just">
              <a:lnSpc>
                <a:spcPct val="90000"/>
              </a:lnSpc>
              <a:spcBef>
                <a:spcPts val="1000"/>
              </a:spcBef>
              <a:spcAft>
                <a:spcPts val="0"/>
              </a:spcAft>
              <a:buClr>
                <a:schemeClr val="dk1"/>
              </a:buClr>
              <a:buSzPts val="2800"/>
              <a:buNone/>
            </a:pPr>
            <a:r>
              <a:rPr lang="en-US"/>
              <a:t>CNN models are fast and effective for sentence-level sentiment classification.</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50" name="Google Shape;850;p11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Recurrent Neural Networks (RNN) for Sentiment Analysis</a:t>
            </a:r>
            <a:endParaRPr b="1"/>
          </a:p>
        </p:txBody>
      </p:sp>
      <p:sp>
        <p:nvSpPr>
          <p:cNvPr id="856" name="Google Shape;856;p1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Recurrent Neural Networks (RNNs) are deep learning models designed to process sequential data such as text. Unlike CNNs, RNNs read sentences </a:t>
            </a:r>
            <a:r>
              <a:rPr b="1" lang="en-US"/>
              <a:t>one word at a time</a:t>
            </a:r>
            <a:r>
              <a:rPr lang="en-US"/>
              <a:t>, maintaining a hidden state that stores information from previous words.</a:t>
            </a:r>
            <a:endParaRPr/>
          </a:p>
          <a:p>
            <a:pPr indent="-228600" lvl="0" marL="228600" rtl="0" algn="just">
              <a:lnSpc>
                <a:spcPct val="90000"/>
              </a:lnSpc>
              <a:spcBef>
                <a:spcPts val="1000"/>
              </a:spcBef>
              <a:spcAft>
                <a:spcPts val="0"/>
              </a:spcAft>
              <a:buClr>
                <a:schemeClr val="dk1"/>
              </a:buClr>
              <a:buSzPts val="2800"/>
              <a:buNone/>
            </a:pPr>
            <a:r>
              <a:rPr lang="en-US"/>
              <a:t>This allows RNNs to capture:</a:t>
            </a:r>
            <a:endParaRPr/>
          </a:p>
          <a:p>
            <a:pPr indent="-228600" lvl="0" marL="228600" rtl="0" algn="just">
              <a:lnSpc>
                <a:spcPct val="90000"/>
              </a:lnSpc>
              <a:spcBef>
                <a:spcPts val="1000"/>
              </a:spcBef>
              <a:spcAft>
                <a:spcPts val="0"/>
              </a:spcAft>
              <a:buClr>
                <a:schemeClr val="dk1"/>
              </a:buClr>
              <a:buSzPts val="2800"/>
              <a:buChar char="•"/>
            </a:pPr>
            <a:r>
              <a:rPr lang="en-US"/>
              <a:t>Word order</a:t>
            </a:r>
            <a:endParaRPr/>
          </a:p>
          <a:p>
            <a:pPr indent="-228600" lvl="0" marL="228600" rtl="0" algn="just">
              <a:lnSpc>
                <a:spcPct val="90000"/>
              </a:lnSpc>
              <a:spcBef>
                <a:spcPts val="1000"/>
              </a:spcBef>
              <a:spcAft>
                <a:spcPts val="0"/>
              </a:spcAft>
              <a:buClr>
                <a:schemeClr val="dk1"/>
              </a:buClr>
              <a:buSzPts val="2800"/>
              <a:buChar char="•"/>
            </a:pPr>
            <a:r>
              <a:rPr lang="en-US"/>
              <a:t>Sentence structure</a:t>
            </a:r>
            <a:endParaRPr/>
          </a:p>
          <a:p>
            <a:pPr indent="-228600" lvl="0" marL="228600" rtl="0" algn="just">
              <a:lnSpc>
                <a:spcPct val="90000"/>
              </a:lnSpc>
              <a:spcBef>
                <a:spcPts val="1000"/>
              </a:spcBef>
              <a:spcAft>
                <a:spcPts val="0"/>
              </a:spcAft>
              <a:buClr>
                <a:schemeClr val="dk1"/>
              </a:buClr>
              <a:buSzPts val="2800"/>
              <a:buChar char="•"/>
            </a:pPr>
            <a:r>
              <a:rPr lang="en-US"/>
              <a:t>Context from earlier parts of the sentence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57" name="Google Shape;857;p11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Recurrent Neural Networks (RNN) for Sentiment Analysis</a:t>
            </a:r>
            <a:endParaRPr/>
          </a:p>
        </p:txBody>
      </p:sp>
      <p:sp>
        <p:nvSpPr>
          <p:cNvPr id="863" name="Google Shape;863;p1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In sentiment analysis, RNNs work as follows:</a:t>
            </a:r>
            <a:endParaRPr/>
          </a:p>
          <a:p>
            <a:pPr indent="-228600" lvl="0" marL="228600" rtl="0" algn="just">
              <a:lnSpc>
                <a:spcPct val="90000"/>
              </a:lnSpc>
              <a:spcBef>
                <a:spcPts val="1000"/>
              </a:spcBef>
              <a:spcAft>
                <a:spcPts val="0"/>
              </a:spcAft>
              <a:buClr>
                <a:schemeClr val="dk1"/>
              </a:buClr>
              <a:buSzPts val="2800"/>
              <a:buChar char="•"/>
            </a:pPr>
            <a:r>
              <a:rPr lang="en-US"/>
              <a:t>Convert words into embeddings</a:t>
            </a:r>
            <a:endParaRPr/>
          </a:p>
          <a:p>
            <a:pPr indent="-228600" lvl="0" marL="228600" rtl="0" algn="just">
              <a:lnSpc>
                <a:spcPct val="90000"/>
              </a:lnSpc>
              <a:spcBef>
                <a:spcPts val="1000"/>
              </a:spcBef>
              <a:spcAft>
                <a:spcPts val="0"/>
              </a:spcAft>
              <a:buClr>
                <a:schemeClr val="dk1"/>
              </a:buClr>
              <a:buSzPts val="2800"/>
              <a:buChar char="•"/>
            </a:pPr>
            <a:r>
              <a:rPr lang="en-US"/>
              <a:t>Feed embeddings sequentially into RNN</a:t>
            </a:r>
            <a:endParaRPr/>
          </a:p>
          <a:p>
            <a:pPr indent="-228600" lvl="0" marL="228600" rtl="0" algn="just">
              <a:lnSpc>
                <a:spcPct val="90000"/>
              </a:lnSpc>
              <a:spcBef>
                <a:spcPts val="1000"/>
              </a:spcBef>
              <a:spcAft>
                <a:spcPts val="0"/>
              </a:spcAft>
              <a:buClr>
                <a:schemeClr val="dk1"/>
              </a:buClr>
              <a:buSzPts val="2800"/>
              <a:buChar char="•"/>
            </a:pPr>
            <a:r>
              <a:rPr lang="en-US"/>
              <a:t>Update hidden state at each word</a:t>
            </a:r>
            <a:endParaRPr/>
          </a:p>
          <a:p>
            <a:pPr indent="-228600" lvl="0" marL="228600" rtl="0" algn="just">
              <a:lnSpc>
                <a:spcPct val="90000"/>
              </a:lnSpc>
              <a:spcBef>
                <a:spcPts val="1000"/>
              </a:spcBef>
              <a:spcAft>
                <a:spcPts val="0"/>
              </a:spcAft>
              <a:buClr>
                <a:schemeClr val="dk1"/>
              </a:buClr>
              <a:buSzPts val="2800"/>
              <a:buChar char="•"/>
            </a:pPr>
            <a:r>
              <a:rPr lang="en-US"/>
              <a:t>Final hidden state summarizes the sentence</a:t>
            </a:r>
            <a:endParaRPr/>
          </a:p>
          <a:p>
            <a:pPr indent="-228600" lvl="0" marL="228600" rtl="0" algn="just">
              <a:lnSpc>
                <a:spcPct val="90000"/>
              </a:lnSpc>
              <a:spcBef>
                <a:spcPts val="1000"/>
              </a:spcBef>
              <a:spcAft>
                <a:spcPts val="0"/>
              </a:spcAft>
              <a:buClr>
                <a:schemeClr val="dk1"/>
              </a:buClr>
              <a:buSzPts val="2800"/>
              <a:buChar char="•"/>
            </a:pPr>
            <a:r>
              <a:rPr lang="en-US"/>
              <a:t>Use this summary to predict sentiment</a:t>
            </a:r>
            <a:endParaRPr/>
          </a:p>
          <a:p>
            <a:pPr indent="0" lvl="0" marL="0" rtl="0" algn="just">
              <a:lnSpc>
                <a:spcPct val="90000"/>
              </a:lnSpc>
              <a:spcBef>
                <a:spcPts val="1000"/>
              </a:spcBef>
              <a:spcAft>
                <a:spcPts val="0"/>
              </a:spcAft>
              <a:buClr>
                <a:schemeClr val="dk1"/>
              </a:buClr>
              <a:buSzPts val="2800"/>
              <a:buNone/>
            </a:pPr>
            <a:r>
              <a:rPr lang="en-US"/>
              <a:t>RNNs are useful for modeling dependencies across words, making them suitable for longer sentences.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64" name="Google Shape;864;p11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Long Short-Term Memory (LSTM) for Sentiment Analysis</a:t>
            </a:r>
            <a:endParaRPr b="1"/>
          </a:p>
        </p:txBody>
      </p:sp>
      <p:sp>
        <p:nvSpPr>
          <p:cNvPr id="870" name="Google Shape;870;p1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90000"/>
              </a:lnSpc>
              <a:spcBef>
                <a:spcPts val="0"/>
              </a:spcBef>
              <a:spcAft>
                <a:spcPts val="0"/>
              </a:spcAft>
              <a:buClr>
                <a:schemeClr val="dk1"/>
              </a:buClr>
              <a:buSzPct val="100000"/>
              <a:buNone/>
            </a:pPr>
            <a:r>
              <a:rPr lang="en-US"/>
              <a:t>Long Short-Term Memory (LSTM) is a special type of Recurrent Neural Network designed to overcome the memory limitations of standard RNNs. Traditional RNNs struggle to retain information over long sequences due to the </a:t>
            </a:r>
            <a:r>
              <a:rPr b="1" lang="en-US"/>
              <a:t>vanishing gradient problem</a:t>
            </a:r>
            <a:r>
              <a:rPr lang="en-US"/>
              <a:t>. LSTM solves this by introducing a structured memory mechanism using gates.</a:t>
            </a:r>
            <a:endParaRPr/>
          </a:p>
          <a:p>
            <a:pPr indent="-228600" lvl="0" marL="228600" rtl="0" algn="just">
              <a:lnSpc>
                <a:spcPct val="90000"/>
              </a:lnSpc>
              <a:spcBef>
                <a:spcPts val="1000"/>
              </a:spcBef>
              <a:spcAft>
                <a:spcPts val="0"/>
              </a:spcAft>
              <a:buClr>
                <a:schemeClr val="dk1"/>
              </a:buClr>
              <a:buSzPct val="100000"/>
              <a:buNone/>
            </a:pPr>
            <a:r>
              <a:rPr lang="en-US"/>
              <a:t>An LSTM unit contains:</a:t>
            </a:r>
            <a:endParaRPr/>
          </a:p>
          <a:p>
            <a:pPr indent="-228600" lvl="0" marL="228600" rtl="0" algn="just">
              <a:lnSpc>
                <a:spcPct val="90000"/>
              </a:lnSpc>
              <a:spcBef>
                <a:spcPts val="1000"/>
              </a:spcBef>
              <a:spcAft>
                <a:spcPts val="0"/>
              </a:spcAft>
              <a:buClr>
                <a:schemeClr val="dk1"/>
              </a:buClr>
              <a:buSzPct val="100000"/>
              <a:buChar char="•"/>
            </a:pPr>
            <a:r>
              <a:rPr b="1" lang="en-US"/>
              <a:t>Forget Gate – </a:t>
            </a:r>
            <a:r>
              <a:rPr lang="en-US"/>
              <a:t>decides what information to discard</a:t>
            </a:r>
            <a:endParaRPr/>
          </a:p>
          <a:p>
            <a:pPr indent="-228600" lvl="0" marL="228600" rtl="0" algn="just">
              <a:lnSpc>
                <a:spcPct val="90000"/>
              </a:lnSpc>
              <a:spcBef>
                <a:spcPts val="1000"/>
              </a:spcBef>
              <a:spcAft>
                <a:spcPts val="0"/>
              </a:spcAft>
              <a:buClr>
                <a:schemeClr val="dk1"/>
              </a:buClr>
              <a:buSzPct val="100000"/>
              <a:buChar char="•"/>
            </a:pPr>
            <a:r>
              <a:rPr b="1" lang="en-US"/>
              <a:t>Input Gate –</a:t>
            </a:r>
            <a:r>
              <a:rPr lang="en-US"/>
              <a:t> decides what new information to store</a:t>
            </a:r>
            <a:endParaRPr/>
          </a:p>
          <a:p>
            <a:pPr indent="-228600" lvl="0" marL="228600" rtl="0" algn="just">
              <a:lnSpc>
                <a:spcPct val="90000"/>
              </a:lnSpc>
              <a:spcBef>
                <a:spcPts val="1000"/>
              </a:spcBef>
              <a:spcAft>
                <a:spcPts val="0"/>
              </a:spcAft>
              <a:buClr>
                <a:schemeClr val="dk1"/>
              </a:buClr>
              <a:buSzPct val="100000"/>
              <a:buChar char="•"/>
            </a:pPr>
            <a:r>
              <a:rPr b="1" lang="en-US"/>
              <a:t>Output Gate – </a:t>
            </a:r>
            <a:r>
              <a:rPr lang="en-US"/>
              <a:t>decides what information to pass forward</a:t>
            </a:r>
            <a:endParaRPr/>
          </a:p>
          <a:p>
            <a:pPr indent="-228600" lvl="0" marL="228600" rtl="0" algn="just">
              <a:lnSpc>
                <a:spcPct val="90000"/>
              </a:lnSpc>
              <a:spcBef>
                <a:spcPts val="1000"/>
              </a:spcBef>
              <a:spcAft>
                <a:spcPts val="0"/>
              </a:spcAft>
              <a:buClr>
                <a:schemeClr val="dk1"/>
              </a:buClr>
              <a:buSzPct val="100000"/>
              <a:buChar char="•"/>
            </a:pPr>
            <a:r>
              <a:rPr b="1" lang="en-US"/>
              <a:t>Cell State –</a:t>
            </a:r>
            <a:r>
              <a:rPr lang="en-US"/>
              <a:t> acts as long-term memory</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871" name="Google Shape;871;p11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Long Short-Term Memory (LSTM) for Sentiment Analysis</a:t>
            </a:r>
            <a:endParaRPr/>
          </a:p>
        </p:txBody>
      </p:sp>
      <p:sp>
        <p:nvSpPr>
          <p:cNvPr id="877" name="Google Shape;877;p1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lang="en-US"/>
              <a:t>In sentiment analysis, LSTM:</a:t>
            </a:r>
            <a:endParaRPr/>
          </a:p>
          <a:p>
            <a:pPr indent="-228600" lvl="0" marL="228600" rtl="0" algn="just">
              <a:lnSpc>
                <a:spcPct val="90000"/>
              </a:lnSpc>
              <a:spcBef>
                <a:spcPts val="1000"/>
              </a:spcBef>
              <a:spcAft>
                <a:spcPts val="0"/>
              </a:spcAft>
              <a:buClr>
                <a:schemeClr val="dk1"/>
              </a:buClr>
              <a:buSzPts val="2800"/>
              <a:buFont typeface="Arial"/>
              <a:buChar char="•"/>
            </a:pPr>
            <a:r>
              <a:rPr lang="en-US"/>
              <a:t>Reads sentences word by word</a:t>
            </a:r>
            <a:endParaRPr/>
          </a:p>
          <a:p>
            <a:pPr indent="-228600" lvl="0" marL="228600" rtl="0" algn="just">
              <a:lnSpc>
                <a:spcPct val="90000"/>
              </a:lnSpc>
              <a:spcBef>
                <a:spcPts val="1000"/>
              </a:spcBef>
              <a:spcAft>
                <a:spcPts val="0"/>
              </a:spcAft>
              <a:buClr>
                <a:schemeClr val="dk1"/>
              </a:buClr>
              <a:buSzPts val="2800"/>
              <a:buFont typeface="Arial"/>
              <a:buChar char="•"/>
            </a:pPr>
            <a:r>
              <a:rPr lang="en-US"/>
              <a:t>Stores important emotional/contextual information</a:t>
            </a:r>
            <a:endParaRPr/>
          </a:p>
          <a:p>
            <a:pPr indent="-228600" lvl="0" marL="228600" rtl="0" algn="just">
              <a:lnSpc>
                <a:spcPct val="90000"/>
              </a:lnSpc>
              <a:spcBef>
                <a:spcPts val="1000"/>
              </a:spcBef>
              <a:spcAft>
                <a:spcPts val="0"/>
              </a:spcAft>
              <a:buClr>
                <a:schemeClr val="dk1"/>
              </a:buClr>
              <a:buSzPts val="2800"/>
              <a:buFont typeface="Arial"/>
              <a:buChar char="•"/>
            </a:pPr>
            <a:r>
              <a:rPr lang="en-US"/>
              <a:t>Forgets irrelevant words</a:t>
            </a:r>
            <a:endParaRPr/>
          </a:p>
          <a:p>
            <a:pPr indent="-228600" lvl="0" marL="228600" rtl="0" algn="just">
              <a:lnSpc>
                <a:spcPct val="90000"/>
              </a:lnSpc>
              <a:spcBef>
                <a:spcPts val="1000"/>
              </a:spcBef>
              <a:spcAft>
                <a:spcPts val="0"/>
              </a:spcAft>
              <a:buClr>
                <a:schemeClr val="dk1"/>
              </a:buClr>
              <a:buSzPts val="2800"/>
              <a:buFont typeface="Arial"/>
              <a:buChar char="•"/>
            </a:pPr>
            <a:r>
              <a:rPr lang="en-US"/>
              <a:t>Produces a final representation of the sentence</a:t>
            </a:r>
            <a:endParaRPr/>
          </a:p>
          <a:p>
            <a:pPr indent="-228600" lvl="0" marL="228600" rtl="0" algn="just">
              <a:lnSpc>
                <a:spcPct val="90000"/>
              </a:lnSpc>
              <a:spcBef>
                <a:spcPts val="1000"/>
              </a:spcBef>
              <a:spcAft>
                <a:spcPts val="0"/>
              </a:spcAft>
              <a:buClr>
                <a:schemeClr val="dk1"/>
              </a:buClr>
              <a:buSzPts val="2800"/>
              <a:buFont typeface="Arial"/>
              <a:buChar char="•"/>
            </a:pPr>
            <a:r>
              <a:rPr lang="en-US"/>
              <a:t>Predicts sentiment using this representation</a:t>
            </a:r>
            <a:endParaRPr/>
          </a:p>
          <a:p>
            <a:pPr indent="0" lvl="0" marL="0" rtl="0" algn="just">
              <a:lnSpc>
                <a:spcPct val="90000"/>
              </a:lnSpc>
              <a:spcBef>
                <a:spcPts val="1000"/>
              </a:spcBef>
              <a:spcAft>
                <a:spcPts val="0"/>
              </a:spcAft>
              <a:buClr>
                <a:schemeClr val="dk1"/>
              </a:buClr>
              <a:buSzPts val="2800"/>
              <a:buNone/>
            </a:pPr>
            <a:r>
              <a:rPr lang="en-US"/>
              <a:t>LSTM is highly effective for capturing long-range dependencies and contextual meaning in text.</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78" name="Google Shape;878;p11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Aspect-Based Sentiment Analysis </a:t>
            </a:r>
            <a:br>
              <a:rPr b="1" lang="en-US"/>
            </a:br>
            <a:r>
              <a:rPr b="1" lang="en-US"/>
              <a:t>(ABSA)</a:t>
            </a:r>
            <a:endParaRPr b="1"/>
          </a:p>
        </p:txBody>
      </p:sp>
      <p:sp>
        <p:nvSpPr>
          <p:cNvPr id="884" name="Google Shape;884;p1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Aspect-Based Sentiment Analysis (ABSA) identifies sentiment toward </a:t>
            </a:r>
            <a:r>
              <a:rPr b="1" lang="en-US"/>
              <a:t>specific aspects or features</a:t>
            </a:r>
            <a:r>
              <a:rPr lang="en-US"/>
              <a:t> of an entity instead of assigning a single overall sentiment.</a:t>
            </a:r>
            <a:endParaRPr/>
          </a:p>
          <a:p>
            <a:pPr indent="-228600" lvl="0" marL="228600" rtl="0" algn="just">
              <a:lnSpc>
                <a:spcPct val="90000"/>
              </a:lnSpc>
              <a:spcBef>
                <a:spcPts val="1000"/>
              </a:spcBef>
              <a:spcAft>
                <a:spcPts val="0"/>
              </a:spcAft>
              <a:buClr>
                <a:schemeClr val="dk1"/>
              </a:buClr>
              <a:buSzPts val="2800"/>
              <a:buNone/>
            </a:pPr>
            <a:r>
              <a:rPr b="1" lang="en-US"/>
              <a:t>Rather than answering:</a:t>
            </a:r>
            <a:endParaRPr b="1"/>
          </a:p>
          <a:p>
            <a:pPr indent="-228600" lvl="0" marL="228600" rtl="0" algn="just">
              <a:lnSpc>
                <a:spcPct val="90000"/>
              </a:lnSpc>
              <a:spcBef>
                <a:spcPts val="1000"/>
              </a:spcBef>
              <a:spcAft>
                <a:spcPts val="0"/>
              </a:spcAft>
              <a:buClr>
                <a:schemeClr val="dk1"/>
              </a:buClr>
              <a:buSzPts val="2800"/>
              <a:buNone/>
            </a:pPr>
            <a:r>
              <a:rPr lang="en-US"/>
              <a:t>“Is this review positive or negative?”</a:t>
            </a:r>
            <a:endParaRPr/>
          </a:p>
          <a:p>
            <a:pPr indent="-228600" lvl="0" marL="228600" rtl="0" algn="just">
              <a:lnSpc>
                <a:spcPct val="90000"/>
              </a:lnSpc>
              <a:spcBef>
                <a:spcPts val="1000"/>
              </a:spcBef>
              <a:spcAft>
                <a:spcPts val="0"/>
              </a:spcAft>
              <a:buClr>
                <a:schemeClr val="dk1"/>
              </a:buClr>
              <a:buSzPts val="2800"/>
              <a:buNone/>
            </a:pPr>
            <a:r>
              <a:rPr b="1" lang="en-US"/>
              <a:t>ABSA answers:</a:t>
            </a:r>
            <a:endParaRPr b="1"/>
          </a:p>
          <a:p>
            <a:pPr indent="-228600" lvl="0" marL="228600" rtl="0" algn="just">
              <a:lnSpc>
                <a:spcPct val="90000"/>
              </a:lnSpc>
              <a:spcBef>
                <a:spcPts val="1000"/>
              </a:spcBef>
              <a:spcAft>
                <a:spcPts val="0"/>
              </a:spcAft>
              <a:buClr>
                <a:schemeClr val="dk1"/>
              </a:buClr>
              <a:buSzPts val="2800"/>
              <a:buNone/>
            </a:pPr>
            <a:r>
              <a:rPr lang="en-US"/>
              <a:t>“What exactly does the user like or dislike?”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85" name="Google Shape;885;p11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Aspect-Based Sentiment Analysis </a:t>
            </a:r>
            <a:br>
              <a:rPr b="1" lang="en-US"/>
            </a:br>
            <a:r>
              <a:rPr b="1" lang="en-US"/>
              <a:t>(ABSA)</a:t>
            </a:r>
            <a:endParaRPr/>
          </a:p>
        </p:txBody>
      </p:sp>
      <p:sp>
        <p:nvSpPr>
          <p:cNvPr id="891" name="Google Shape;891;p1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Example:</a:t>
            </a:r>
            <a:endParaRPr/>
          </a:p>
          <a:p>
            <a:pPr indent="-228600" lvl="0" marL="228600" rtl="0" algn="l">
              <a:lnSpc>
                <a:spcPct val="90000"/>
              </a:lnSpc>
              <a:spcBef>
                <a:spcPts val="1000"/>
              </a:spcBef>
              <a:spcAft>
                <a:spcPts val="0"/>
              </a:spcAft>
              <a:buClr>
                <a:schemeClr val="dk1"/>
              </a:buClr>
              <a:buSzPts val="2800"/>
              <a:buNone/>
            </a:pPr>
            <a:r>
              <a:rPr b="1" lang="en-US"/>
              <a:t>Sentence: </a:t>
            </a:r>
            <a:r>
              <a:rPr lang="en-US"/>
              <a:t>“I love the camera but hate the battery.”</a:t>
            </a:r>
            <a:endParaRPr/>
          </a:p>
          <a:p>
            <a:pPr indent="-228600" lvl="0" marL="228600" rtl="0" algn="l">
              <a:lnSpc>
                <a:spcPct val="90000"/>
              </a:lnSpc>
              <a:spcBef>
                <a:spcPts val="1000"/>
              </a:spcBef>
              <a:spcAft>
                <a:spcPts val="0"/>
              </a:spcAft>
              <a:buClr>
                <a:schemeClr val="dk1"/>
              </a:buClr>
              <a:buSzPts val="2800"/>
              <a:buNone/>
            </a:pPr>
            <a:r>
              <a:rPr b="1" lang="en-US"/>
              <a:t>Overall sentiment →</a:t>
            </a:r>
            <a:r>
              <a:rPr lang="en-US"/>
              <a:t> Mixed</a:t>
            </a:r>
            <a:endParaRPr/>
          </a:p>
          <a:p>
            <a:pPr indent="-228600" lvl="0" marL="228600" rtl="0" algn="l">
              <a:lnSpc>
                <a:spcPct val="90000"/>
              </a:lnSpc>
              <a:spcBef>
                <a:spcPts val="1000"/>
              </a:spcBef>
              <a:spcAft>
                <a:spcPts val="0"/>
              </a:spcAft>
              <a:buClr>
                <a:schemeClr val="dk1"/>
              </a:buClr>
              <a:buSzPts val="2800"/>
              <a:buNone/>
            </a:pPr>
            <a:r>
              <a:rPr b="1" lang="en-US"/>
              <a:t>Aspect-level sentiment:</a:t>
            </a:r>
            <a:endParaRPr b="1"/>
          </a:p>
          <a:p>
            <a:pPr indent="-228600" lvl="0" marL="228600" rtl="0" algn="l">
              <a:lnSpc>
                <a:spcPct val="90000"/>
              </a:lnSpc>
              <a:spcBef>
                <a:spcPts val="1000"/>
              </a:spcBef>
              <a:spcAft>
                <a:spcPts val="0"/>
              </a:spcAft>
              <a:buClr>
                <a:schemeClr val="dk1"/>
              </a:buClr>
              <a:buSzPts val="2800"/>
              <a:buNone/>
            </a:pPr>
            <a:r>
              <a:rPr b="1" lang="en-US"/>
              <a:t>Camera →</a:t>
            </a:r>
            <a:r>
              <a:rPr lang="en-US"/>
              <a:t> Positive</a:t>
            </a:r>
            <a:endParaRPr/>
          </a:p>
          <a:p>
            <a:pPr indent="-228600" lvl="0" marL="228600" rtl="0" algn="l">
              <a:lnSpc>
                <a:spcPct val="90000"/>
              </a:lnSpc>
              <a:spcBef>
                <a:spcPts val="1000"/>
              </a:spcBef>
              <a:spcAft>
                <a:spcPts val="0"/>
              </a:spcAft>
              <a:buClr>
                <a:schemeClr val="dk1"/>
              </a:buClr>
              <a:buSzPts val="2800"/>
              <a:buNone/>
            </a:pPr>
            <a:r>
              <a:rPr b="1" lang="en-US"/>
              <a:t>Battery →</a:t>
            </a:r>
            <a:r>
              <a:rPr lang="en-US"/>
              <a:t> Negative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892" name="Google Shape;892;p11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Aspect-Based Sentiment Analysis </a:t>
            </a:r>
            <a:br>
              <a:rPr b="1" lang="en-US"/>
            </a:br>
            <a:r>
              <a:rPr b="1" lang="en-US"/>
              <a:t>(ABSA)</a:t>
            </a:r>
            <a:endParaRPr/>
          </a:p>
        </p:txBody>
      </p:sp>
      <p:sp>
        <p:nvSpPr>
          <p:cNvPr id="898" name="Google Shape;898;p1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None/>
            </a:pPr>
            <a:r>
              <a:rPr lang="en-US"/>
              <a:t>ABSA typically involves two subtasks:</a:t>
            </a:r>
            <a:endParaRPr/>
          </a:p>
          <a:p>
            <a:pPr indent="-228600" lvl="0" marL="228600" rtl="0" algn="just">
              <a:lnSpc>
                <a:spcPct val="90000"/>
              </a:lnSpc>
              <a:spcBef>
                <a:spcPts val="1000"/>
              </a:spcBef>
              <a:spcAft>
                <a:spcPts val="0"/>
              </a:spcAft>
              <a:buClr>
                <a:schemeClr val="dk1"/>
              </a:buClr>
              <a:buSzPct val="100000"/>
              <a:buFont typeface="Arial"/>
              <a:buChar char="•"/>
            </a:pPr>
            <a:r>
              <a:rPr b="1" lang="en-US"/>
              <a:t>Aspect Extraction</a:t>
            </a:r>
            <a:r>
              <a:rPr lang="en-US"/>
              <a:t> – identifying important aspects (camera, battery, screen, etc.)</a:t>
            </a:r>
            <a:endParaRPr/>
          </a:p>
          <a:p>
            <a:pPr indent="-228600" lvl="0" marL="228600" rtl="0" algn="just">
              <a:lnSpc>
                <a:spcPct val="90000"/>
              </a:lnSpc>
              <a:spcBef>
                <a:spcPts val="1000"/>
              </a:spcBef>
              <a:spcAft>
                <a:spcPts val="0"/>
              </a:spcAft>
              <a:buClr>
                <a:schemeClr val="dk1"/>
              </a:buClr>
              <a:buSzPct val="100000"/>
              <a:buFont typeface="Arial"/>
              <a:buChar char="•"/>
            </a:pPr>
            <a:r>
              <a:rPr b="1" lang="en-US"/>
              <a:t>Aspect Sentiment Classification</a:t>
            </a:r>
            <a:r>
              <a:rPr lang="en-US"/>
              <a:t> – determining sentiment for each aspect</a:t>
            </a:r>
            <a:endParaRPr/>
          </a:p>
          <a:p>
            <a:pPr indent="0" lvl="0" marL="0" rtl="0" algn="just">
              <a:lnSpc>
                <a:spcPct val="90000"/>
              </a:lnSpc>
              <a:spcBef>
                <a:spcPts val="1000"/>
              </a:spcBef>
              <a:spcAft>
                <a:spcPts val="0"/>
              </a:spcAft>
              <a:buClr>
                <a:schemeClr val="dk1"/>
              </a:buClr>
              <a:buSzPct val="100000"/>
              <a:buNone/>
            </a:pPr>
            <a:r>
              <a:rPr lang="en-US"/>
              <a:t>Aspect-based sentiment provides fine-grained insights and is widely used in:</a:t>
            </a:r>
            <a:endParaRPr/>
          </a:p>
          <a:p>
            <a:pPr indent="-457200" lvl="0" marL="457200" rtl="0" algn="just">
              <a:lnSpc>
                <a:spcPct val="90000"/>
              </a:lnSpc>
              <a:spcBef>
                <a:spcPts val="1000"/>
              </a:spcBef>
              <a:spcAft>
                <a:spcPts val="0"/>
              </a:spcAft>
              <a:buClr>
                <a:schemeClr val="dk1"/>
              </a:buClr>
              <a:buSzPct val="100000"/>
              <a:buChar char="•"/>
            </a:pPr>
            <a:r>
              <a:rPr lang="en-US"/>
              <a:t>Product review analysis</a:t>
            </a:r>
            <a:endParaRPr/>
          </a:p>
          <a:p>
            <a:pPr indent="-457200" lvl="0" marL="457200" rtl="0" algn="just">
              <a:lnSpc>
                <a:spcPct val="90000"/>
              </a:lnSpc>
              <a:spcBef>
                <a:spcPts val="1000"/>
              </a:spcBef>
              <a:spcAft>
                <a:spcPts val="0"/>
              </a:spcAft>
              <a:buClr>
                <a:schemeClr val="dk1"/>
              </a:buClr>
              <a:buSzPct val="100000"/>
              <a:buChar char="•"/>
            </a:pPr>
            <a:r>
              <a:rPr lang="en-US"/>
              <a:t>Customer feedback systems</a:t>
            </a:r>
            <a:endParaRPr/>
          </a:p>
          <a:p>
            <a:pPr indent="-457200" lvl="0" marL="457200" rtl="0" algn="just">
              <a:lnSpc>
                <a:spcPct val="90000"/>
              </a:lnSpc>
              <a:spcBef>
                <a:spcPts val="1000"/>
              </a:spcBef>
              <a:spcAft>
                <a:spcPts val="0"/>
              </a:spcAft>
              <a:buClr>
                <a:schemeClr val="dk1"/>
              </a:buClr>
              <a:buSzPct val="100000"/>
              <a:buChar char="•"/>
            </a:pPr>
            <a:r>
              <a:rPr lang="en-US"/>
              <a:t>Brand monitoring</a:t>
            </a:r>
            <a:endParaRPr/>
          </a:p>
          <a:p>
            <a:pPr indent="-457200" lvl="0" marL="457200" rtl="0" algn="just">
              <a:lnSpc>
                <a:spcPct val="90000"/>
              </a:lnSpc>
              <a:spcBef>
                <a:spcPts val="1000"/>
              </a:spcBef>
              <a:spcAft>
                <a:spcPts val="0"/>
              </a:spcAft>
              <a:buClr>
                <a:schemeClr val="dk1"/>
              </a:buClr>
              <a:buSzPct val="100000"/>
              <a:buChar char="•"/>
            </a:pPr>
            <a:r>
              <a:rPr lang="en-US"/>
              <a:t>Feature-level improvement tracking</a:t>
            </a:r>
            <a:endParaRPr/>
          </a:p>
          <a:p>
            <a:pPr indent="0" lvl="0" marL="0" rtl="0" algn="l">
              <a:lnSpc>
                <a:spcPct val="90000"/>
              </a:lnSpc>
              <a:spcBef>
                <a:spcPts val="1000"/>
              </a:spcBef>
              <a:spcAft>
                <a:spcPts val="0"/>
              </a:spcAft>
              <a:buClr>
                <a:schemeClr val="dk1"/>
              </a:buClr>
              <a:buSzPct val="100000"/>
              <a:buNone/>
            </a:pPr>
            <a:r>
              <a:t/>
            </a:r>
            <a:endParaRPr/>
          </a:p>
        </p:txBody>
      </p:sp>
      <p:pic>
        <p:nvPicPr>
          <p:cNvPr descr="A blue and white logo&#10;&#10;AI-generated content may be incorrect." id="899" name="Google Shape;899;p11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Text Classification and Categorization</a:t>
            </a:r>
            <a:endParaRPr b="1"/>
          </a:p>
        </p:txBody>
      </p:sp>
      <p:sp>
        <p:nvSpPr>
          <p:cNvPr id="905" name="Google Shape;905;p1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Text Classification is the process of assigning predefined categories or labels to text documents.</a:t>
            </a:r>
            <a:endParaRPr/>
          </a:p>
          <a:p>
            <a:pPr indent="-228600" lvl="0" marL="228600" rtl="0" algn="just">
              <a:lnSpc>
                <a:spcPct val="90000"/>
              </a:lnSpc>
              <a:spcBef>
                <a:spcPts val="1000"/>
              </a:spcBef>
              <a:spcAft>
                <a:spcPts val="0"/>
              </a:spcAft>
              <a:buClr>
                <a:schemeClr val="dk1"/>
              </a:buClr>
              <a:buSzPts val="2800"/>
              <a:buNone/>
            </a:pPr>
            <a:r>
              <a:rPr lang="en-US"/>
              <a:t>It answers questions such as:</a:t>
            </a:r>
            <a:endParaRPr/>
          </a:p>
          <a:p>
            <a:pPr indent="-228600" lvl="0" marL="228600" rtl="0" algn="just">
              <a:lnSpc>
                <a:spcPct val="90000"/>
              </a:lnSpc>
              <a:spcBef>
                <a:spcPts val="1000"/>
              </a:spcBef>
              <a:spcAft>
                <a:spcPts val="0"/>
              </a:spcAft>
              <a:buClr>
                <a:schemeClr val="dk1"/>
              </a:buClr>
              <a:buSzPts val="2800"/>
              <a:buChar char="•"/>
            </a:pPr>
            <a:r>
              <a:rPr lang="en-US"/>
              <a:t>Is this email spam or not?</a:t>
            </a:r>
            <a:endParaRPr/>
          </a:p>
          <a:p>
            <a:pPr indent="-228600" lvl="0" marL="228600" rtl="0" algn="just">
              <a:lnSpc>
                <a:spcPct val="90000"/>
              </a:lnSpc>
              <a:spcBef>
                <a:spcPts val="1000"/>
              </a:spcBef>
              <a:spcAft>
                <a:spcPts val="0"/>
              </a:spcAft>
              <a:buClr>
                <a:schemeClr val="dk1"/>
              </a:buClr>
              <a:buSzPts val="2800"/>
              <a:buChar char="•"/>
            </a:pPr>
            <a:r>
              <a:rPr lang="en-US"/>
              <a:t>Is this review positive or negative?</a:t>
            </a:r>
            <a:endParaRPr/>
          </a:p>
          <a:p>
            <a:pPr indent="-228600" lvl="0" marL="228600" rtl="0" algn="just">
              <a:lnSpc>
                <a:spcPct val="90000"/>
              </a:lnSpc>
              <a:spcBef>
                <a:spcPts val="1000"/>
              </a:spcBef>
              <a:spcAft>
                <a:spcPts val="0"/>
              </a:spcAft>
              <a:buClr>
                <a:schemeClr val="dk1"/>
              </a:buClr>
              <a:buSzPts val="2800"/>
              <a:buChar char="•"/>
            </a:pPr>
            <a:r>
              <a:rPr lang="en-US"/>
              <a:t>Does this article belong to sports or politics?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06" name="Google Shape;906;p11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Text Classification and Categorization</a:t>
            </a:r>
            <a:endParaRPr/>
          </a:p>
        </p:txBody>
      </p:sp>
      <p:sp>
        <p:nvSpPr>
          <p:cNvPr id="912" name="Google Shape;912;p1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Text categorization converts unstructured text into structured information.</a:t>
            </a:r>
            <a:endParaRPr/>
          </a:p>
          <a:p>
            <a:pPr indent="-228600" lvl="0" marL="228600" rtl="0" algn="just">
              <a:lnSpc>
                <a:spcPct val="90000"/>
              </a:lnSpc>
              <a:spcBef>
                <a:spcPts val="1000"/>
              </a:spcBef>
              <a:spcAft>
                <a:spcPts val="0"/>
              </a:spcAft>
              <a:buClr>
                <a:schemeClr val="dk1"/>
              </a:buClr>
              <a:buSzPts val="2800"/>
              <a:buNone/>
            </a:pPr>
            <a:r>
              <a:rPr lang="en-US"/>
              <a:t>A typical text classification pipeline includes:</a:t>
            </a:r>
            <a:endParaRPr/>
          </a:p>
          <a:p>
            <a:pPr indent="-228600" lvl="0" marL="228600" rtl="0" algn="just">
              <a:lnSpc>
                <a:spcPct val="90000"/>
              </a:lnSpc>
              <a:spcBef>
                <a:spcPts val="1000"/>
              </a:spcBef>
              <a:spcAft>
                <a:spcPts val="0"/>
              </a:spcAft>
              <a:buClr>
                <a:schemeClr val="dk1"/>
              </a:buClr>
              <a:buSzPts val="2800"/>
              <a:buFont typeface="Arial"/>
              <a:buChar char="•"/>
            </a:pPr>
            <a:r>
              <a:rPr lang="en-US"/>
              <a:t>Text preprocessing</a:t>
            </a:r>
            <a:endParaRPr/>
          </a:p>
          <a:p>
            <a:pPr indent="-228600" lvl="0" marL="228600" rtl="0" algn="just">
              <a:lnSpc>
                <a:spcPct val="90000"/>
              </a:lnSpc>
              <a:spcBef>
                <a:spcPts val="1000"/>
              </a:spcBef>
              <a:spcAft>
                <a:spcPts val="0"/>
              </a:spcAft>
              <a:buClr>
                <a:schemeClr val="dk1"/>
              </a:buClr>
              <a:buSzPts val="2800"/>
              <a:buFont typeface="Arial"/>
              <a:buChar char="•"/>
            </a:pPr>
            <a:r>
              <a:rPr lang="en-US"/>
              <a:t>Feature extraction (BoW / TF-IDF / Embeddings)</a:t>
            </a:r>
            <a:endParaRPr/>
          </a:p>
          <a:p>
            <a:pPr indent="-228600" lvl="0" marL="228600" rtl="0" algn="just">
              <a:lnSpc>
                <a:spcPct val="90000"/>
              </a:lnSpc>
              <a:spcBef>
                <a:spcPts val="1000"/>
              </a:spcBef>
              <a:spcAft>
                <a:spcPts val="0"/>
              </a:spcAft>
              <a:buClr>
                <a:schemeClr val="dk1"/>
              </a:buClr>
              <a:buSzPts val="2800"/>
              <a:buFont typeface="Arial"/>
              <a:buChar char="•"/>
            </a:pPr>
            <a:r>
              <a:rPr lang="en-US"/>
              <a:t>Model training</a:t>
            </a:r>
            <a:endParaRPr/>
          </a:p>
          <a:p>
            <a:pPr indent="-228600" lvl="0" marL="228600" rtl="0" algn="just">
              <a:lnSpc>
                <a:spcPct val="90000"/>
              </a:lnSpc>
              <a:spcBef>
                <a:spcPts val="1000"/>
              </a:spcBef>
              <a:spcAft>
                <a:spcPts val="0"/>
              </a:spcAft>
              <a:buClr>
                <a:schemeClr val="dk1"/>
              </a:buClr>
              <a:buSzPts val="2800"/>
              <a:buFont typeface="Arial"/>
              <a:buChar char="•"/>
            </a:pPr>
            <a:r>
              <a:rPr lang="en-US"/>
              <a:t>Prediction on new documents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13" name="Google Shape;913;p11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1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Text Classification and Categorization</a:t>
            </a:r>
            <a:endParaRPr/>
          </a:p>
        </p:txBody>
      </p:sp>
      <p:sp>
        <p:nvSpPr>
          <p:cNvPr id="919" name="Google Shape;919;p1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Text classification can be performed using:</a:t>
            </a:r>
            <a:endParaRPr b="1"/>
          </a:p>
          <a:p>
            <a:pPr indent="-228600" lvl="0" marL="228600" rtl="0" algn="just">
              <a:lnSpc>
                <a:spcPct val="90000"/>
              </a:lnSpc>
              <a:spcBef>
                <a:spcPts val="1000"/>
              </a:spcBef>
              <a:spcAft>
                <a:spcPts val="0"/>
              </a:spcAft>
              <a:buClr>
                <a:schemeClr val="dk1"/>
              </a:buClr>
              <a:buSzPts val="2800"/>
              <a:buChar char="•"/>
            </a:pPr>
            <a:r>
              <a:rPr lang="en-US"/>
              <a:t>Supervised learning</a:t>
            </a:r>
            <a:endParaRPr/>
          </a:p>
          <a:p>
            <a:pPr indent="-228600" lvl="0" marL="228600" rtl="0" algn="just">
              <a:lnSpc>
                <a:spcPct val="90000"/>
              </a:lnSpc>
              <a:spcBef>
                <a:spcPts val="1000"/>
              </a:spcBef>
              <a:spcAft>
                <a:spcPts val="0"/>
              </a:spcAft>
              <a:buClr>
                <a:schemeClr val="dk1"/>
              </a:buClr>
              <a:buSzPts val="2800"/>
              <a:buChar char="•"/>
            </a:pPr>
            <a:r>
              <a:rPr lang="en-US"/>
              <a:t>Unsupervised learning</a:t>
            </a:r>
            <a:endParaRPr/>
          </a:p>
          <a:p>
            <a:pPr indent="-228600" lvl="0" marL="228600" rtl="0" algn="just">
              <a:lnSpc>
                <a:spcPct val="90000"/>
              </a:lnSpc>
              <a:spcBef>
                <a:spcPts val="1000"/>
              </a:spcBef>
              <a:spcAft>
                <a:spcPts val="0"/>
              </a:spcAft>
              <a:buClr>
                <a:schemeClr val="dk1"/>
              </a:buClr>
              <a:buSzPts val="2800"/>
              <a:buNone/>
            </a:pPr>
            <a:r>
              <a:rPr b="1" lang="en-US"/>
              <a:t>Applications include:</a:t>
            </a:r>
            <a:endParaRPr/>
          </a:p>
          <a:p>
            <a:pPr indent="-228600" lvl="0" marL="228600" rtl="0" algn="just">
              <a:lnSpc>
                <a:spcPct val="90000"/>
              </a:lnSpc>
              <a:spcBef>
                <a:spcPts val="1000"/>
              </a:spcBef>
              <a:spcAft>
                <a:spcPts val="0"/>
              </a:spcAft>
              <a:buClr>
                <a:schemeClr val="dk1"/>
              </a:buClr>
              <a:buSzPts val="2800"/>
              <a:buChar char="•"/>
            </a:pPr>
            <a:r>
              <a:rPr lang="en-US"/>
              <a:t>Spam detection</a:t>
            </a:r>
            <a:endParaRPr/>
          </a:p>
          <a:p>
            <a:pPr indent="-228600" lvl="0" marL="228600" rtl="0" algn="just">
              <a:lnSpc>
                <a:spcPct val="90000"/>
              </a:lnSpc>
              <a:spcBef>
                <a:spcPts val="1000"/>
              </a:spcBef>
              <a:spcAft>
                <a:spcPts val="0"/>
              </a:spcAft>
              <a:buClr>
                <a:schemeClr val="dk1"/>
              </a:buClr>
              <a:buSzPts val="2800"/>
              <a:buChar char="•"/>
            </a:pPr>
            <a:r>
              <a:rPr lang="en-US"/>
              <a:t>Topic classification</a:t>
            </a:r>
            <a:endParaRPr/>
          </a:p>
          <a:p>
            <a:pPr indent="-228600" lvl="0" marL="228600" rtl="0" algn="just">
              <a:lnSpc>
                <a:spcPct val="90000"/>
              </a:lnSpc>
              <a:spcBef>
                <a:spcPts val="1000"/>
              </a:spcBef>
              <a:spcAft>
                <a:spcPts val="0"/>
              </a:spcAft>
              <a:buClr>
                <a:schemeClr val="dk1"/>
              </a:buClr>
              <a:buSzPts val="2800"/>
              <a:buChar char="•"/>
            </a:pPr>
            <a:r>
              <a:rPr lang="en-US"/>
              <a:t>Sentiment analysis</a:t>
            </a:r>
            <a:endParaRPr/>
          </a:p>
          <a:p>
            <a:pPr indent="-228600" lvl="0" marL="228600" rtl="0" algn="just">
              <a:lnSpc>
                <a:spcPct val="90000"/>
              </a:lnSpc>
              <a:spcBef>
                <a:spcPts val="1000"/>
              </a:spcBef>
              <a:spcAft>
                <a:spcPts val="0"/>
              </a:spcAft>
              <a:buClr>
                <a:schemeClr val="dk1"/>
              </a:buClr>
              <a:buSzPts val="2800"/>
              <a:buChar char="•"/>
            </a:pPr>
            <a:r>
              <a:rPr lang="en-US"/>
              <a:t>Fake news detection</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20" name="Google Shape;920;p12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Supervised vs Unsupervised Text Classification</a:t>
            </a:r>
            <a:endParaRPr b="1"/>
          </a:p>
        </p:txBody>
      </p:sp>
      <p:sp>
        <p:nvSpPr>
          <p:cNvPr id="926" name="Google Shape;926;p1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Text classification approaches can be divided into two main categories:</a:t>
            </a:r>
            <a:endParaRPr/>
          </a:p>
          <a:p>
            <a:pPr indent="-228600" lvl="0" marL="228600" rtl="0" algn="just">
              <a:lnSpc>
                <a:spcPct val="90000"/>
              </a:lnSpc>
              <a:spcBef>
                <a:spcPts val="1000"/>
              </a:spcBef>
              <a:spcAft>
                <a:spcPts val="0"/>
              </a:spcAft>
              <a:buClr>
                <a:schemeClr val="dk1"/>
              </a:buClr>
              <a:buSzPts val="2800"/>
              <a:buNone/>
            </a:pPr>
            <a:r>
              <a:rPr b="1" lang="en-US"/>
              <a:t>Supervised Text Classification</a:t>
            </a:r>
            <a:endParaRPr/>
          </a:p>
          <a:p>
            <a:pPr indent="-228600" lvl="0" marL="228600" rtl="0" algn="just">
              <a:lnSpc>
                <a:spcPct val="90000"/>
              </a:lnSpc>
              <a:spcBef>
                <a:spcPts val="1000"/>
              </a:spcBef>
              <a:spcAft>
                <a:spcPts val="0"/>
              </a:spcAft>
              <a:buClr>
                <a:schemeClr val="dk1"/>
              </a:buClr>
              <a:buSzPts val="2800"/>
              <a:buChar char="•"/>
            </a:pPr>
            <a:r>
              <a:rPr lang="en-US"/>
              <a:t>Uses labeled training data.</a:t>
            </a:r>
            <a:endParaRPr/>
          </a:p>
          <a:p>
            <a:pPr indent="-228600" lvl="0" marL="228600" rtl="0" algn="just">
              <a:lnSpc>
                <a:spcPct val="90000"/>
              </a:lnSpc>
              <a:spcBef>
                <a:spcPts val="1000"/>
              </a:spcBef>
              <a:spcAft>
                <a:spcPts val="0"/>
              </a:spcAft>
              <a:buClr>
                <a:schemeClr val="dk1"/>
              </a:buClr>
              <a:buSzPts val="2800"/>
              <a:buChar char="•"/>
            </a:pPr>
            <a:r>
              <a:rPr lang="en-US"/>
              <a:t>Each document is already assigned a category.</a:t>
            </a:r>
            <a:endParaRPr/>
          </a:p>
          <a:p>
            <a:pPr indent="-228600" lvl="0" marL="228600" rtl="0" algn="just">
              <a:lnSpc>
                <a:spcPct val="90000"/>
              </a:lnSpc>
              <a:spcBef>
                <a:spcPts val="1000"/>
              </a:spcBef>
              <a:spcAft>
                <a:spcPts val="0"/>
              </a:spcAft>
              <a:buClr>
                <a:schemeClr val="dk1"/>
              </a:buClr>
              <a:buSzPts val="2800"/>
              <a:buNone/>
            </a:pPr>
            <a:r>
              <a:rPr b="1" lang="en-US"/>
              <a:t>Example:</a:t>
            </a:r>
            <a:endParaRPr b="1"/>
          </a:p>
          <a:p>
            <a:pPr indent="-228600" lvl="0" marL="228600" rtl="0" algn="just">
              <a:lnSpc>
                <a:spcPct val="90000"/>
              </a:lnSpc>
              <a:spcBef>
                <a:spcPts val="1000"/>
              </a:spcBef>
              <a:spcAft>
                <a:spcPts val="0"/>
              </a:spcAft>
              <a:buClr>
                <a:schemeClr val="dk1"/>
              </a:buClr>
              <a:buSzPts val="2800"/>
              <a:buNone/>
            </a:pPr>
            <a:r>
              <a:rPr b="1" lang="en-US"/>
              <a:t>“I love this phone” →</a:t>
            </a:r>
            <a:r>
              <a:rPr lang="en-US"/>
              <a:t> Positive</a:t>
            </a:r>
            <a:endParaRPr/>
          </a:p>
          <a:p>
            <a:pPr indent="-228600" lvl="0" marL="228600" rtl="0" algn="just">
              <a:lnSpc>
                <a:spcPct val="90000"/>
              </a:lnSpc>
              <a:spcBef>
                <a:spcPts val="1000"/>
              </a:spcBef>
              <a:spcAft>
                <a:spcPts val="0"/>
              </a:spcAft>
              <a:buClr>
                <a:schemeClr val="dk1"/>
              </a:buClr>
              <a:buSzPts val="2800"/>
              <a:buNone/>
            </a:pPr>
            <a:r>
              <a:rPr lang="en-US"/>
              <a:t> </a:t>
            </a:r>
            <a:r>
              <a:rPr b="1" lang="en-US"/>
              <a:t>“This service is terrible” →</a:t>
            </a:r>
            <a:r>
              <a:rPr lang="en-US"/>
              <a:t> Negative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27" name="Google Shape;927;p12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Supervised vs Unsupervised Text Classification</a:t>
            </a:r>
            <a:endParaRPr/>
          </a:p>
        </p:txBody>
      </p:sp>
      <p:sp>
        <p:nvSpPr>
          <p:cNvPr id="933" name="Google Shape;933;p1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 model learns from these examples and predicts labels for new text.</a:t>
            </a:r>
            <a:endParaRPr/>
          </a:p>
          <a:p>
            <a:pPr indent="0" lvl="0" marL="0" rtl="0" algn="l">
              <a:lnSpc>
                <a:spcPct val="90000"/>
              </a:lnSpc>
              <a:spcBef>
                <a:spcPts val="1000"/>
              </a:spcBef>
              <a:spcAft>
                <a:spcPts val="0"/>
              </a:spcAft>
              <a:buClr>
                <a:schemeClr val="dk1"/>
              </a:buClr>
              <a:buSzPts val="2800"/>
              <a:buNone/>
            </a:pPr>
            <a:r>
              <a:rPr b="1" lang="en-US"/>
              <a:t>Common supervised algorithms: </a:t>
            </a:r>
            <a:r>
              <a:rPr lang="en-US"/>
              <a:t>Naive Bayes, Support Vector Machines, Logistic Regression and Deep Learning models</a:t>
            </a:r>
            <a:endParaRPr/>
          </a:p>
          <a:p>
            <a:pPr indent="-228600" lvl="0" marL="228600" rtl="0" algn="l">
              <a:lnSpc>
                <a:spcPct val="90000"/>
              </a:lnSpc>
              <a:spcBef>
                <a:spcPts val="1000"/>
              </a:spcBef>
              <a:spcAft>
                <a:spcPts val="0"/>
              </a:spcAft>
              <a:buClr>
                <a:schemeClr val="dk1"/>
              </a:buClr>
              <a:buSzPts val="2800"/>
              <a:buNone/>
            </a:pPr>
            <a:r>
              <a:rPr b="1" lang="en-US"/>
              <a:t>Used in:</a:t>
            </a:r>
            <a:endParaRPr/>
          </a:p>
          <a:p>
            <a:pPr indent="-228600" lvl="0" marL="228600" rtl="0" algn="l">
              <a:lnSpc>
                <a:spcPct val="90000"/>
              </a:lnSpc>
              <a:spcBef>
                <a:spcPts val="1000"/>
              </a:spcBef>
              <a:spcAft>
                <a:spcPts val="0"/>
              </a:spcAft>
              <a:buClr>
                <a:schemeClr val="dk1"/>
              </a:buClr>
              <a:buSzPts val="2800"/>
              <a:buChar char="•"/>
            </a:pPr>
            <a:r>
              <a:rPr lang="en-US"/>
              <a:t>Sentiment analysis</a:t>
            </a:r>
            <a:endParaRPr/>
          </a:p>
          <a:p>
            <a:pPr indent="-228600" lvl="0" marL="228600" rtl="0" algn="l">
              <a:lnSpc>
                <a:spcPct val="90000"/>
              </a:lnSpc>
              <a:spcBef>
                <a:spcPts val="1000"/>
              </a:spcBef>
              <a:spcAft>
                <a:spcPts val="0"/>
              </a:spcAft>
              <a:buClr>
                <a:schemeClr val="dk1"/>
              </a:buClr>
              <a:buSzPts val="2800"/>
              <a:buChar char="•"/>
            </a:pPr>
            <a:r>
              <a:rPr lang="en-US"/>
              <a:t>Spam detection</a:t>
            </a:r>
            <a:endParaRPr/>
          </a:p>
          <a:p>
            <a:pPr indent="-228600" lvl="0" marL="228600" rtl="0" algn="l">
              <a:lnSpc>
                <a:spcPct val="90000"/>
              </a:lnSpc>
              <a:spcBef>
                <a:spcPts val="1000"/>
              </a:spcBef>
              <a:spcAft>
                <a:spcPts val="0"/>
              </a:spcAft>
              <a:buClr>
                <a:schemeClr val="dk1"/>
              </a:buClr>
              <a:buSzPts val="2800"/>
              <a:buChar char="•"/>
            </a:pPr>
            <a:r>
              <a:rPr lang="en-US"/>
              <a:t>Topic classification</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34" name="Google Shape;934;p12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1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Supervised vs Unsupervised Text Classification</a:t>
            </a:r>
            <a:endParaRPr/>
          </a:p>
        </p:txBody>
      </p:sp>
      <p:sp>
        <p:nvSpPr>
          <p:cNvPr id="940" name="Google Shape;940;p1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Unsupervised Text Classification</a:t>
            </a:r>
            <a:endParaRPr/>
          </a:p>
          <a:p>
            <a:pPr indent="-228600" lvl="0" marL="228600" rtl="0" algn="just">
              <a:lnSpc>
                <a:spcPct val="90000"/>
              </a:lnSpc>
              <a:spcBef>
                <a:spcPts val="1000"/>
              </a:spcBef>
              <a:spcAft>
                <a:spcPts val="0"/>
              </a:spcAft>
              <a:buClr>
                <a:schemeClr val="dk1"/>
              </a:buClr>
              <a:buSzPts val="2800"/>
              <a:buChar char="•"/>
            </a:pPr>
            <a:r>
              <a:rPr lang="en-US"/>
              <a:t>Does NOT use labeled data.</a:t>
            </a:r>
            <a:endParaRPr/>
          </a:p>
          <a:p>
            <a:pPr indent="-228600" lvl="0" marL="228600" rtl="0" algn="just">
              <a:lnSpc>
                <a:spcPct val="90000"/>
              </a:lnSpc>
              <a:spcBef>
                <a:spcPts val="1000"/>
              </a:spcBef>
              <a:spcAft>
                <a:spcPts val="0"/>
              </a:spcAft>
              <a:buClr>
                <a:schemeClr val="dk1"/>
              </a:buClr>
              <a:buSzPts val="2800"/>
              <a:buChar char="•"/>
            </a:pPr>
            <a:r>
              <a:rPr lang="en-US"/>
              <a:t>The model automatically groups documents based on similarity.</a:t>
            </a:r>
            <a:endParaRPr/>
          </a:p>
          <a:p>
            <a:pPr indent="-228600" lvl="0" marL="228600" rtl="0" algn="just">
              <a:lnSpc>
                <a:spcPct val="90000"/>
              </a:lnSpc>
              <a:spcBef>
                <a:spcPts val="1000"/>
              </a:spcBef>
              <a:spcAft>
                <a:spcPts val="0"/>
              </a:spcAft>
              <a:buClr>
                <a:schemeClr val="dk1"/>
              </a:buClr>
              <a:buSzPts val="2800"/>
              <a:buNone/>
            </a:pPr>
            <a:r>
              <a:rPr b="1" lang="en-US"/>
              <a:t>Example:</a:t>
            </a:r>
            <a:endParaRPr b="1"/>
          </a:p>
          <a:p>
            <a:pPr indent="0" lvl="0" marL="0" rtl="0" algn="just">
              <a:lnSpc>
                <a:spcPct val="90000"/>
              </a:lnSpc>
              <a:spcBef>
                <a:spcPts val="1000"/>
              </a:spcBef>
              <a:spcAft>
                <a:spcPts val="0"/>
              </a:spcAft>
              <a:buClr>
                <a:schemeClr val="dk1"/>
              </a:buClr>
              <a:buSzPts val="2800"/>
              <a:buNone/>
            </a:pPr>
            <a:r>
              <a:rPr lang="en-US"/>
              <a:t>Grouping news articles into topics without knowing categories in advance.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41" name="Google Shape;941;p12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1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Supervised vs Unsupervised Text Classification</a:t>
            </a:r>
            <a:endParaRPr/>
          </a:p>
        </p:txBody>
      </p:sp>
      <p:sp>
        <p:nvSpPr>
          <p:cNvPr id="947" name="Google Shape;947;p1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None/>
            </a:pPr>
            <a:r>
              <a:rPr b="1" lang="en-US"/>
              <a:t>Common unsupervised techniques:</a:t>
            </a:r>
            <a:endParaRPr/>
          </a:p>
          <a:p>
            <a:pPr indent="-228600" lvl="0" marL="228600" rtl="0" algn="just">
              <a:lnSpc>
                <a:spcPct val="90000"/>
              </a:lnSpc>
              <a:spcBef>
                <a:spcPts val="1000"/>
              </a:spcBef>
              <a:spcAft>
                <a:spcPts val="0"/>
              </a:spcAft>
              <a:buClr>
                <a:schemeClr val="dk1"/>
              </a:buClr>
              <a:buSzPts val="2800"/>
              <a:buChar char="•"/>
            </a:pPr>
            <a:r>
              <a:rPr lang="en-US"/>
              <a:t>Clustering (K-means)</a:t>
            </a:r>
            <a:endParaRPr/>
          </a:p>
          <a:p>
            <a:pPr indent="-228600" lvl="0" marL="228600" rtl="0" algn="just">
              <a:lnSpc>
                <a:spcPct val="90000"/>
              </a:lnSpc>
              <a:spcBef>
                <a:spcPts val="1000"/>
              </a:spcBef>
              <a:spcAft>
                <a:spcPts val="0"/>
              </a:spcAft>
              <a:buClr>
                <a:schemeClr val="dk1"/>
              </a:buClr>
              <a:buSzPts val="2800"/>
              <a:buChar char="•"/>
            </a:pPr>
            <a:r>
              <a:rPr lang="en-US"/>
              <a:t>Topic modeling (LDA)</a:t>
            </a:r>
            <a:endParaRPr/>
          </a:p>
          <a:p>
            <a:pPr indent="-228600" lvl="0" marL="228600" rtl="0" algn="just">
              <a:lnSpc>
                <a:spcPct val="90000"/>
              </a:lnSpc>
              <a:spcBef>
                <a:spcPts val="1000"/>
              </a:spcBef>
              <a:spcAft>
                <a:spcPts val="0"/>
              </a:spcAft>
              <a:buClr>
                <a:schemeClr val="dk1"/>
              </a:buClr>
              <a:buSzPts val="2800"/>
              <a:buNone/>
            </a:pPr>
            <a:r>
              <a:rPr b="1" lang="en-US"/>
              <a:t>Used in:</a:t>
            </a:r>
            <a:endParaRPr/>
          </a:p>
          <a:p>
            <a:pPr indent="-228600" lvl="0" marL="228600" rtl="0" algn="just">
              <a:lnSpc>
                <a:spcPct val="90000"/>
              </a:lnSpc>
              <a:spcBef>
                <a:spcPts val="1000"/>
              </a:spcBef>
              <a:spcAft>
                <a:spcPts val="0"/>
              </a:spcAft>
              <a:buClr>
                <a:schemeClr val="dk1"/>
              </a:buClr>
              <a:buSzPts val="2800"/>
              <a:buChar char="•"/>
            </a:pPr>
            <a:r>
              <a:rPr lang="en-US"/>
              <a:t>Topic discovery</a:t>
            </a:r>
            <a:endParaRPr/>
          </a:p>
          <a:p>
            <a:pPr indent="-228600" lvl="0" marL="228600" rtl="0" algn="just">
              <a:lnSpc>
                <a:spcPct val="90000"/>
              </a:lnSpc>
              <a:spcBef>
                <a:spcPts val="1000"/>
              </a:spcBef>
              <a:spcAft>
                <a:spcPts val="0"/>
              </a:spcAft>
              <a:buClr>
                <a:schemeClr val="dk1"/>
              </a:buClr>
              <a:buSzPts val="2800"/>
              <a:buChar char="•"/>
            </a:pPr>
            <a:r>
              <a:rPr lang="en-US"/>
              <a:t>Document clustering</a:t>
            </a:r>
            <a:endParaRPr/>
          </a:p>
          <a:p>
            <a:pPr indent="-228600" lvl="0" marL="228600" rtl="0" algn="just">
              <a:lnSpc>
                <a:spcPct val="90000"/>
              </a:lnSpc>
              <a:spcBef>
                <a:spcPts val="1000"/>
              </a:spcBef>
              <a:spcAft>
                <a:spcPts val="0"/>
              </a:spcAft>
              <a:buClr>
                <a:schemeClr val="dk1"/>
              </a:buClr>
              <a:buSzPts val="2800"/>
              <a:buChar char="•"/>
            </a:pPr>
            <a:r>
              <a:rPr lang="en-US"/>
              <a:t>Trend analysis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48" name="Google Shape;948;p12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1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Application: Spam Detection Using NLP</a:t>
            </a:r>
            <a:endParaRPr b="1"/>
          </a:p>
        </p:txBody>
      </p:sp>
      <p:sp>
        <p:nvSpPr>
          <p:cNvPr id="954" name="Google Shape;954;p1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Spam Detection is a text classification task that identifies unwanted or malicious messages such as spam emails, SMS spam, or fake comments.</a:t>
            </a:r>
            <a:endParaRPr/>
          </a:p>
          <a:p>
            <a:pPr indent="-228600" lvl="0" marL="228600" rtl="0" algn="l">
              <a:lnSpc>
                <a:spcPct val="90000"/>
              </a:lnSpc>
              <a:spcBef>
                <a:spcPts val="1000"/>
              </a:spcBef>
              <a:spcAft>
                <a:spcPts val="0"/>
              </a:spcAft>
              <a:buClr>
                <a:schemeClr val="dk1"/>
              </a:buClr>
              <a:buSzPts val="2800"/>
              <a:buNone/>
            </a:pPr>
            <a:r>
              <a:rPr lang="en-US"/>
              <a:t>The goal is to classify incoming text as:</a:t>
            </a:r>
            <a:endParaRPr/>
          </a:p>
          <a:p>
            <a:pPr indent="-228600" lvl="0" marL="228600" rtl="0" algn="l">
              <a:lnSpc>
                <a:spcPct val="90000"/>
              </a:lnSpc>
              <a:spcBef>
                <a:spcPts val="1000"/>
              </a:spcBef>
              <a:spcAft>
                <a:spcPts val="0"/>
              </a:spcAft>
              <a:buClr>
                <a:schemeClr val="dk1"/>
              </a:buClr>
              <a:buSzPts val="2800"/>
              <a:buChar char="•"/>
            </a:pPr>
            <a:r>
              <a:rPr lang="en-US"/>
              <a:t>Spam</a:t>
            </a:r>
            <a:endParaRPr/>
          </a:p>
          <a:p>
            <a:pPr indent="-228600" lvl="0" marL="228600" rtl="0" algn="l">
              <a:lnSpc>
                <a:spcPct val="90000"/>
              </a:lnSpc>
              <a:spcBef>
                <a:spcPts val="1000"/>
              </a:spcBef>
              <a:spcAft>
                <a:spcPts val="0"/>
              </a:spcAft>
              <a:buClr>
                <a:schemeClr val="dk1"/>
              </a:buClr>
              <a:buSzPts val="2800"/>
              <a:buChar char="•"/>
            </a:pPr>
            <a:r>
              <a:rPr lang="en-US"/>
              <a:t>Not Spam (Ham)</a:t>
            </a:r>
            <a:endParaRPr/>
          </a:p>
          <a:p>
            <a:pPr indent="-228600" lvl="0" marL="228600" rtl="0" algn="l">
              <a:lnSpc>
                <a:spcPct val="90000"/>
              </a:lnSpc>
              <a:spcBef>
                <a:spcPts val="1000"/>
              </a:spcBef>
              <a:spcAft>
                <a:spcPts val="0"/>
              </a:spcAft>
              <a:buClr>
                <a:schemeClr val="dk1"/>
              </a:buClr>
              <a:buSzPts val="2800"/>
              <a:buNone/>
            </a:pPr>
            <a:r>
              <a:rPr b="1" lang="en-US"/>
              <a:t>Examples:</a:t>
            </a:r>
            <a:endParaRPr/>
          </a:p>
          <a:p>
            <a:pPr indent="-228600" lvl="0" marL="228600" rtl="0" algn="l">
              <a:lnSpc>
                <a:spcPct val="90000"/>
              </a:lnSpc>
              <a:spcBef>
                <a:spcPts val="1000"/>
              </a:spcBef>
              <a:spcAft>
                <a:spcPts val="0"/>
              </a:spcAft>
              <a:buClr>
                <a:schemeClr val="dk1"/>
              </a:buClr>
              <a:buSzPts val="2800"/>
              <a:buNone/>
            </a:pPr>
            <a:r>
              <a:rPr b="1" lang="en-US"/>
              <a:t>“Congratulations! You won a free prize. Click now!” →</a:t>
            </a:r>
            <a:r>
              <a:rPr lang="en-US"/>
              <a:t> Spam</a:t>
            </a:r>
            <a:endParaRPr/>
          </a:p>
          <a:p>
            <a:pPr indent="-228600" lvl="0" marL="228600" rtl="0" algn="l">
              <a:lnSpc>
                <a:spcPct val="90000"/>
              </a:lnSpc>
              <a:spcBef>
                <a:spcPts val="1000"/>
              </a:spcBef>
              <a:spcAft>
                <a:spcPts val="0"/>
              </a:spcAft>
              <a:buClr>
                <a:schemeClr val="dk1"/>
              </a:buClr>
              <a:buSzPts val="2800"/>
              <a:buNone/>
            </a:pPr>
            <a:r>
              <a:rPr b="1" lang="en-US"/>
              <a:t>“Meeting postponed to 3 PM today.” →</a:t>
            </a:r>
            <a:r>
              <a:rPr lang="en-US"/>
              <a:t> Not Spam</a:t>
            </a:r>
            <a:endParaRPr/>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55" name="Google Shape;955;p12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Application: Spam Detection Using NLP</a:t>
            </a:r>
            <a:endParaRPr/>
          </a:p>
        </p:txBody>
      </p:sp>
      <p:sp>
        <p:nvSpPr>
          <p:cNvPr id="961" name="Google Shape;961;p1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Spam detection uses NLP to convert raw messages into numerical features and machine learning models to perform classification.</a:t>
            </a:r>
            <a:endParaRPr/>
          </a:p>
          <a:p>
            <a:pPr indent="-228600" lvl="0" marL="228600" rtl="0" algn="just">
              <a:lnSpc>
                <a:spcPct val="90000"/>
              </a:lnSpc>
              <a:spcBef>
                <a:spcPts val="1000"/>
              </a:spcBef>
              <a:spcAft>
                <a:spcPts val="0"/>
              </a:spcAft>
              <a:buClr>
                <a:schemeClr val="dk1"/>
              </a:buClr>
              <a:buSzPts val="2800"/>
              <a:buNone/>
            </a:pPr>
            <a:r>
              <a:rPr b="1" lang="en-US"/>
              <a:t>Typical spam detection pipeline:</a:t>
            </a:r>
            <a:endParaRPr b="1"/>
          </a:p>
          <a:p>
            <a:pPr indent="-228600" lvl="0" marL="228600" rtl="0" algn="just">
              <a:lnSpc>
                <a:spcPct val="90000"/>
              </a:lnSpc>
              <a:spcBef>
                <a:spcPts val="1000"/>
              </a:spcBef>
              <a:spcAft>
                <a:spcPts val="0"/>
              </a:spcAft>
              <a:buClr>
                <a:schemeClr val="dk1"/>
              </a:buClr>
              <a:buSzPts val="2800"/>
              <a:buFont typeface="Arial"/>
              <a:buChar char="•"/>
            </a:pPr>
            <a:r>
              <a:rPr lang="en-US"/>
              <a:t>Collect labeled messages (spam / ham)</a:t>
            </a:r>
            <a:endParaRPr/>
          </a:p>
          <a:p>
            <a:pPr indent="-228600" lvl="0" marL="228600" rtl="0" algn="just">
              <a:lnSpc>
                <a:spcPct val="90000"/>
              </a:lnSpc>
              <a:spcBef>
                <a:spcPts val="1000"/>
              </a:spcBef>
              <a:spcAft>
                <a:spcPts val="0"/>
              </a:spcAft>
              <a:buClr>
                <a:schemeClr val="dk1"/>
              </a:buClr>
              <a:buSzPts val="2800"/>
              <a:buFont typeface="Arial"/>
              <a:buChar char="•"/>
            </a:pPr>
            <a:r>
              <a:rPr lang="en-US"/>
              <a:t>Preprocess text (lowercase, remove punctuation, stopwords)</a:t>
            </a:r>
            <a:endParaRPr/>
          </a:p>
          <a:p>
            <a:pPr indent="-228600" lvl="0" marL="228600" rtl="0" algn="just">
              <a:lnSpc>
                <a:spcPct val="90000"/>
              </a:lnSpc>
              <a:spcBef>
                <a:spcPts val="1000"/>
              </a:spcBef>
              <a:spcAft>
                <a:spcPts val="0"/>
              </a:spcAft>
              <a:buClr>
                <a:schemeClr val="dk1"/>
              </a:buClr>
              <a:buSzPts val="2800"/>
              <a:buFont typeface="Arial"/>
              <a:buChar char="•"/>
            </a:pPr>
            <a:r>
              <a:rPr lang="en-US"/>
              <a:t>Convert text to features (Bag of Words / TF-IDF)</a:t>
            </a:r>
            <a:endParaRPr/>
          </a:p>
          <a:p>
            <a:pPr indent="-228600" lvl="0" marL="228600" rtl="0" algn="just">
              <a:lnSpc>
                <a:spcPct val="90000"/>
              </a:lnSpc>
              <a:spcBef>
                <a:spcPts val="1000"/>
              </a:spcBef>
              <a:spcAft>
                <a:spcPts val="0"/>
              </a:spcAft>
              <a:buClr>
                <a:schemeClr val="dk1"/>
              </a:buClr>
              <a:buSzPts val="2800"/>
              <a:buFont typeface="Arial"/>
              <a:buChar char="•"/>
            </a:pPr>
            <a:r>
              <a:rPr lang="en-US"/>
              <a:t>Train classifier (Naive Bayes / SVM)</a:t>
            </a:r>
            <a:endParaRPr/>
          </a:p>
          <a:p>
            <a:pPr indent="-228600" lvl="0" marL="228600" rtl="0" algn="just">
              <a:lnSpc>
                <a:spcPct val="90000"/>
              </a:lnSpc>
              <a:spcBef>
                <a:spcPts val="1000"/>
              </a:spcBef>
              <a:spcAft>
                <a:spcPts val="0"/>
              </a:spcAft>
              <a:buClr>
                <a:schemeClr val="dk1"/>
              </a:buClr>
              <a:buSzPts val="2800"/>
              <a:buFont typeface="Arial"/>
              <a:buChar char="•"/>
            </a:pPr>
            <a:r>
              <a:rPr lang="en-US"/>
              <a:t>Predict spam for new messages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62" name="Google Shape;962;p12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Application: Spam Detection Using NLP</a:t>
            </a:r>
            <a:endParaRPr/>
          </a:p>
        </p:txBody>
      </p:sp>
      <p:sp>
        <p:nvSpPr>
          <p:cNvPr id="968" name="Google Shape;968;p1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Spam detection systems are widely used in:</a:t>
            </a:r>
            <a:endParaRPr/>
          </a:p>
          <a:p>
            <a:pPr indent="-228600" lvl="0" marL="228600" rtl="0" algn="l">
              <a:lnSpc>
                <a:spcPct val="90000"/>
              </a:lnSpc>
              <a:spcBef>
                <a:spcPts val="1000"/>
              </a:spcBef>
              <a:spcAft>
                <a:spcPts val="0"/>
              </a:spcAft>
              <a:buClr>
                <a:schemeClr val="dk1"/>
              </a:buClr>
              <a:buSzPts val="2800"/>
              <a:buChar char="•"/>
            </a:pPr>
            <a:r>
              <a:rPr lang="en-US"/>
              <a:t>Email services</a:t>
            </a:r>
            <a:endParaRPr/>
          </a:p>
          <a:p>
            <a:pPr indent="-228600" lvl="0" marL="228600" rtl="0" algn="l">
              <a:lnSpc>
                <a:spcPct val="90000"/>
              </a:lnSpc>
              <a:spcBef>
                <a:spcPts val="1000"/>
              </a:spcBef>
              <a:spcAft>
                <a:spcPts val="0"/>
              </a:spcAft>
              <a:buClr>
                <a:schemeClr val="dk1"/>
              </a:buClr>
              <a:buSzPts val="2800"/>
              <a:buChar char="•"/>
            </a:pPr>
            <a:r>
              <a:rPr lang="en-US"/>
              <a:t>SMS filters</a:t>
            </a:r>
            <a:endParaRPr/>
          </a:p>
          <a:p>
            <a:pPr indent="-228600" lvl="0" marL="228600" rtl="0" algn="l">
              <a:lnSpc>
                <a:spcPct val="90000"/>
              </a:lnSpc>
              <a:spcBef>
                <a:spcPts val="1000"/>
              </a:spcBef>
              <a:spcAft>
                <a:spcPts val="0"/>
              </a:spcAft>
              <a:buClr>
                <a:schemeClr val="dk1"/>
              </a:buClr>
              <a:buSzPts val="2800"/>
              <a:buChar char="•"/>
            </a:pPr>
            <a:r>
              <a:rPr lang="en-US"/>
              <a:t>Social media platforms</a:t>
            </a:r>
            <a:endParaRPr/>
          </a:p>
          <a:p>
            <a:pPr indent="-228600" lvl="0" marL="228600" rtl="0" algn="l">
              <a:lnSpc>
                <a:spcPct val="90000"/>
              </a:lnSpc>
              <a:spcBef>
                <a:spcPts val="1000"/>
              </a:spcBef>
              <a:spcAft>
                <a:spcPts val="0"/>
              </a:spcAft>
              <a:buClr>
                <a:schemeClr val="dk1"/>
              </a:buClr>
              <a:buSzPts val="2800"/>
              <a:buChar char="•"/>
            </a:pPr>
            <a:r>
              <a:rPr lang="en-US"/>
              <a:t>Comment moderation systems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69" name="Google Shape;969;p12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T3: Spam Detection</a:t>
            </a:r>
            <a:endParaRPr b="1"/>
          </a:p>
        </p:txBody>
      </p:sp>
      <p:sp>
        <p:nvSpPr>
          <p:cNvPr id="975" name="Google Shape;975;p1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chemeClr val="dk1"/>
              </a:buClr>
              <a:buSzPts val="2800"/>
              <a:buNone/>
            </a:pPr>
            <a:r>
              <a:rPr lang="en-US"/>
              <a:t>T3 focuses on building a complete spam detection system using NLP and machine learning.</a:t>
            </a:r>
            <a:endParaRPr/>
          </a:p>
          <a:p>
            <a:pPr indent="-228600" lvl="0" marL="228600" rtl="0" algn="just">
              <a:lnSpc>
                <a:spcPct val="90000"/>
              </a:lnSpc>
              <a:spcBef>
                <a:spcPts val="1000"/>
              </a:spcBef>
              <a:spcAft>
                <a:spcPts val="0"/>
              </a:spcAft>
              <a:buClr>
                <a:schemeClr val="dk1"/>
              </a:buClr>
              <a:buSzPts val="2800"/>
              <a:buNone/>
            </a:pPr>
            <a:r>
              <a:rPr b="1" lang="en-US"/>
              <a:t>Step-by-Step Workflow:</a:t>
            </a:r>
            <a:endParaRPr/>
          </a:p>
          <a:p>
            <a:pPr indent="-228600" lvl="0" marL="228600" rtl="0" algn="just">
              <a:lnSpc>
                <a:spcPct val="90000"/>
              </a:lnSpc>
              <a:spcBef>
                <a:spcPts val="1000"/>
              </a:spcBef>
              <a:spcAft>
                <a:spcPts val="0"/>
              </a:spcAft>
              <a:buClr>
                <a:schemeClr val="dk1"/>
              </a:buClr>
              <a:buSzPts val="2800"/>
              <a:buFont typeface="Arial"/>
              <a:buChar char="•"/>
            </a:pPr>
            <a:r>
              <a:rPr lang="en-US"/>
              <a:t>Load labeled spam dataset</a:t>
            </a:r>
            <a:endParaRPr/>
          </a:p>
          <a:p>
            <a:pPr indent="-228600" lvl="0" marL="228600" rtl="0" algn="just">
              <a:lnSpc>
                <a:spcPct val="90000"/>
              </a:lnSpc>
              <a:spcBef>
                <a:spcPts val="1000"/>
              </a:spcBef>
              <a:spcAft>
                <a:spcPts val="0"/>
              </a:spcAft>
              <a:buClr>
                <a:schemeClr val="dk1"/>
              </a:buClr>
              <a:buSzPts val="2800"/>
              <a:buFont typeface="Arial"/>
              <a:buChar char="•"/>
            </a:pPr>
            <a:r>
              <a:rPr lang="en-US"/>
              <a:t>Preprocess messages</a:t>
            </a:r>
            <a:endParaRPr/>
          </a:p>
          <a:p>
            <a:pPr indent="-228600" lvl="0" marL="228600" rtl="0" algn="just">
              <a:lnSpc>
                <a:spcPct val="90000"/>
              </a:lnSpc>
              <a:spcBef>
                <a:spcPts val="1000"/>
              </a:spcBef>
              <a:spcAft>
                <a:spcPts val="0"/>
              </a:spcAft>
              <a:buClr>
                <a:schemeClr val="dk1"/>
              </a:buClr>
              <a:buSzPts val="2800"/>
              <a:buFont typeface="Arial"/>
              <a:buChar char="•"/>
            </a:pPr>
            <a:r>
              <a:rPr lang="en-US"/>
              <a:t>Convert text into TF–IDF features</a:t>
            </a:r>
            <a:endParaRPr/>
          </a:p>
          <a:p>
            <a:pPr indent="-228600" lvl="0" marL="228600" rtl="0" algn="just">
              <a:lnSpc>
                <a:spcPct val="90000"/>
              </a:lnSpc>
              <a:spcBef>
                <a:spcPts val="1000"/>
              </a:spcBef>
              <a:spcAft>
                <a:spcPts val="0"/>
              </a:spcAft>
              <a:buClr>
                <a:schemeClr val="dk1"/>
              </a:buClr>
              <a:buSzPts val="2800"/>
              <a:buFont typeface="Arial"/>
              <a:buChar char="•"/>
            </a:pPr>
            <a:r>
              <a:rPr lang="en-US"/>
              <a:t>Train classifier (Naive Bayes / SVM)</a:t>
            </a:r>
            <a:endParaRPr/>
          </a:p>
          <a:p>
            <a:pPr indent="-228600" lvl="0" marL="228600" rtl="0" algn="just">
              <a:lnSpc>
                <a:spcPct val="90000"/>
              </a:lnSpc>
              <a:spcBef>
                <a:spcPts val="1000"/>
              </a:spcBef>
              <a:spcAft>
                <a:spcPts val="0"/>
              </a:spcAft>
              <a:buClr>
                <a:schemeClr val="dk1"/>
              </a:buClr>
              <a:buSzPts val="2800"/>
              <a:buFont typeface="Arial"/>
              <a:buChar char="•"/>
            </a:pPr>
            <a:r>
              <a:rPr lang="en-US"/>
              <a:t>Evaluate model</a:t>
            </a:r>
            <a:endParaRPr/>
          </a:p>
          <a:p>
            <a:pPr indent="-228600" lvl="0" marL="228600" rtl="0" algn="just">
              <a:lnSpc>
                <a:spcPct val="90000"/>
              </a:lnSpc>
              <a:spcBef>
                <a:spcPts val="1000"/>
              </a:spcBef>
              <a:spcAft>
                <a:spcPts val="0"/>
              </a:spcAft>
              <a:buClr>
                <a:schemeClr val="dk1"/>
              </a:buClr>
              <a:buSzPts val="2800"/>
              <a:buFont typeface="Arial"/>
              <a:buChar char="•"/>
            </a:pPr>
            <a:r>
              <a:rPr lang="en-US"/>
              <a:t>Predict spam for new messages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76" name="Google Shape;976;p12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T3: Spam Detection</a:t>
            </a:r>
            <a:endParaRPr/>
          </a:p>
        </p:txBody>
      </p:sp>
      <p:sp>
        <p:nvSpPr>
          <p:cNvPr id="982" name="Google Shape;982;p1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Example Code:</a:t>
            </a:r>
            <a:endParaRPr/>
          </a:p>
          <a:p>
            <a:pPr indent="-228600" lvl="0" marL="228600" rtl="0" algn="l">
              <a:lnSpc>
                <a:spcPct val="90000"/>
              </a:lnSpc>
              <a:spcBef>
                <a:spcPts val="1000"/>
              </a:spcBef>
              <a:spcAft>
                <a:spcPts val="0"/>
              </a:spcAft>
              <a:buClr>
                <a:schemeClr val="dk1"/>
              </a:buClr>
              <a:buSzPts val="2800"/>
              <a:buNone/>
            </a:pPr>
            <a:r>
              <a:rPr lang="en-US">
                <a:latin typeface="Consolas"/>
                <a:ea typeface="Consolas"/>
                <a:cs typeface="Consolas"/>
                <a:sym typeface="Consolas"/>
              </a:rPr>
              <a:t>import pandas as pd</a:t>
            </a:r>
            <a:br>
              <a:rPr lang="en-US">
                <a:latin typeface="Consolas"/>
                <a:ea typeface="Consolas"/>
                <a:cs typeface="Consolas"/>
                <a:sym typeface="Consolas"/>
              </a:rPr>
            </a:br>
            <a:r>
              <a:rPr lang="en-US">
                <a:latin typeface="Consolas"/>
                <a:ea typeface="Consolas"/>
                <a:cs typeface="Consolas"/>
                <a:sym typeface="Consolas"/>
              </a:rPr>
              <a:t>from sklearn.feature_extraction.text import TfidfVectorizer</a:t>
            </a:r>
            <a:br>
              <a:rPr lang="en-US">
                <a:latin typeface="Consolas"/>
                <a:ea typeface="Consolas"/>
                <a:cs typeface="Consolas"/>
                <a:sym typeface="Consolas"/>
              </a:rPr>
            </a:br>
            <a:r>
              <a:rPr lang="en-US">
                <a:latin typeface="Consolas"/>
                <a:ea typeface="Consolas"/>
                <a:cs typeface="Consolas"/>
                <a:sym typeface="Consolas"/>
              </a:rPr>
              <a:t>from sklearn.naive_bayes import MultinomialNB</a:t>
            </a:r>
            <a:br>
              <a:rPr lang="en-US">
                <a:latin typeface="Consolas"/>
                <a:ea typeface="Consolas"/>
                <a:cs typeface="Consolas"/>
                <a:sym typeface="Consolas"/>
              </a:rPr>
            </a:br>
            <a:r>
              <a:rPr lang="en-US">
                <a:latin typeface="Consolas"/>
                <a:ea typeface="Consolas"/>
                <a:cs typeface="Consolas"/>
                <a:sym typeface="Consolas"/>
              </a:rPr>
              <a:t>from sklearn.model_selection import train_test_split</a:t>
            </a:r>
            <a:br>
              <a:rPr lang="en-US">
                <a:latin typeface="Consolas"/>
                <a:ea typeface="Consolas"/>
                <a:cs typeface="Consolas"/>
                <a:sym typeface="Consolas"/>
              </a:rPr>
            </a:br>
            <a:r>
              <a:rPr lang="en-US">
                <a:latin typeface="Consolas"/>
                <a:ea typeface="Consolas"/>
                <a:cs typeface="Consolas"/>
                <a:sym typeface="Consolas"/>
              </a:rPr>
              <a:t>from sklearn.metrics import accuracy_score</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83" name="Google Shape;983;p12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1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T3: Spam Detection</a:t>
            </a:r>
            <a:endParaRPr/>
          </a:p>
        </p:txBody>
      </p:sp>
      <p:sp>
        <p:nvSpPr>
          <p:cNvPr id="989" name="Google Shape;989;p1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None/>
            </a:pPr>
            <a:r>
              <a:rPr lang="en-US"/>
              <a:t># Sample dataset</a:t>
            </a:r>
            <a:endParaRPr/>
          </a:p>
          <a:p>
            <a:pPr indent="-228600" lvl="0" marL="228600" rtl="0" algn="l">
              <a:lnSpc>
                <a:spcPct val="90000"/>
              </a:lnSpc>
              <a:spcBef>
                <a:spcPts val="1000"/>
              </a:spcBef>
              <a:spcAft>
                <a:spcPts val="0"/>
              </a:spcAft>
              <a:buClr>
                <a:schemeClr val="dk1"/>
              </a:buClr>
              <a:buSzPct val="100000"/>
              <a:buNone/>
            </a:pPr>
            <a:r>
              <a:rPr lang="en-US"/>
              <a:t>data = {</a:t>
            </a:r>
            <a:endParaRPr/>
          </a:p>
          <a:p>
            <a:pPr indent="-228600" lvl="0" marL="228600" rtl="0" algn="l">
              <a:lnSpc>
                <a:spcPct val="90000"/>
              </a:lnSpc>
              <a:spcBef>
                <a:spcPts val="1000"/>
              </a:spcBef>
              <a:spcAft>
                <a:spcPts val="0"/>
              </a:spcAft>
              <a:buClr>
                <a:schemeClr val="dk1"/>
              </a:buClr>
              <a:buSzPct val="100000"/>
              <a:buNone/>
            </a:pPr>
            <a:r>
              <a:rPr lang="en-US"/>
              <a:t>    "text": [</a:t>
            </a:r>
            <a:endParaRPr/>
          </a:p>
          <a:p>
            <a:pPr indent="-228600" lvl="0" marL="228600" rtl="0" algn="l">
              <a:lnSpc>
                <a:spcPct val="90000"/>
              </a:lnSpc>
              <a:spcBef>
                <a:spcPts val="1000"/>
              </a:spcBef>
              <a:spcAft>
                <a:spcPts val="0"/>
              </a:spcAft>
              <a:buClr>
                <a:schemeClr val="dk1"/>
              </a:buClr>
              <a:buSzPct val="100000"/>
              <a:buNone/>
            </a:pPr>
            <a:r>
              <a:rPr lang="en-US"/>
              <a:t>        "Win a free prize now",</a:t>
            </a:r>
            <a:endParaRPr/>
          </a:p>
          <a:p>
            <a:pPr indent="-228600" lvl="0" marL="228600" rtl="0" algn="l">
              <a:lnSpc>
                <a:spcPct val="90000"/>
              </a:lnSpc>
              <a:spcBef>
                <a:spcPts val="1000"/>
              </a:spcBef>
              <a:spcAft>
                <a:spcPts val="0"/>
              </a:spcAft>
              <a:buClr>
                <a:schemeClr val="dk1"/>
              </a:buClr>
              <a:buSzPct val="100000"/>
              <a:buNone/>
            </a:pPr>
            <a:r>
              <a:rPr lang="en-US"/>
              <a:t>        "Meeting at 10 AM tomorrow",</a:t>
            </a:r>
            <a:endParaRPr/>
          </a:p>
          <a:p>
            <a:pPr indent="-228600" lvl="0" marL="228600" rtl="0" algn="l">
              <a:lnSpc>
                <a:spcPct val="90000"/>
              </a:lnSpc>
              <a:spcBef>
                <a:spcPts val="1000"/>
              </a:spcBef>
              <a:spcAft>
                <a:spcPts val="0"/>
              </a:spcAft>
              <a:buClr>
                <a:schemeClr val="dk1"/>
              </a:buClr>
              <a:buSzPct val="100000"/>
              <a:buNone/>
            </a:pPr>
            <a:r>
              <a:rPr lang="en-US"/>
              <a:t>        "Urgent offer click here",</a:t>
            </a:r>
            <a:endParaRPr/>
          </a:p>
          <a:p>
            <a:pPr indent="-228600" lvl="0" marL="228600" rtl="0" algn="l">
              <a:lnSpc>
                <a:spcPct val="90000"/>
              </a:lnSpc>
              <a:spcBef>
                <a:spcPts val="1000"/>
              </a:spcBef>
              <a:spcAft>
                <a:spcPts val="0"/>
              </a:spcAft>
              <a:buClr>
                <a:schemeClr val="dk1"/>
              </a:buClr>
              <a:buSzPct val="100000"/>
              <a:buNone/>
            </a:pPr>
            <a:r>
              <a:rPr lang="en-US"/>
              <a:t>        "Lunch plans today?",</a:t>
            </a:r>
            <a:endParaRPr/>
          </a:p>
          <a:p>
            <a:pPr indent="-228600" lvl="0" marL="228600" rtl="0" algn="l">
              <a:lnSpc>
                <a:spcPct val="90000"/>
              </a:lnSpc>
              <a:spcBef>
                <a:spcPts val="1000"/>
              </a:spcBef>
              <a:spcAft>
                <a:spcPts val="0"/>
              </a:spcAft>
              <a:buClr>
                <a:schemeClr val="dk1"/>
              </a:buClr>
              <a:buSzPct val="100000"/>
              <a:buNone/>
            </a:pPr>
            <a:r>
              <a:rPr lang="en-US"/>
              <a:t>        "Congratulations you won lottery"</a:t>
            </a:r>
            <a:endParaRPr/>
          </a:p>
          <a:p>
            <a:pPr indent="-228600" lvl="0" marL="228600" rtl="0" algn="l">
              <a:lnSpc>
                <a:spcPct val="90000"/>
              </a:lnSpc>
              <a:spcBef>
                <a:spcPts val="1000"/>
              </a:spcBef>
              <a:spcAft>
                <a:spcPts val="0"/>
              </a:spcAft>
              <a:buClr>
                <a:schemeClr val="dk1"/>
              </a:buClr>
              <a:buSzPct val="100000"/>
              <a:buNone/>
            </a:pPr>
            <a:r>
              <a:rPr lang="en-US"/>
              <a:t>    ],</a:t>
            </a:r>
            <a:endParaRPr/>
          </a:p>
          <a:p>
            <a:pPr indent="-228600" lvl="0" marL="228600" rtl="0" algn="l">
              <a:lnSpc>
                <a:spcPct val="90000"/>
              </a:lnSpc>
              <a:spcBef>
                <a:spcPts val="1000"/>
              </a:spcBef>
              <a:spcAft>
                <a:spcPts val="0"/>
              </a:spcAft>
              <a:buClr>
                <a:schemeClr val="dk1"/>
              </a:buClr>
              <a:buSzPct val="100000"/>
              <a:buNone/>
            </a:pPr>
            <a:r>
              <a:rPr lang="en-US"/>
              <a:t>    "label": [1, 0, 1, 0, 1]  # 1=Spam, 0=Ham</a:t>
            </a:r>
            <a:endParaRPr/>
          </a:p>
          <a:p>
            <a:pPr indent="0" lvl="0" marL="0" rtl="0" algn="l">
              <a:lnSpc>
                <a:spcPct val="90000"/>
              </a:lnSpc>
              <a:spcBef>
                <a:spcPts val="1000"/>
              </a:spcBef>
              <a:spcAft>
                <a:spcPts val="0"/>
              </a:spcAft>
              <a:buClr>
                <a:schemeClr val="dk1"/>
              </a:buClr>
              <a:buSzPct val="100000"/>
              <a:buNone/>
            </a:pPr>
            <a:r>
              <a:rPr lang="en-US"/>
              <a:t>}</a:t>
            </a:r>
            <a:endParaRPr/>
          </a:p>
        </p:txBody>
      </p:sp>
      <p:pic>
        <p:nvPicPr>
          <p:cNvPr descr="A blue and white logo&#10;&#10;AI-generated content may be incorrect." id="990" name="Google Shape;990;p13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T3: Spam Detection</a:t>
            </a:r>
            <a:endParaRPr/>
          </a:p>
        </p:txBody>
      </p:sp>
      <p:sp>
        <p:nvSpPr>
          <p:cNvPr id="996" name="Google Shape;996;p1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None/>
            </a:pPr>
            <a:r>
              <a:rPr lang="en-US"/>
              <a:t>df = pd.DataFrame(data)</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 TF-IDF</a:t>
            </a:r>
            <a:endParaRPr/>
          </a:p>
          <a:p>
            <a:pPr indent="-228600" lvl="0" marL="228600" rtl="0" algn="l">
              <a:lnSpc>
                <a:spcPct val="90000"/>
              </a:lnSpc>
              <a:spcBef>
                <a:spcPts val="1000"/>
              </a:spcBef>
              <a:spcAft>
                <a:spcPts val="0"/>
              </a:spcAft>
              <a:buClr>
                <a:schemeClr val="dk1"/>
              </a:buClr>
              <a:buSzPts val="2800"/>
              <a:buNone/>
            </a:pPr>
            <a:r>
              <a:rPr lang="en-US"/>
              <a:t>vectorizer = TfidfVectorizer()</a:t>
            </a:r>
            <a:endParaRPr/>
          </a:p>
          <a:p>
            <a:pPr indent="-228600" lvl="0" marL="228600" rtl="0" algn="l">
              <a:lnSpc>
                <a:spcPct val="90000"/>
              </a:lnSpc>
              <a:spcBef>
                <a:spcPts val="1000"/>
              </a:spcBef>
              <a:spcAft>
                <a:spcPts val="0"/>
              </a:spcAft>
              <a:buClr>
                <a:schemeClr val="dk1"/>
              </a:buClr>
              <a:buSzPts val="2800"/>
              <a:buNone/>
            </a:pPr>
            <a:r>
              <a:rPr lang="en-US"/>
              <a:t>X = vectorizer.fit_transform(df["text"])</a:t>
            </a:r>
            <a:endParaRPr/>
          </a:p>
          <a:p>
            <a:pPr indent="-228600" lvl="0" marL="228600" rtl="0" algn="l">
              <a:lnSpc>
                <a:spcPct val="90000"/>
              </a:lnSpc>
              <a:spcBef>
                <a:spcPts val="1000"/>
              </a:spcBef>
              <a:spcAft>
                <a:spcPts val="0"/>
              </a:spcAft>
              <a:buClr>
                <a:schemeClr val="dk1"/>
              </a:buClr>
              <a:buSzPts val="2800"/>
              <a:buNone/>
            </a:pPr>
            <a:r>
              <a:rPr lang="en-US"/>
              <a:t>y = df["label"]</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 Split</a:t>
            </a:r>
            <a:endParaRPr/>
          </a:p>
          <a:p>
            <a:pPr indent="-228600" lvl="0" marL="228600" rtl="0" algn="l">
              <a:lnSpc>
                <a:spcPct val="90000"/>
              </a:lnSpc>
              <a:spcBef>
                <a:spcPts val="1000"/>
              </a:spcBef>
              <a:spcAft>
                <a:spcPts val="0"/>
              </a:spcAft>
              <a:buClr>
                <a:schemeClr val="dk1"/>
              </a:buClr>
              <a:buSzPts val="2800"/>
              <a:buNone/>
            </a:pPr>
            <a:r>
              <a:rPr lang="en-US"/>
              <a:t>X_train, X_test, y_train, y_test = train_test_split(X, y, test_size=0.3)</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997" name="Google Shape;997;p13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T3: Spam Detection</a:t>
            </a:r>
            <a:endParaRPr/>
          </a:p>
        </p:txBody>
      </p:sp>
      <p:sp>
        <p:nvSpPr>
          <p:cNvPr id="1003" name="Google Shape;1003;p1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None/>
            </a:pPr>
            <a:r>
              <a:rPr lang="en-US"/>
              <a:t># Train model</a:t>
            </a:r>
            <a:endParaRPr/>
          </a:p>
          <a:p>
            <a:pPr indent="-228600" lvl="0" marL="228600" rtl="0" algn="l">
              <a:lnSpc>
                <a:spcPct val="90000"/>
              </a:lnSpc>
              <a:spcBef>
                <a:spcPts val="1000"/>
              </a:spcBef>
              <a:spcAft>
                <a:spcPts val="0"/>
              </a:spcAft>
              <a:buClr>
                <a:schemeClr val="dk1"/>
              </a:buClr>
              <a:buSzPts val="2800"/>
              <a:buNone/>
            </a:pPr>
            <a:r>
              <a:rPr lang="en-US"/>
              <a:t>model = MultinomialNB()</a:t>
            </a:r>
            <a:endParaRPr/>
          </a:p>
          <a:p>
            <a:pPr indent="-228600" lvl="0" marL="228600" rtl="0" algn="l">
              <a:lnSpc>
                <a:spcPct val="90000"/>
              </a:lnSpc>
              <a:spcBef>
                <a:spcPts val="1000"/>
              </a:spcBef>
              <a:spcAft>
                <a:spcPts val="0"/>
              </a:spcAft>
              <a:buClr>
                <a:schemeClr val="dk1"/>
              </a:buClr>
              <a:buSzPts val="2800"/>
              <a:buNone/>
            </a:pPr>
            <a:r>
              <a:rPr lang="en-US"/>
              <a:t>model.fit(X_train, y_train)</a:t>
            </a:r>
            <a:endParaRPr/>
          </a:p>
          <a:p>
            <a:pPr indent="-228600" lvl="0" marL="228600" rtl="0" algn="l">
              <a:lnSpc>
                <a:spcPct val="90000"/>
              </a:lnSpc>
              <a:spcBef>
                <a:spcPts val="1000"/>
              </a:spcBef>
              <a:spcAft>
                <a:spcPts val="0"/>
              </a:spcAft>
              <a:buClr>
                <a:schemeClr val="dk1"/>
              </a:buClr>
              <a:buSzPts val="2800"/>
              <a:buNone/>
            </a:pPr>
            <a:r>
              <a:rPr lang="en-US"/>
              <a:t># Evaluate</a:t>
            </a:r>
            <a:endParaRPr/>
          </a:p>
          <a:p>
            <a:pPr indent="-228600" lvl="0" marL="228600" rtl="0" algn="l">
              <a:lnSpc>
                <a:spcPct val="90000"/>
              </a:lnSpc>
              <a:spcBef>
                <a:spcPts val="1000"/>
              </a:spcBef>
              <a:spcAft>
                <a:spcPts val="0"/>
              </a:spcAft>
              <a:buClr>
                <a:schemeClr val="dk1"/>
              </a:buClr>
              <a:buSzPts val="2800"/>
              <a:buNone/>
            </a:pPr>
            <a:r>
              <a:rPr lang="en-US"/>
              <a:t>pred = model.predict(X_test)</a:t>
            </a:r>
            <a:endParaRPr/>
          </a:p>
          <a:p>
            <a:pPr indent="-228600" lvl="0" marL="228600" rtl="0" algn="l">
              <a:lnSpc>
                <a:spcPct val="90000"/>
              </a:lnSpc>
              <a:spcBef>
                <a:spcPts val="1000"/>
              </a:spcBef>
              <a:spcAft>
                <a:spcPts val="0"/>
              </a:spcAft>
              <a:buClr>
                <a:schemeClr val="dk1"/>
              </a:buClr>
              <a:buSzPts val="2800"/>
              <a:buNone/>
            </a:pPr>
            <a:r>
              <a:rPr lang="en-US"/>
              <a:t>print("Accuracy:", accuracy_score(y_test, pred))</a:t>
            </a:r>
            <a:endParaRPr/>
          </a:p>
          <a:p>
            <a:pPr indent="0" lvl="0" marL="0" rtl="0" algn="just">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rPr lang="en-US"/>
              <a:t>This system automatically learns spam patterns from labeled data and classifies new messages.</a:t>
            </a:r>
            <a:endParaRPr/>
          </a:p>
        </p:txBody>
      </p:sp>
      <p:pic>
        <p:nvPicPr>
          <p:cNvPr descr="A blue and white logo&#10;&#10;AI-generated content may be incorrect." id="1004" name="Google Shape;1004;p132"/>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Using NLP</a:t>
            </a:r>
            <a:endParaRPr b="1"/>
          </a:p>
        </p:txBody>
      </p:sp>
      <p:sp>
        <p:nvSpPr>
          <p:cNvPr id="1010" name="Google Shape;1010;p1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Topic Classification is a supervised text classification task that assigns documents to predefined topics such as:</a:t>
            </a:r>
            <a:endParaRPr/>
          </a:p>
          <a:p>
            <a:pPr indent="-457200" lvl="0" marL="457200" rtl="0" algn="just">
              <a:lnSpc>
                <a:spcPct val="90000"/>
              </a:lnSpc>
              <a:spcBef>
                <a:spcPts val="1000"/>
              </a:spcBef>
              <a:spcAft>
                <a:spcPts val="0"/>
              </a:spcAft>
              <a:buClr>
                <a:schemeClr val="dk1"/>
              </a:buClr>
              <a:buSzPts val="2800"/>
              <a:buChar char="•"/>
            </a:pPr>
            <a:r>
              <a:rPr lang="en-US"/>
              <a:t>Sports</a:t>
            </a:r>
            <a:endParaRPr/>
          </a:p>
          <a:p>
            <a:pPr indent="-457200" lvl="0" marL="457200" rtl="0" algn="just">
              <a:lnSpc>
                <a:spcPct val="90000"/>
              </a:lnSpc>
              <a:spcBef>
                <a:spcPts val="1000"/>
              </a:spcBef>
              <a:spcAft>
                <a:spcPts val="0"/>
              </a:spcAft>
              <a:buClr>
                <a:schemeClr val="dk1"/>
              </a:buClr>
              <a:buSzPts val="2800"/>
              <a:buChar char="•"/>
            </a:pPr>
            <a:r>
              <a:rPr lang="en-US"/>
              <a:t>Politics</a:t>
            </a:r>
            <a:endParaRPr/>
          </a:p>
          <a:p>
            <a:pPr indent="-457200" lvl="0" marL="457200" rtl="0" algn="just">
              <a:lnSpc>
                <a:spcPct val="90000"/>
              </a:lnSpc>
              <a:spcBef>
                <a:spcPts val="1000"/>
              </a:spcBef>
              <a:spcAft>
                <a:spcPts val="0"/>
              </a:spcAft>
              <a:buClr>
                <a:schemeClr val="dk1"/>
              </a:buClr>
              <a:buSzPts val="2800"/>
              <a:buChar char="•"/>
            </a:pPr>
            <a:r>
              <a:rPr lang="en-US"/>
              <a:t>Technology</a:t>
            </a:r>
            <a:endParaRPr/>
          </a:p>
          <a:p>
            <a:pPr indent="-457200" lvl="0" marL="457200" rtl="0" algn="just">
              <a:lnSpc>
                <a:spcPct val="90000"/>
              </a:lnSpc>
              <a:spcBef>
                <a:spcPts val="1000"/>
              </a:spcBef>
              <a:spcAft>
                <a:spcPts val="0"/>
              </a:spcAft>
              <a:buClr>
                <a:schemeClr val="dk1"/>
              </a:buClr>
              <a:buSzPts val="2800"/>
              <a:buChar char="•"/>
            </a:pPr>
            <a:r>
              <a:rPr lang="en-US"/>
              <a:t>Health</a:t>
            </a:r>
            <a:endParaRPr/>
          </a:p>
          <a:p>
            <a:pPr indent="0" lvl="0" marL="0" rtl="0" algn="just">
              <a:lnSpc>
                <a:spcPct val="90000"/>
              </a:lnSpc>
              <a:spcBef>
                <a:spcPts val="1000"/>
              </a:spcBef>
              <a:spcAft>
                <a:spcPts val="0"/>
              </a:spcAft>
              <a:buClr>
                <a:schemeClr val="dk1"/>
              </a:buClr>
              <a:buSzPts val="2800"/>
              <a:buNone/>
            </a:pPr>
            <a:r>
              <a:rPr lang="en-US"/>
              <a:t>Unlike topic modeling (LDA), topic classification requires </a:t>
            </a:r>
            <a:r>
              <a:rPr b="1" lang="en-US"/>
              <a:t>labeled training data</a:t>
            </a:r>
            <a:r>
              <a:rPr lang="en-US"/>
              <a:t>.</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011" name="Google Shape;1011;p133"/>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1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Using NLP</a:t>
            </a:r>
            <a:endParaRPr/>
          </a:p>
        </p:txBody>
      </p:sp>
      <p:sp>
        <p:nvSpPr>
          <p:cNvPr id="1017" name="Google Shape;1017;p1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Example:</a:t>
            </a:r>
            <a:endParaRPr b="1"/>
          </a:p>
          <a:p>
            <a:pPr indent="-228600" lvl="0" marL="228600" rtl="0" algn="l">
              <a:lnSpc>
                <a:spcPct val="90000"/>
              </a:lnSpc>
              <a:spcBef>
                <a:spcPts val="1000"/>
              </a:spcBef>
              <a:spcAft>
                <a:spcPts val="0"/>
              </a:spcAft>
              <a:buClr>
                <a:schemeClr val="dk1"/>
              </a:buClr>
              <a:buSzPts val="2800"/>
              <a:buNone/>
            </a:pPr>
            <a:r>
              <a:rPr b="1" lang="en-US"/>
              <a:t>“This team won the match yesterday” →</a:t>
            </a:r>
            <a:r>
              <a:rPr lang="en-US"/>
              <a:t> Sports</a:t>
            </a:r>
            <a:endParaRPr/>
          </a:p>
          <a:p>
            <a:pPr indent="-228600" lvl="0" marL="228600" rtl="0" algn="l">
              <a:lnSpc>
                <a:spcPct val="90000"/>
              </a:lnSpc>
              <a:spcBef>
                <a:spcPts val="1000"/>
              </a:spcBef>
              <a:spcAft>
                <a:spcPts val="0"/>
              </a:spcAft>
              <a:buClr>
                <a:schemeClr val="dk1"/>
              </a:buClr>
              <a:buSzPts val="2800"/>
              <a:buNone/>
            </a:pPr>
            <a:r>
              <a:rPr b="1" lang="en-US"/>
              <a:t>“Government announces new policy” →</a:t>
            </a:r>
            <a:r>
              <a:rPr lang="en-US"/>
              <a:t> Politics</a:t>
            </a:r>
            <a:endParaRPr/>
          </a:p>
          <a:p>
            <a:pPr indent="-228600" lvl="0" marL="228600" rtl="0" algn="l">
              <a:lnSpc>
                <a:spcPct val="90000"/>
              </a:lnSpc>
              <a:spcBef>
                <a:spcPts val="1000"/>
              </a:spcBef>
              <a:spcAft>
                <a:spcPts val="0"/>
              </a:spcAft>
              <a:buClr>
                <a:schemeClr val="dk1"/>
              </a:buClr>
              <a:buSzPts val="2800"/>
              <a:buNone/>
            </a:pPr>
            <a:r>
              <a:rPr b="1" lang="en-US"/>
              <a:t>“AI models improve healthcare” →</a:t>
            </a:r>
            <a:r>
              <a:rPr lang="en-US"/>
              <a:t> Technology</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018" name="Google Shape;1018;p134"/>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Using NLP</a:t>
            </a:r>
            <a:endParaRPr/>
          </a:p>
        </p:txBody>
      </p:sp>
      <p:sp>
        <p:nvSpPr>
          <p:cNvPr id="1024" name="Google Shape;1024;p1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b="1" lang="en-US"/>
              <a:t>Topic Classification Pipeline:</a:t>
            </a:r>
            <a:endParaRPr/>
          </a:p>
          <a:p>
            <a:pPr indent="-228600" lvl="0" marL="228600" rtl="0" algn="l">
              <a:lnSpc>
                <a:spcPct val="90000"/>
              </a:lnSpc>
              <a:spcBef>
                <a:spcPts val="1000"/>
              </a:spcBef>
              <a:spcAft>
                <a:spcPts val="0"/>
              </a:spcAft>
              <a:buClr>
                <a:schemeClr val="dk1"/>
              </a:buClr>
              <a:buSzPts val="2800"/>
              <a:buFont typeface="Arial"/>
              <a:buChar char="•"/>
            </a:pPr>
            <a:r>
              <a:rPr lang="en-US"/>
              <a:t>Collect labeled documents</a:t>
            </a:r>
            <a:endParaRPr/>
          </a:p>
          <a:p>
            <a:pPr indent="-228600" lvl="0" marL="228600" rtl="0" algn="l">
              <a:lnSpc>
                <a:spcPct val="90000"/>
              </a:lnSpc>
              <a:spcBef>
                <a:spcPts val="1000"/>
              </a:spcBef>
              <a:spcAft>
                <a:spcPts val="0"/>
              </a:spcAft>
              <a:buClr>
                <a:schemeClr val="dk1"/>
              </a:buClr>
              <a:buSzPts val="2800"/>
              <a:buFont typeface="Arial"/>
              <a:buChar char="•"/>
            </a:pPr>
            <a:r>
              <a:rPr lang="en-US"/>
              <a:t>Preprocess text</a:t>
            </a:r>
            <a:endParaRPr/>
          </a:p>
          <a:p>
            <a:pPr indent="-228600" lvl="0" marL="228600" rtl="0" algn="l">
              <a:lnSpc>
                <a:spcPct val="90000"/>
              </a:lnSpc>
              <a:spcBef>
                <a:spcPts val="1000"/>
              </a:spcBef>
              <a:spcAft>
                <a:spcPts val="0"/>
              </a:spcAft>
              <a:buClr>
                <a:schemeClr val="dk1"/>
              </a:buClr>
              <a:buSzPts val="2800"/>
              <a:buFont typeface="Arial"/>
              <a:buChar char="•"/>
            </a:pPr>
            <a:r>
              <a:rPr lang="en-US"/>
              <a:t>Convert text into numerical features (TF–IDF / embeddings)</a:t>
            </a:r>
            <a:endParaRPr/>
          </a:p>
          <a:p>
            <a:pPr indent="-228600" lvl="0" marL="228600" rtl="0" algn="l">
              <a:lnSpc>
                <a:spcPct val="90000"/>
              </a:lnSpc>
              <a:spcBef>
                <a:spcPts val="1000"/>
              </a:spcBef>
              <a:spcAft>
                <a:spcPts val="0"/>
              </a:spcAft>
              <a:buClr>
                <a:schemeClr val="dk1"/>
              </a:buClr>
              <a:buSzPts val="2800"/>
              <a:buFont typeface="Arial"/>
              <a:buChar char="•"/>
            </a:pPr>
            <a:r>
              <a:rPr lang="en-US"/>
              <a:t>Train classifier (Naive Bayes / SVM / Deep Learning)</a:t>
            </a:r>
            <a:endParaRPr/>
          </a:p>
          <a:p>
            <a:pPr indent="-228600" lvl="0" marL="228600" rtl="0" algn="l">
              <a:lnSpc>
                <a:spcPct val="90000"/>
              </a:lnSpc>
              <a:spcBef>
                <a:spcPts val="1000"/>
              </a:spcBef>
              <a:spcAft>
                <a:spcPts val="0"/>
              </a:spcAft>
              <a:buClr>
                <a:schemeClr val="dk1"/>
              </a:buClr>
              <a:buSzPts val="2800"/>
              <a:buFont typeface="Arial"/>
              <a:buChar char="•"/>
            </a:pPr>
            <a:r>
              <a:rPr lang="en-US"/>
              <a:t>Predict topic for new documents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025" name="Google Shape;1025;p135"/>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Using NLP</a:t>
            </a:r>
            <a:endParaRPr/>
          </a:p>
        </p:txBody>
      </p:sp>
      <p:sp>
        <p:nvSpPr>
          <p:cNvPr id="1031" name="Google Shape;1031;p1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Topic classification is widely used in:</a:t>
            </a:r>
            <a:endParaRPr/>
          </a:p>
          <a:p>
            <a:pPr indent="-228600" lvl="0" marL="228600" rtl="0" algn="l">
              <a:lnSpc>
                <a:spcPct val="90000"/>
              </a:lnSpc>
              <a:spcBef>
                <a:spcPts val="1000"/>
              </a:spcBef>
              <a:spcAft>
                <a:spcPts val="0"/>
              </a:spcAft>
              <a:buClr>
                <a:schemeClr val="dk1"/>
              </a:buClr>
              <a:buSzPts val="2800"/>
              <a:buChar char="•"/>
            </a:pPr>
            <a:r>
              <a:rPr lang="en-US"/>
              <a:t>News aggregation</a:t>
            </a:r>
            <a:endParaRPr/>
          </a:p>
          <a:p>
            <a:pPr indent="-228600" lvl="0" marL="228600" rtl="0" algn="l">
              <a:lnSpc>
                <a:spcPct val="90000"/>
              </a:lnSpc>
              <a:spcBef>
                <a:spcPts val="1000"/>
              </a:spcBef>
              <a:spcAft>
                <a:spcPts val="0"/>
              </a:spcAft>
              <a:buClr>
                <a:schemeClr val="dk1"/>
              </a:buClr>
              <a:buSzPts val="2800"/>
              <a:buChar char="•"/>
            </a:pPr>
            <a:r>
              <a:rPr lang="en-US"/>
              <a:t>Content recommendation</a:t>
            </a:r>
            <a:endParaRPr/>
          </a:p>
          <a:p>
            <a:pPr indent="-228600" lvl="0" marL="228600" rtl="0" algn="l">
              <a:lnSpc>
                <a:spcPct val="90000"/>
              </a:lnSpc>
              <a:spcBef>
                <a:spcPts val="1000"/>
              </a:spcBef>
              <a:spcAft>
                <a:spcPts val="0"/>
              </a:spcAft>
              <a:buClr>
                <a:schemeClr val="dk1"/>
              </a:buClr>
              <a:buSzPts val="2800"/>
              <a:buChar char="•"/>
            </a:pPr>
            <a:r>
              <a:rPr lang="en-US"/>
              <a:t>Search engines</a:t>
            </a:r>
            <a:endParaRPr/>
          </a:p>
          <a:p>
            <a:pPr indent="-228600" lvl="0" marL="228600" rtl="0" algn="l">
              <a:lnSpc>
                <a:spcPct val="90000"/>
              </a:lnSpc>
              <a:spcBef>
                <a:spcPts val="1000"/>
              </a:spcBef>
              <a:spcAft>
                <a:spcPts val="0"/>
              </a:spcAft>
              <a:buClr>
                <a:schemeClr val="dk1"/>
              </a:buClr>
              <a:buSzPts val="2800"/>
              <a:buChar char="•"/>
            </a:pPr>
            <a:r>
              <a:rPr lang="en-US"/>
              <a:t>Social media analysis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032" name="Google Shape;1032;p136"/>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 Python Implementation</a:t>
            </a:r>
            <a:endParaRPr b="1"/>
          </a:p>
        </p:txBody>
      </p:sp>
      <p:sp>
        <p:nvSpPr>
          <p:cNvPr id="1038" name="Google Shape;1038;p1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Topic classification can be implemented using TF–IDF features and machine learning classifiers such as Naive Bayes or SVM.</a:t>
            </a:r>
            <a:endParaRPr/>
          </a:p>
          <a:p>
            <a:pPr indent="-228600" lvl="0" marL="228600" rtl="0" algn="l">
              <a:lnSpc>
                <a:spcPct val="90000"/>
              </a:lnSpc>
              <a:spcBef>
                <a:spcPts val="1000"/>
              </a:spcBef>
              <a:spcAft>
                <a:spcPts val="0"/>
              </a:spcAft>
              <a:buClr>
                <a:schemeClr val="dk1"/>
              </a:buClr>
              <a:buSzPts val="2800"/>
              <a:buNone/>
            </a:pPr>
            <a:r>
              <a:rPr b="1" lang="en-US"/>
              <a:t>Example Code:</a:t>
            </a:r>
            <a:endParaRPr/>
          </a:p>
          <a:p>
            <a:pPr indent="-228600" lvl="0" marL="228600" rtl="0" algn="l">
              <a:lnSpc>
                <a:spcPct val="90000"/>
              </a:lnSpc>
              <a:spcBef>
                <a:spcPts val="1000"/>
              </a:spcBef>
              <a:spcAft>
                <a:spcPts val="0"/>
              </a:spcAft>
              <a:buClr>
                <a:schemeClr val="dk1"/>
              </a:buClr>
              <a:buSzPts val="2800"/>
              <a:buNone/>
            </a:pPr>
            <a:r>
              <a:rPr lang="en-US">
                <a:latin typeface="Consolas"/>
                <a:ea typeface="Consolas"/>
                <a:cs typeface="Consolas"/>
                <a:sym typeface="Consolas"/>
              </a:rPr>
              <a:t>from sklearn.feature_extraction.text import TfidfVectorizer</a:t>
            </a:r>
            <a:br>
              <a:rPr lang="en-US">
                <a:latin typeface="Consolas"/>
                <a:ea typeface="Consolas"/>
                <a:cs typeface="Consolas"/>
                <a:sym typeface="Consolas"/>
              </a:rPr>
            </a:br>
            <a:r>
              <a:rPr lang="en-US">
                <a:latin typeface="Consolas"/>
                <a:ea typeface="Consolas"/>
                <a:cs typeface="Consolas"/>
                <a:sym typeface="Consolas"/>
              </a:rPr>
              <a:t>from sklearn.naive_bayes import MultinomialNB</a:t>
            </a:r>
            <a:br>
              <a:rPr lang="en-US">
                <a:latin typeface="Consolas"/>
                <a:ea typeface="Consolas"/>
                <a:cs typeface="Consolas"/>
                <a:sym typeface="Consolas"/>
              </a:rPr>
            </a:br>
            <a:r>
              <a:rPr lang="en-US">
                <a:latin typeface="Consolas"/>
                <a:ea typeface="Consolas"/>
                <a:cs typeface="Consolas"/>
                <a:sym typeface="Consolas"/>
              </a:rPr>
              <a:t>from sklearn.model_selection import train_test_split</a:t>
            </a:r>
            <a:br>
              <a:rPr lang="en-US">
                <a:latin typeface="Consolas"/>
                <a:ea typeface="Consolas"/>
                <a:cs typeface="Consolas"/>
                <a:sym typeface="Consolas"/>
              </a:rPr>
            </a:b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039" name="Google Shape;1039;p137"/>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 Python Implementation</a:t>
            </a:r>
            <a:endParaRPr/>
          </a:p>
        </p:txBody>
      </p:sp>
      <p:sp>
        <p:nvSpPr>
          <p:cNvPr id="1045" name="Google Shape;1045;p1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None/>
            </a:pPr>
            <a:r>
              <a:rPr lang="en-US"/>
              <a:t>texts = [</a:t>
            </a:r>
            <a:endParaRPr/>
          </a:p>
          <a:p>
            <a:pPr indent="-228600" lvl="0" marL="228600" rtl="0" algn="l">
              <a:lnSpc>
                <a:spcPct val="90000"/>
              </a:lnSpc>
              <a:spcBef>
                <a:spcPts val="1000"/>
              </a:spcBef>
              <a:spcAft>
                <a:spcPts val="0"/>
              </a:spcAft>
              <a:buClr>
                <a:schemeClr val="dk1"/>
              </a:buClr>
              <a:buSzPct val="100000"/>
              <a:buNone/>
            </a:pPr>
            <a:r>
              <a:rPr lang="en-US"/>
              <a:t>    "Team won the football match",</a:t>
            </a:r>
            <a:endParaRPr/>
          </a:p>
          <a:p>
            <a:pPr indent="-228600" lvl="0" marL="228600" rtl="0" algn="l">
              <a:lnSpc>
                <a:spcPct val="90000"/>
              </a:lnSpc>
              <a:spcBef>
                <a:spcPts val="1000"/>
              </a:spcBef>
              <a:spcAft>
                <a:spcPts val="0"/>
              </a:spcAft>
              <a:buClr>
                <a:schemeClr val="dk1"/>
              </a:buClr>
              <a:buSzPct val="100000"/>
              <a:buNone/>
            </a:pPr>
            <a:r>
              <a:rPr lang="en-US"/>
              <a:t>    "Government passes new law",</a:t>
            </a:r>
            <a:endParaRPr/>
          </a:p>
          <a:p>
            <a:pPr indent="-228600" lvl="0" marL="228600" rtl="0" algn="l">
              <a:lnSpc>
                <a:spcPct val="90000"/>
              </a:lnSpc>
              <a:spcBef>
                <a:spcPts val="1000"/>
              </a:spcBef>
              <a:spcAft>
                <a:spcPts val="0"/>
              </a:spcAft>
              <a:buClr>
                <a:schemeClr val="dk1"/>
              </a:buClr>
              <a:buSzPct val="100000"/>
              <a:buNone/>
            </a:pPr>
            <a:r>
              <a:rPr lang="en-US"/>
              <a:t>    "AI improves medical diagnosis",</a:t>
            </a:r>
            <a:endParaRPr/>
          </a:p>
          <a:p>
            <a:pPr indent="-228600" lvl="0" marL="228600" rtl="0" algn="l">
              <a:lnSpc>
                <a:spcPct val="90000"/>
              </a:lnSpc>
              <a:spcBef>
                <a:spcPts val="1000"/>
              </a:spcBef>
              <a:spcAft>
                <a:spcPts val="0"/>
              </a:spcAft>
              <a:buClr>
                <a:schemeClr val="dk1"/>
              </a:buClr>
              <a:buSzPct val="100000"/>
              <a:buNone/>
            </a:pPr>
            <a:r>
              <a:rPr lang="en-US"/>
              <a:t>    "Player scores winning goal",</a:t>
            </a:r>
            <a:endParaRPr/>
          </a:p>
          <a:p>
            <a:pPr indent="-228600" lvl="0" marL="228600" rtl="0" algn="l">
              <a:lnSpc>
                <a:spcPct val="90000"/>
              </a:lnSpc>
              <a:spcBef>
                <a:spcPts val="1000"/>
              </a:spcBef>
              <a:spcAft>
                <a:spcPts val="0"/>
              </a:spcAft>
              <a:buClr>
                <a:schemeClr val="dk1"/>
              </a:buClr>
              <a:buSzPct val="100000"/>
              <a:buNone/>
            </a:pPr>
            <a:r>
              <a:rPr lang="en-US"/>
              <a:t>    "Election results announced",</a:t>
            </a:r>
            <a:endParaRPr/>
          </a:p>
          <a:p>
            <a:pPr indent="-228600" lvl="0" marL="228600" rtl="0" algn="l">
              <a:lnSpc>
                <a:spcPct val="90000"/>
              </a:lnSpc>
              <a:spcBef>
                <a:spcPts val="1000"/>
              </a:spcBef>
              <a:spcAft>
                <a:spcPts val="0"/>
              </a:spcAft>
              <a:buClr>
                <a:schemeClr val="dk1"/>
              </a:buClr>
              <a:buSzPct val="100000"/>
              <a:buNone/>
            </a:pPr>
            <a:r>
              <a:rPr lang="en-US"/>
              <a:t>    "New smartphone launched"</a:t>
            </a:r>
            <a:endParaRPr/>
          </a:p>
          <a:p>
            <a:pPr indent="-228600" lvl="0" marL="228600" rtl="0" algn="l">
              <a:lnSpc>
                <a:spcPct val="90000"/>
              </a:lnSpc>
              <a:spcBef>
                <a:spcPts val="1000"/>
              </a:spcBef>
              <a:spcAft>
                <a:spcPts val="0"/>
              </a:spcAft>
              <a:buClr>
                <a:schemeClr val="dk1"/>
              </a:buClr>
              <a:buSzPct val="100000"/>
              <a:buNone/>
            </a:pPr>
            <a:r>
              <a:rPr lang="en-US"/>
              <a:t>]</a:t>
            </a:r>
            <a:endParaRPr/>
          </a:p>
          <a:p>
            <a:pPr indent="0" lvl="0" marL="0" rtl="0" algn="l">
              <a:lnSpc>
                <a:spcPct val="90000"/>
              </a:lnSpc>
              <a:spcBef>
                <a:spcPts val="1000"/>
              </a:spcBef>
              <a:spcAft>
                <a:spcPts val="0"/>
              </a:spcAft>
              <a:buClr>
                <a:schemeClr val="dk1"/>
              </a:buClr>
              <a:buSzPct val="100000"/>
              <a:buNone/>
            </a:pPr>
            <a:r>
              <a:rPr lang="en-US"/>
              <a:t>labels = ["Sports", "Politics", "Technology", "Sports", "Politics", "Technology"]</a:t>
            </a:r>
            <a:endParaRPr/>
          </a:p>
        </p:txBody>
      </p:sp>
      <p:pic>
        <p:nvPicPr>
          <p:cNvPr descr="A blue and white logo&#10;&#10;AI-generated content may be incorrect." id="1046" name="Google Shape;1046;p138"/>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1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 Python Implementation</a:t>
            </a:r>
            <a:endParaRPr/>
          </a:p>
        </p:txBody>
      </p:sp>
      <p:sp>
        <p:nvSpPr>
          <p:cNvPr id="1052" name="Google Shape;1052;p1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 Convert text to TF-IDF</a:t>
            </a:r>
            <a:endParaRPr/>
          </a:p>
          <a:p>
            <a:pPr indent="-228600" lvl="0" marL="228600" rtl="0" algn="l">
              <a:lnSpc>
                <a:spcPct val="90000"/>
              </a:lnSpc>
              <a:spcBef>
                <a:spcPts val="1000"/>
              </a:spcBef>
              <a:spcAft>
                <a:spcPts val="0"/>
              </a:spcAft>
              <a:buClr>
                <a:schemeClr val="dk1"/>
              </a:buClr>
              <a:buSzPts val="2800"/>
              <a:buNone/>
            </a:pPr>
            <a:r>
              <a:rPr lang="en-US"/>
              <a:t>vectorizer = TfidfVectorizer()</a:t>
            </a:r>
            <a:endParaRPr/>
          </a:p>
          <a:p>
            <a:pPr indent="-228600" lvl="0" marL="228600" rtl="0" algn="l">
              <a:lnSpc>
                <a:spcPct val="90000"/>
              </a:lnSpc>
              <a:spcBef>
                <a:spcPts val="1000"/>
              </a:spcBef>
              <a:spcAft>
                <a:spcPts val="0"/>
              </a:spcAft>
              <a:buClr>
                <a:schemeClr val="dk1"/>
              </a:buClr>
              <a:buSzPts val="2800"/>
              <a:buNone/>
            </a:pPr>
            <a:r>
              <a:rPr lang="en-US"/>
              <a:t>X = vectorizer.fit_transform(texts)</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 Split data</a:t>
            </a:r>
            <a:endParaRPr/>
          </a:p>
          <a:p>
            <a:pPr indent="0" lvl="0" marL="0" rtl="0" algn="l">
              <a:lnSpc>
                <a:spcPct val="90000"/>
              </a:lnSpc>
              <a:spcBef>
                <a:spcPts val="1000"/>
              </a:spcBef>
              <a:spcAft>
                <a:spcPts val="0"/>
              </a:spcAft>
              <a:buClr>
                <a:schemeClr val="dk1"/>
              </a:buClr>
              <a:buSzPts val="2800"/>
              <a:buNone/>
            </a:pPr>
            <a:r>
              <a:rPr lang="en-US"/>
              <a:t>X_train, X_test, y_train, y_test = train_test_split(X, labels, test_size=0.3)</a:t>
            </a:r>
            <a:endParaRPr/>
          </a:p>
        </p:txBody>
      </p:sp>
      <p:pic>
        <p:nvPicPr>
          <p:cNvPr descr="A blue and white logo&#10;&#10;AI-generated content may be incorrect." id="1053" name="Google Shape;1053;p139"/>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1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 Python Implementation</a:t>
            </a:r>
            <a:endParaRPr/>
          </a:p>
        </p:txBody>
      </p:sp>
      <p:sp>
        <p:nvSpPr>
          <p:cNvPr id="1059" name="Google Shape;1059;p1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 Train classifier</a:t>
            </a:r>
            <a:endParaRPr/>
          </a:p>
          <a:p>
            <a:pPr indent="-228600" lvl="0" marL="228600" rtl="0" algn="l">
              <a:lnSpc>
                <a:spcPct val="90000"/>
              </a:lnSpc>
              <a:spcBef>
                <a:spcPts val="1000"/>
              </a:spcBef>
              <a:spcAft>
                <a:spcPts val="0"/>
              </a:spcAft>
              <a:buClr>
                <a:schemeClr val="dk1"/>
              </a:buClr>
              <a:buSzPts val="2800"/>
              <a:buNone/>
            </a:pPr>
            <a:r>
              <a:rPr lang="en-US"/>
              <a:t>model = MultinomialNB()</a:t>
            </a:r>
            <a:endParaRPr/>
          </a:p>
          <a:p>
            <a:pPr indent="-228600" lvl="0" marL="228600" rtl="0" algn="l">
              <a:lnSpc>
                <a:spcPct val="90000"/>
              </a:lnSpc>
              <a:spcBef>
                <a:spcPts val="1000"/>
              </a:spcBef>
              <a:spcAft>
                <a:spcPts val="0"/>
              </a:spcAft>
              <a:buClr>
                <a:schemeClr val="dk1"/>
              </a:buClr>
              <a:buSzPts val="2800"/>
              <a:buNone/>
            </a:pPr>
            <a:r>
              <a:rPr lang="en-US"/>
              <a:t>model.fit(X_train, y_train)</a:t>
            </a:r>
            <a:endParaRPr/>
          </a:p>
          <a:p>
            <a:pPr indent="-2286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None/>
            </a:pPr>
            <a:r>
              <a:rPr lang="en-US"/>
              <a:t># Predict topics</a:t>
            </a:r>
            <a:endParaRPr/>
          </a:p>
          <a:p>
            <a:pPr indent="-228600" lvl="0" marL="228600" rtl="0" algn="l">
              <a:lnSpc>
                <a:spcPct val="90000"/>
              </a:lnSpc>
              <a:spcBef>
                <a:spcPts val="1000"/>
              </a:spcBef>
              <a:spcAft>
                <a:spcPts val="0"/>
              </a:spcAft>
              <a:buClr>
                <a:schemeClr val="dk1"/>
              </a:buClr>
              <a:buSzPts val="2800"/>
              <a:buNone/>
            </a:pPr>
            <a:r>
              <a:rPr lang="en-US"/>
              <a:t>predictions = model.predict(X_test)</a:t>
            </a:r>
            <a:endParaRPr/>
          </a:p>
          <a:p>
            <a:pPr indent="-2286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print("Predicted Topics:", predictions)</a:t>
            </a:r>
            <a:endParaRPr/>
          </a:p>
        </p:txBody>
      </p:sp>
      <p:pic>
        <p:nvPicPr>
          <p:cNvPr descr="A blue and white logo&#10;&#10;AI-generated content may be incorrect." id="1060" name="Google Shape;1060;p140"/>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b="1" lang="en-US"/>
              <a:t>T4: Topic Classification – Python Implementation</a:t>
            </a:r>
            <a:endParaRPr/>
          </a:p>
        </p:txBody>
      </p:sp>
      <p:sp>
        <p:nvSpPr>
          <p:cNvPr id="1066" name="Google Shape;1066;p1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None/>
            </a:pPr>
            <a:r>
              <a:rPr lang="en-US"/>
              <a:t>This system:</a:t>
            </a:r>
            <a:endParaRPr/>
          </a:p>
          <a:p>
            <a:pPr indent="-228600" lvl="0" marL="228600" rtl="0" algn="l">
              <a:lnSpc>
                <a:spcPct val="90000"/>
              </a:lnSpc>
              <a:spcBef>
                <a:spcPts val="1000"/>
              </a:spcBef>
              <a:spcAft>
                <a:spcPts val="0"/>
              </a:spcAft>
              <a:buClr>
                <a:schemeClr val="dk1"/>
              </a:buClr>
              <a:buSzPts val="2800"/>
              <a:buChar char="•"/>
            </a:pPr>
            <a:r>
              <a:rPr lang="en-US"/>
              <a:t>Converts documents into TF–IDF vectors</a:t>
            </a:r>
            <a:endParaRPr/>
          </a:p>
          <a:p>
            <a:pPr indent="-228600" lvl="0" marL="228600" rtl="0" algn="l">
              <a:lnSpc>
                <a:spcPct val="90000"/>
              </a:lnSpc>
              <a:spcBef>
                <a:spcPts val="1000"/>
              </a:spcBef>
              <a:spcAft>
                <a:spcPts val="0"/>
              </a:spcAft>
              <a:buClr>
                <a:schemeClr val="dk1"/>
              </a:buClr>
              <a:buSzPts val="2800"/>
              <a:buChar char="•"/>
            </a:pPr>
            <a:r>
              <a:rPr lang="en-US"/>
              <a:t>Trains Naive Bayes on multiple topic classes</a:t>
            </a:r>
            <a:endParaRPr/>
          </a:p>
          <a:p>
            <a:pPr indent="-228600" lvl="0" marL="228600" rtl="0" algn="l">
              <a:lnSpc>
                <a:spcPct val="90000"/>
              </a:lnSpc>
              <a:spcBef>
                <a:spcPts val="1000"/>
              </a:spcBef>
              <a:spcAft>
                <a:spcPts val="0"/>
              </a:spcAft>
              <a:buClr>
                <a:schemeClr val="dk1"/>
              </a:buClr>
              <a:buSzPts val="2800"/>
              <a:buChar char="•"/>
            </a:pPr>
            <a:r>
              <a:rPr lang="en-US"/>
              <a:t>Predicts topic labels for unseen documents</a:t>
            </a:r>
            <a:endParaRPr/>
          </a:p>
          <a:p>
            <a:pPr indent="0" lvl="0" marL="0" rtl="0" algn="l">
              <a:lnSpc>
                <a:spcPct val="90000"/>
              </a:lnSpc>
              <a:spcBef>
                <a:spcPts val="1000"/>
              </a:spcBef>
              <a:spcAft>
                <a:spcPts val="0"/>
              </a:spcAft>
              <a:buClr>
                <a:schemeClr val="dk1"/>
              </a:buClr>
              <a:buSzPts val="2800"/>
              <a:buNone/>
            </a:pPr>
            <a:r>
              <a:t/>
            </a:r>
            <a:endParaRPr/>
          </a:p>
        </p:txBody>
      </p:sp>
      <p:pic>
        <p:nvPicPr>
          <p:cNvPr descr="A blue and white logo&#10;&#10;AI-generated content may be incorrect." id="1067" name="Google Shape;1067;p141"/>
          <p:cNvPicPr preferRelativeResize="0"/>
          <p:nvPr/>
        </p:nvPicPr>
        <p:blipFill rotWithShape="1">
          <a:blip r:embed="rId3">
            <a:alphaModFix/>
          </a:blip>
          <a:srcRect b="0" l="0" r="0" t="0"/>
          <a:stretch/>
        </p:blipFill>
        <p:spPr>
          <a:xfrm>
            <a:off x="10523495" y="-2218"/>
            <a:ext cx="1666875" cy="933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2013-07-15T20:26:40Z</dcterms:created>
</cp:coreProperties>
</file>