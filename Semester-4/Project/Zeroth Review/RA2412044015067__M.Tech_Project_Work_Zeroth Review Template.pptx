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1" r:id="rId4"/>
    <p:sldId id="259" r:id="rId5"/>
    <p:sldId id="272" r:id="rId6"/>
    <p:sldId id="273" r:id="rId7"/>
    <p:sldId id="274" r:id="rId8"/>
    <p:sldId id="275" r:id="rId9"/>
    <p:sldId id="276" r:id="rId10"/>
    <p:sldId id="277" r:id="rId11"/>
    <p:sldId id="270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2/hhuwKmITLi34coKuV9gvvc1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6EE30B-C028-4789-B6E4-0BFFCBE8230D}">
  <a:tblStyle styleId="{DD6EE30B-C028-4789-B6E4-0BFFCBE8230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3141242-6113-4B82-1A9D-FC8858820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DCF070D-E8E7-A5DC-A4AB-8001947A7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EB3E5BC-CB63-B4D0-0A1A-655C42A98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AF7DC1F7-3CA3-823D-9D99-9CED0E6C41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3231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 a tabular format, brief 5 references, which are closely related to your work. Citations and references should be in IEEE format</a:t>
            </a:r>
            <a:endParaRPr/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FE6CD2A-44DA-A9E2-67D7-C0E7AE25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927A97C-5363-ECD3-2FF9-55EAECAB7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8F91B2F-824A-09A6-B556-CE83A8B5D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E11887B-C726-ADD5-D376-42080E9C94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2504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CE125C1-4E1C-3B2F-2556-5D90882B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591F60D-7455-74CC-1FCC-E343D7290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C833598-B9D3-B3FC-6BCD-06818AB2D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4E230B8-5771-3B59-3DCD-7BF3073F9E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533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A5E1DB5B-E64D-B2AE-C770-CAF76F94D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6A883315-9C2F-CF2A-A4C5-121CC0F7F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3815E92-C01D-C198-D5F0-6A0C01FE9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5F529B2-95D9-A400-0976-E2A487774F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6476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6554D52-9AC1-CDA4-51A4-5DFC48BE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A07E19D-1256-3AFE-649B-26AC6834B9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E69A26F-5049-2AE7-06AF-C9D6DF387D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3FFC8089-6A0F-3A4B-0920-EA99E52300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3180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93B6974-D5B6-758F-384A-D1B59B60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C259B4A-6EC9-5499-5DE6-80C075644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C170C0A-CFB3-061B-DBD3-6D5826EBAF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41EC8CD-AE29-53A9-F29C-EBF22BC219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0533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80AEAE2-4817-25BF-A3BF-1C6F0CE1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3F378D7-1B20-16A4-EEC6-05BA33311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A65F386-6A5D-06AC-4E71-EE4222D11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3035E3D1-51C7-A3A2-DB37-9E07176D03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3714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6457C73C-7C3F-2B42-E49E-A002BBC43DE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411914" y="92267"/>
            <a:ext cx="1638301" cy="7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06FD8DB1-11F1-9800-4CBB-E817EA3F428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685800" y="94319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ts val="4400"/>
            </a:pPr>
            <a:r>
              <a:rPr lang="en-US" dirty="0"/>
              <a:t>Advanced Deep Learning Algorithm for Traffic Management System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D586A8-E175-E5C0-5351-A24779E43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598014"/>
              </p:ext>
            </p:extLst>
          </p:nvPr>
        </p:nvGraphicFramePr>
        <p:xfrm>
          <a:off x="1728216" y="2615978"/>
          <a:ext cx="6729984" cy="1828800"/>
        </p:xfrm>
        <a:graphic>
          <a:graphicData uri="http://schemas.openxmlformats.org/drawingml/2006/table">
            <a:tbl>
              <a:tblPr/>
              <a:tblGrid>
                <a:gridCol w="3364992">
                  <a:extLst>
                    <a:ext uri="{9D8B030D-6E8A-4147-A177-3AD203B41FA5}">
                      <a16:colId xmlns:a16="http://schemas.microsoft.com/office/drawing/2014/main" val="2231367775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111989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Student Name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Ravikanth Amajala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58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Registration No.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RA2412044015067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01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Guided by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Dr. K. Venkatesh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418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Review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Review - 0 (Zeroth Review)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989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December 14, 2025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388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ctrTitle"/>
          </p:nvPr>
        </p:nvSpPr>
        <p:spPr>
          <a:xfrm>
            <a:off x="172616" y="484200"/>
            <a:ext cx="77724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1.Abstract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B54AB-CC32-41B6-F001-C7DA233C8E86}"/>
              </a:ext>
            </a:extLst>
          </p:cNvPr>
          <p:cNvSpPr txBox="1"/>
          <p:nvPr/>
        </p:nvSpPr>
        <p:spPr>
          <a:xfrm>
            <a:off x="0" y="1475232"/>
            <a:ext cx="914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Traffic congestion is one of the major challenges faced by modern urban cities, leading to increased travel time, fuel consumption, and environmental pollution. Accurate traffic prediction plays a vital role in intelligent traffic management systems. With the availability of large-scale traffic data, deep learning techniques have shown promising results in capturing complex traffic patterns.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This project aims to develop an advanced deep learning-based traffic management system that effectively models </a:t>
            </a:r>
            <a:r>
              <a:rPr lang="en-US" sz="2000" dirty="0" err="1"/>
              <a:t>spatio</a:t>
            </a:r>
            <a:r>
              <a:rPr lang="en-US" sz="2000" dirty="0"/>
              <a:t>-temporal traffic data to predict future traffic conditions. The proposed approach focuses on improving prediction accuracy while addressing challenges such as complex spatial dependencies, temporal variations, and real-time applicability.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BAB03-7C06-49F1-06D5-5AB5660DC415}"/>
              </a:ext>
            </a:extLst>
          </p:cNvPr>
          <p:cNvSpPr txBox="1"/>
          <p:nvPr/>
        </p:nvSpPr>
        <p:spPr>
          <a:xfrm>
            <a:off x="336042" y="3978033"/>
            <a:ext cx="46040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3BEE152-D269-357D-E861-E64DF7BA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E3E2D957-BEFE-4904-9C4E-8A995EAF342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0608" y="22698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2. Introduction to the Project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CA4FA-4B9E-7E80-F8B9-528A0405EC93}"/>
              </a:ext>
            </a:extLst>
          </p:cNvPr>
          <p:cNvSpPr txBox="1"/>
          <p:nvPr/>
        </p:nvSpPr>
        <p:spPr>
          <a:xfrm>
            <a:off x="0" y="1219200"/>
            <a:ext cx="9144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Traffic systems generate </a:t>
            </a:r>
            <a:r>
              <a:rPr lang="en-US" sz="1800" b="1" dirty="0" err="1"/>
              <a:t>spatio</a:t>
            </a:r>
            <a:r>
              <a:rPr lang="en-US" sz="1800" b="1" dirty="0"/>
              <a:t>-temporal data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Traditional methods fail with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Deep learning offers better modeling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Urban traffic systems are highly dynamic and influenced by spatial and temporal factors.</a:t>
            </a:r>
          </a:p>
          <a:p>
            <a:endParaRPr lang="en-US" sz="1800" dirty="0"/>
          </a:p>
          <a:p>
            <a:r>
              <a:rPr lang="en-US" sz="1800" dirty="0"/>
              <a:t>            Conventional statistical and machine learning approaches struggle to model such complex dependencies. </a:t>
            </a:r>
          </a:p>
          <a:p>
            <a:endParaRPr lang="en-US" sz="1800" dirty="0"/>
          </a:p>
          <a:p>
            <a:r>
              <a:rPr lang="en-US" sz="1800" dirty="0"/>
              <a:t>Recent advances in deep learning, such as CNNs, GCNs, and RNNs, have significantly improved traffic prediction performance. </a:t>
            </a:r>
          </a:p>
          <a:p>
            <a:endParaRPr lang="en-US" sz="1800" dirty="0"/>
          </a:p>
          <a:p>
            <a:r>
              <a:rPr lang="en-US" sz="1800" dirty="0"/>
              <a:t>            However, existing models still face challenges related to efficiency, scalability, and interpretability.</a:t>
            </a:r>
          </a:p>
        </p:txBody>
      </p:sp>
    </p:spTree>
    <p:extLst>
      <p:ext uri="{BB962C8B-B14F-4D97-AF65-F5344CB8AC3E}">
        <p14:creationId xmlns:p14="http://schemas.microsoft.com/office/powerpoint/2010/main" val="191073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Literature Review</a:t>
            </a:r>
            <a:endParaRPr/>
          </a:p>
        </p:txBody>
      </p:sp>
      <p:graphicFrame>
        <p:nvGraphicFramePr>
          <p:cNvPr id="109" name="Google Shape;109;p4"/>
          <p:cNvGraphicFramePr/>
          <p:nvPr>
            <p:extLst>
              <p:ext uri="{D42A27DB-BD31-4B8C-83A1-F6EECF244321}">
                <p14:modId xmlns:p14="http://schemas.microsoft.com/office/powerpoint/2010/main" val="2035955568"/>
              </p:ext>
            </p:extLst>
          </p:nvPr>
        </p:nvGraphicFramePr>
        <p:xfrm>
          <a:off x="0" y="1111558"/>
          <a:ext cx="9079990" cy="4457835"/>
        </p:xfrm>
        <a:graphic>
          <a:graphicData uri="http://schemas.openxmlformats.org/drawingml/2006/table">
            <a:tbl>
              <a:tblPr firstRow="1" bandRow="1">
                <a:noFill/>
                <a:tableStyleId>{DD6EE30B-C028-4789-B6E4-0BFFCBE8230D}</a:tableStyleId>
              </a:tblPr>
              <a:tblGrid>
                <a:gridCol w="1815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5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5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5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strike="noStrike" cap="none"/>
                        <a:t>Title of the Paper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Journal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DataSet Used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Contributions</a:t>
                      </a:r>
                      <a:endParaRPr sz="11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/>
                        <a:t>Other Observations</a:t>
                      </a:r>
                      <a:endParaRPr sz="11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Deep Learning on Traffic Prediction: Methods, Analysis and Future Directions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IEEE Transactions on Intelligent Transportation Systems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err="1"/>
                        <a:t>PeMS</a:t>
                      </a:r>
                      <a:r>
                        <a:rPr lang="en-IN" sz="1100" dirty="0"/>
                        <a:t>, METR-LA, </a:t>
                      </a:r>
                      <a:r>
                        <a:rPr lang="en-IN" sz="1100" dirty="0" err="1"/>
                        <a:t>TaxiBJ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Provides a comprehensive survey of deep learning models for traffic prediction and analyzes spatial and temporal dependencies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Highlights challenges like high complexity, lack of interpretability, and poor long-term prediction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Diffusion Convolutional Recurrent Neural Network for Traffic Forecasting (DCRNN)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ICLR Conference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METR-LA, </a:t>
                      </a:r>
                      <a:r>
                        <a:rPr lang="en-IN" sz="1100" dirty="0" err="1"/>
                        <a:t>PeMS</a:t>
                      </a:r>
                      <a:r>
                        <a:rPr lang="en-IN" sz="1100" dirty="0"/>
                        <a:t>-BAY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Combines graph convolution with recurrent neural networks to capture spatial and temporal traffic patterns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Model is computationally expensive and difficult to deploy in real-time systems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Graph </a:t>
                      </a:r>
                      <a:r>
                        <a:rPr lang="en-US" sz="1100" dirty="0" err="1"/>
                        <a:t>WaveNet</a:t>
                      </a:r>
                      <a:r>
                        <a:rPr lang="en-US" sz="1100" dirty="0"/>
                        <a:t> for Deep Spatial-Temporal Graph Modeling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IJCAI Conference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METR-LA, </a:t>
                      </a:r>
                      <a:r>
                        <a:rPr lang="en-IN" sz="1100" dirty="0" err="1"/>
                        <a:t>PeMS</a:t>
                      </a:r>
                      <a:r>
                        <a:rPr lang="en-IN" sz="1100" dirty="0"/>
                        <a:t>-BAY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Introduces adaptive graph learning for spatial dependency modeling in traffic networks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Requires large datasets and high training time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IN"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34B5BF4-0A17-D1BA-6738-C61129477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3C9BC7EE-9C4E-099F-7070-3370BDF763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0608" y="22698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4. Research Gap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5AA4D-CEAA-1A27-396B-65680CC0231B}"/>
              </a:ext>
            </a:extLst>
          </p:cNvPr>
          <p:cNvSpPr txBox="1"/>
          <p:nvPr/>
        </p:nvSpPr>
        <p:spPr>
          <a:xfrm>
            <a:off x="0" y="1219200"/>
            <a:ext cx="9144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Most models </a:t>
            </a:r>
            <a:r>
              <a:rPr lang="en-US" sz="1800" b="1" dirty="0"/>
              <a:t>separately model spatial and temporal dependencies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Long-term traffic prediction accuracy is limited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High computational complexity restricts </a:t>
            </a:r>
            <a:r>
              <a:rPr lang="en-US" sz="1800" b="1" dirty="0"/>
              <a:t>real-time deployment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Deep learning models act as </a:t>
            </a:r>
            <a:r>
              <a:rPr lang="en-US" sz="1800" b="1" dirty="0"/>
              <a:t>black boxes with low interpretability</a:t>
            </a:r>
          </a:p>
          <a:p>
            <a:endParaRPr lang="en-US" sz="1800" b="1" dirty="0"/>
          </a:p>
          <a:p>
            <a:endParaRPr lang="en-US" sz="1800" dirty="0"/>
          </a:p>
          <a:p>
            <a:r>
              <a:rPr lang="en-US" sz="1800" b="1" dirty="0"/>
              <a:t>        Hence, there is a need for an efficient deep learning framework that jointly captures </a:t>
            </a:r>
            <a:r>
              <a:rPr lang="en-US" sz="1800" b="1" dirty="0" err="1"/>
              <a:t>spatio</a:t>
            </a:r>
            <a:r>
              <a:rPr lang="en-US" sz="1800" b="1" dirty="0"/>
              <a:t>-temporal dependencies with reduced computational cost for practical traffic management systems.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6945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3C4E7382-FB50-12D2-FF88-A78E501B4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7FAB99BB-587E-7CE9-FF46-F1CDA08E7C5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0608" y="22698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5. Objectives</a:t>
            </a:r>
            <a:endParaRPr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67770FF-27F9-8A48-54DD-A1446FCA9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08" y="1318736"/>
            <a:ext cx="846734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-temporal traffic data for traffic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 deep learning-based traffic prediction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prediction accuracy for short- and medium-term forecasting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computational complexity for real-time applicability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model performance using standard traffic datasets</a:t>
            </a:r>
          </a:p>
        </p:txBody>
      </p:sp>
    </p:spTree>
    <p:extLst>
      <p:ext uri="{BB962C8B-B14F-4D97-AF65-F5344CB8AC3E}">
        <p14:creationId xmlns:p14="http://schemas.microsoft.com/office/powerpoint/2010/main" val="4100693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E64E943-1C3E-A2C0-5931-255D5BDDB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3BFA3555-76EF-D822-ED19-D1A256E8E46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0608" y="22698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6. Proposed Architecture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42029-C1AD-B321-D66A-A448D89C6CED}"/>
              </a:ext>
            </a:extLst>
          </p:cNvPr>
          <p:cNvSpPr txBox="1"/>
          <p:nvPr/>
        </p:nvSpPr>
        <p:spPr>
          <a:xfrm>
            <a:off x="267462" y="1429119"/>
            <a:ext cx="77055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Traffic Dataset</a:t>
            </a:r>
          </a:p>
          <a:p>
            <a:r>
              <a:rPr lang="en-IN" sz="2000" dirty="0"/>
              <a:t>     ↓</a:t>
            </a:r>
          </a:p>
          <a:p>
            <a:r>
              <a:rPr lang="en-IN" sz="2000" dirty="0"/>
              <a:t>Data Preprocessing</a:t>
            </a:r>
          </a:p>
          <a:p>
            <a:r>
              <a:rPr lang="en-IN" sz="2000" dirty="0"/>
              <a:t>     ↓</a:t>
            </a:r>
          </a:p>
          <a:p>
            <a:r>
              <a:rPr lang="en-IN" sz="2000" dirty="0" err="1"/>
              <a:t>Spatio</a:t>
            </a:r>
            <a:r>
              <a:rPr lang="en-IN" sz="2000" dirty="0"/>
              <a:t>-Temporal Deep Learning Model</a:t>
            </a:r>
          </a:p>
          <a:p>
            <a:r>
              <a:rPr lang="en-IN" sz="2000" dirty="0"/>
              <a:t>(CNN / GCN + Temporal Model)</a:t>
            </a:r>
          </a:p>
          <a:p>
            <a:r>
              <a:rPr lang="en-IN" sz="2000" dirty="0"/>
              <a:t>     ↓</a:t>
            </a:r>
          </a:p>
          <a:p>
            <a:r>
              <a:rPr lang="en-IN" sz="2000" dirty="0"/>
              <a:t>Traffic Prediction Output</a:t>
            </a:r>
          </a:p>
          <a:p>
            <a:r>
              <a:rPr lang="en-IN" sz="2000" dirty="0"/>
              <a:t>     ↓</a:t>
            </a:r>
          </a:p>
          <a:p>
            <a:r>
              <a:rPr lang="en-IN" sz="2000" dirty="0"/>
              <a:t>Traffic Management Decisions</a:t>
            </a:r>
          </a:p>
        </p:txBody>
      </p:sp>
    </p:spTree>
    <p:extLst>
      <p:ext uri="{BB962C8B-B14F-4D97-AF65-F5344CB8AC3E}">
        <p14:creationId xmlns:p14="http://schemas.microsoft.com/office/powerpoint/2010/main" val="368161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D62F364-4801-0D74-0ABC-CFE63EEB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E1619B09-E2A9-629F-A178-CC11C57365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0608" y="22698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7. Proposed Modules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96738A-C153-C1A9-B6DB-435D45225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52" y="1219200"/>
            <a:ext cx="883310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Spatial Feature Extraction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Feature Learning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Prediction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Evaluation Module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70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3238099-C850-D2C6-1631-66CD550F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EDF88882-76EC-2AD5-96C0-C0F0EC49847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0608" y="22698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US" dirty="0"/>
              <a:t>8. Plan of Action (Timeline)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D0C4B4-0834-9382-D215-6CDCCF247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49230"/>
              </p:ext>
            </p:extLst>
          </p:nvPr>
        </p:nvGraphicFramePr>
        <p:xfrm>
          <a:off x="200608" y="1397349"/>
          <a:ext cx="8229600" cy="2133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12416229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885945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862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 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 survey, problem formulation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87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Jan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 analysis, model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125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Feb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implementation (70%)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69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completion &amp;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95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Apr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Paper writing &amp; submission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99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May 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Final report &amp; viva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395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865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8F3534B-BBAD-E2C7-BCCC-621E1F945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8F2CE499-9B5E-8765-9E01-96ED7D20AD7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0608" y="22698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9. References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92F8B4-DDA9-C63B-9684-E5FAA2BB0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2" y="1120247"/>
            <a:ext cx="844905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Yin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on Traffic 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IEEE, 2021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DCRNN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ICLR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WaveNet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IJCAI</a:t>
            </a:r>
          </a:p>
        </p:txBody>
      </p:sp>
    </p:spTree>
    <p:extLst>
      <p:ext uri="{BB962C8B-B14F-4D97-AF65-F5344CB8AC3E}">
        <p14:creationId xmlns:p14="http://schemas.microsoft.com/office/powerpoint/2010/main" val="2539019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>
            <a:spLocks noGrp="1"/>
          </p:cNvSpPr>
          <p:nvPr>
            <p:ph type="body" idx="1"/>
          </p:nvPr>
        </p:nvSpPr>
        <p:spPr>
          <a:xfrm>
            <a:off x="457200" y="714356"/>
            <a:ext cx="8229600" cy="541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sz="8800"/>
          </a:p>
          <a:p>
            <a:pPr marL="342900" lvl="0" indent="-342900" algn="ctr" rtl="0">
              <a:spcBef>
                <a:spcPts val="176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rPr lang="en-IN" sz="8800"/>
              <a:t>Thank You</a:t>
            </a:r>
            <a:endParaRPr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713</Words>
  <Application>Microsoft Office PowerPoint</Application>
  <PresentationFormat>On-screen Show (4:3)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Google Sans Text</vt:lpstr>
      <vt:lpstr>Office Theme</vt:lpstr>
      <vt:lpstr>Advanced Deep Learning Algorithm for Traffic Management System</vt:lpstr>
      <vt:lpstr>1.Abstract</vt:lpstr>
      <vt:lpstr>2. Introduction to the Project</vt:lpstr>
      <vt:lpstr>Literature Review</vt:lpstr>
      <vt:lpstr>4. Research Gap</vt:lpstr>
      <vt:lpstr>5. Objectives</vt:lpstr>
      <vt:lpstr>6. Proposed Architecture</vt:lpstr>
      <vt:lpstr>7. Proposed Modules</vt:lpstr>
      <vt:lpstr>8. Plan of Action (Timeline)</vt:lpstr>
      <vt:lpstr>9.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Sornalakshmi</dc:creator>
  <cp:lastModifiedBy>Ravikanth Amajala</cp:lastModifiedBy>
  <cp:revision>5</cp:revision>
  <dcterms:created xsi:type="dcterms:W3CDTF">2022-11-10T13:44:23Z</dcterms:created>
  <dcterms:modified xsi:type="dcterms:W3CDTF">2025-12-14T01:44:07Z</dcterms:modified>
</cp:coreProperties>
</file>